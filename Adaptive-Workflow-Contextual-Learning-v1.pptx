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2048053dec461c" /><Relationship Type="http://schemas.openxmlformats.org/officeDocument/2006/relationships/extended-properties" Target="/docProps/app.xml" Id="R9716c07904ab42e0" /><Relationship Type="http://schemas.openxmlformats.org/officeDocument/2006/relationships/officeDocument" Target="/ppt/presentation.xml" Id="Rc4ea5f55fe144fd9" /></Relationships>
</file>

<file path=ppt/presentation.xml><?xml version="1.0" encoding="utf-8"?>
<p:presentation xmlns:p="http://schemas.openxmlformats.org/presentationml/2006/main">
  <p:sldMasterIdLst>
    <p:sldMasterId xmlns:r="http://schemas.openxmlformats.org/officeDocument/2006/relationships" id="2147483648" r:id="R92c1f1bacaac42eb"/>
  </p:sldMasterIdLst>
  <p:notesMasterIdLst>
    <p:notesMasterId xmlns:r="http://schemas.openxmlformats.org/officeDocument/2006/relationships" r:id="R0c821e7389b34f27"/>
  </p:notesMasterIdLst>
  <p:sldIdLst>
    <p:sldId xmlns:r="http://schemas.openxmlformats.org/officeDocument/2006/relationships" id="256" r:id="Rc586b0915558444f"/>
    <p:sldId xmlns:r="http://schemas.openxmlformats.org/officeDocument/2006/relationships" id="257" r:id="R870be3b9864c4700"/>
    <p:sldId xmlns:r="http://schemas.openxmlformats.org/officeDocument/2006/relationships" id="258" r:id="R293bd4c8fd0848e9"/>
    <p:sldId xmlns:r="http://schemas.openxmlformats.org/officeDocument/2006/relationships" id="259" r:id="Ra75ff5a4fc3f4e15"/>
    <p:sldId xmlns:r="http://schemas.openxmlformats.org/officeDocument/2006/relationships" id="260" r:id="Re3cbd7f497364c18"/>
    <p:sldId xmlns:r="http://schemas.openxmlformats.org/officeDocument/2006/relationships" id="261" r:id="R9ff3d5f8e0374d70"/>
    <p:sldId xmlns:r="http://schemas.openxmlformats.org/officeDocument/2006/relationships" id="262" r:id="Rd2e050e41251433d"/>
    <p:sldId xmlns:r="http://schemas.openxmlformats.org/officeDocument/2006/relationships" id="263" r:id="Rb9e53853bafa4b77"/>
    <p:sldId xmlns:r="http://schemas.openxmlformats.org/officeDocument/2006/relationships" id="264" r:id="R9603c67e7b564e97"/>
    <p:sldId xmlns:r="http://schemas.openxmlformats.org/officeDocument/2006/relationships" id="265" r:id="R0d10e446e7b24fde"/>
    <p:sldId xmlns:r="http://schemas.openxmlformats.org/officeDocument/2006/relationships" id="266" r:id="R9d92631441a64d4c"/>
    <p:sldId xmlns:r="http://schemas.openxmlformats.org/officeDocument/2006/relationships" id="267" r:id="Re3a23a6a33294c2e"/>
    <p:sldId xmlns:r="http://schemas.openxmlformats.org/officeDocument/2006/relationships" id="268" r:id="R157203d713c0439a"/>
    <p:sldId xmlns:r="http://schemas.openxmlformats.org/officeDocument/2006/relationships" id="269" r:id="Rdb7cc83c8a2846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ef15bc9e3a41b4" /><Relationship Type="http://schemas.openxmlformats.org/officeDocument/2006/relationships/slideMaster" Target="/ppt/slideMasters/slideMaster1.xml" Id="R92c1f1bacaac42eb" /><Relationship Type="http://schemas.openxmlformats.org/officeDocument/2006/relationships/notesMaster" Target="/ppt/notesMasters/notesMaster1.xml" Id="R0c821e7389b34f27" /><Relationship Type="http://schemas.openxmlformats.org/officeDocument/2006/relationships/presProps" Target="/ppt/presProps.xml" Id="Rc6cedc8bdb204de4" /><Relationship Type="http://schemas.openxmlformats.org/officeDocument/2006/relationships/tableStyles" Target="/ppt/tableStyles.xml" Id="R443ef3c7deba4467" /><Relationship Type="http://schemas.openxmlformats.org/officeDocument/2006/relationships/slide" Target="/ppt/slides/slide1.xml" Id="Rc586b0915558444f" /><Relationship Type="http://schemas.openxmlformats.org/officeDocument/2006/relationships/slide" Target="/ppt/slides/slide2.xml" Id="R870be3b9864c4700" /><Relationship Type="http://schemas.openxmlformats.org/officeDocument/2006/relationships/slide" Target="/ppt/slides/slide3.xml" Id="R293bd4c8fd0848e9" /><Relationship Type="http://schemas.openxmlformats.org/officeDocument/2006/relationships/slide" Target="/ppt/slides/slide4.xml" Id="Ra75ff5a4fc3f4e15" /><Relationship Type="http://schemas.openxmlformats.org/officeDocument/2006/relationships/slide" Target="/ppt/slides/slide5.xml" Id="Re3cbd7f497364c18" /><Relationship Type="http://schemas.openxmlformats.org/officeDocument/2006/relationships/slide" Target="/ppt/slides/slide6.xml" Id="R9ff3d5f8e0374d70" /><Relationship Type="http://schemas.openxmlformats.org/officeDocument/2006/relationships/slide" Target="/ppt/slides/slide7.xml" Id="Rd2e050e41251433d" /><Relationship Type="http://schemas.openxmlformats.org/officeDocument/2006/relationships/slide" Target="/ppt/slides/slide8.xml" Id="Rb9e53853bafa4b77" /><Relationship Type="http://schemas.openxmlformats.org/officeDocument/2006/relationships/slide" Target="/ppt/slides/slide9.xml" Id="R9603c67e7b564e97" /><Relationship Type="http://schemas.openxmlformats.org/officeDocument/2006/relationships/slide" Target="/ppt/slides/slide10.xml" Id="R0d10e446e7b24fde" /><Relationship Type="http://schemas.openxmlformats.org/officeDocument/2006/relationships/slide" Target="/ppt/slides/slide11.xml" Id="R9d92631441a64d4c" /><Relationship Type="http://schemas.openxmlformats.org/officeDocument/2006/relationships/slide" Target="/ppt/slides/slide12.xml" Id="Re3a23a6a33294c2e" /><Relationship Type="http://schemas.openxmlformats.org/officeDocument/2006/relationships/slide" Target="/ppt/slides/slide13.xml" Id="R157203d713c0439a" /><Relationship Type="http://schemas.openxmlformats.org/officeDocument/2006/relationships/slide" Target="/ppt/slides/slide14.xml" Id="Rdb7cc83c8a2846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43752489e744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a72fa9edc84522" /><Relationship Type="http://schemas.openxmlformats.org/officeDocument/2006/relationships/notesMaster" Target="/ppt/notesMasters/notesMaster1.xml" Id="R4c2c2fa0f3c54f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1a37677acd4d34" /><Relationship Type="http://schemas.openxmlformats.org/officeDocument/2006/relationships/notesMaster" Target="/ppt/notesMasters/notesMaster1.xml" Id="R58bf61f40c634f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ac55811b0c413b" /><Relationship Type="http://schemas.openxmlformats.org/officeDocument/2006/relationships/notesMaster" Target="/ppt/notesMasters/notesMaster1.xml" Id="R7a298302e9434a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7ff88d1be44959" /><Relationship Type="http://schemas.openxmlformats.org/officeDocument/2006/relationships/notesMaster" Target="/ppt/notesMasters/notesMaster1.xml" Id="R997183b7029340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bc1d160cfc4af5" /><Relationship Type="http://schemas.openxmlformats.org/officeDocument/2006/relationships/notesMaster" Target="/ppt/notesMasters/notesMaster1.xml" Id="R09da2230a7cf46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02ff016c2b4395" /><Relationship Type="http://schemas.openxmlformats.org/officeDocument/2006/relationships/notesMaster" Target="/ppt/notesMasters/notesMaster1.xml" Id="R8a5c8f6910fc49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0c1357e8cf4245" /><Relationship Type="http://schemas.openxmlformats.org/officeDocument/2006/relationships/notesMaster" Target="/ppt/notesMasters/notesMaster1.xml" Id="Rd4905cd139b246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a7434a4ae244d8" /><Relationship Type="http://schemas.openxmlformats.org/officeDocument/2006/relationships/notesMaster" Target="/ppt/notesMasters/notesMaster1.xml" Id="R5368fa90979749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1aee2d28314119" /><Relationship Type="http://schemas.openxmlformats.org/officeDocument/2006/relationships/notesMaster" Target="/ppt/notesMasters/notesMaster1.xml" Id="R6cc90c7b6eef46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8f309b878a47bc" /><Relationship Type="http://schemas.openxmlformats.org/officeDocument/2006/relationships/notesMaster" Target="/ppt/notesMasters/notesMaster1.xml" Id="R4d45dab20ec84d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99c0cb3eef4ceb" /><Relationship Type="http://schemas.openxmlformats.org/officeDocument/2006/relationships/notesMaster" Target="/ppt/notesMasters/notesMaster1.xml" Id="R466f76b30cff4b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35e962f8ac4269" /><Relationship Type="http://schemas.openxmlformats.org/officeDocument/2006/relationships/notesMaster" Target="/ppt/notesMasters/notesMaster1.xml" Id="R79d9b277b0694f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e637b9880f4f01" /><Relationship Type="http://schemas.openxmlformats.org/officeDocument/2006/relationships/notesMaster" Target="/ppt/notesMasters/notesMaster1.xml" Id="Reedd7fa37af445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542f70155f4c90" /><Relationship Type="http://schemas.openxmlformats.org/officeDocument/2006/relationships/notesMaster" Target="/ppt/notesMasters/notesMaster1.xml" Id="R5cd443e827ac43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separating this deck from the live demonstration. This presentation explains the operating model: what the system observes, how it reasons, what it remembers, and how that becomes a controlled application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the separation of concerns. This keeps the system from treating every click as truth or letting an AI response directly manipulate the interface.</a:t>
            </a:r>
          </a:p>
          <a:p xmlns:a="http://schemas.openxmlformats.org/drawingml/2006/main">
            <a:r>
              <a:t/>
            </a:r>
          </a:p>
          <a:p xmlns:a="http://schemas.openxmlformats.org/drawingml/2006/main">
            <a:r>
              <a:t>[Sources]</a:t>
            </a:r>
          </a:p>
          <a:p xmlns:a="http://schemas.openxmlformats.org/drawingml/2006/main">
            <a:r>
              <a:t>- D:/Projects/AdaptiveWorkflow/src/AdaptiveTeamBuilder.Data/Entities/Interaction.cs</a:t>
            </a:r>
          </a:p>
          <a:p xmlns:a="http://schemas.openxmlformats.org/drawingml/2006/main">
            <a:r>
              <a:t>- D:/Projects/AdaptiveWorkflow/src/AdaptiveTeamBuilder.Data/Entities/Belief.cs</a:t>
            </a:r>
          </a:p>
          <a:p xmlns:a="http://schemas.openxmlformats.org/drawingml/2006/main">
            <a:r>
              <a:t>- D:/Projects/AdaptiveWorkflow/src/AdaptiveTeamBuilderSvc/AdaptationApprovalPolicy.cs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is designed into the application. The same gesture can mean different things on different surfaces, so the app identifies itself, describes the current workflow, supplies visible data, and defines the semantics of interactions.</a:t>
            </a:r>
          </a:p>
          <a:p xmlns:a="http://schemas.openxmlformats.org/drawingml/2006/main">
            <a:r>
              <a:t/>
            </a:r>
          </a:p>
          <a:p xmlns:a="http://schemas.openxmlformats.org/drawingml/2006/main">
            <a:r>
              <a:t>[Sources]</a:t>
            </a:r>
          </a:p>
          <a:p xmlns:a="http://schemas.openxmlformats.org/drawingml/2006/main">
            <a:r>
              <a:t>- D:/Projects/AdaptiveWorkflow/src/AdaptiveTeamBuilderUI/src/collaboration/assembleSurfaceContext.ts</a:t>
            </a:r>
          </a:p>
          <a:p xmlns:a="http://schemas.openxmlformats.org/drawingml/2006/main">
            <a:r>
              <a:t>- D:/Projects/AdaptiveWorkflow/src/AdaptiveTeamBuilderUI/src/collaboration/assembleSelectContractContext.ts</a:t>
            </a:r>
          </a:p>
          <a:p xmlns:a="http://schemas.openxmlformats.org/drawingml/2006/main">
            <a:r>
              <a:t>- D:/Projects/AdaptiveWorkflow/src/AdaptiveTeamBuilderSvc/CollaborationContextFormatter.cs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does not ask the AI to interpret each micro-event independently. Exploration is buffered, then flushed at a meaningful boundary such as a view change or final selection. That gives the system a decision episode.</a:t>
            </a:r>
          </a:p>
          <a:p xmlns:a="http://schemas.openxmlformats.org/drawingml/2006/main">
            <a:r>
              <a:t/>
            </a:r>
          </a:p>
          <a:p xmlns:a="http://schemas.openxmlformats.org/drawingml/2006/main">
            <a:r>
              <a:t>[Sources]</a:t>
            </a:r>
          </a:p>
          <a:p xmlns:a="http://schemas.openxmlformats.org/drawingml/2006/main">
            <a:r>
              <a:t>- D:/Projects/AdaptiveWorkflow/src/AdaptiveTeamBuilderUI/src/collaboration/observationBuffer.ts</a:t>
            </a:r>
          </a:p>
          <a:p xmlns:a="http://schemas.openxmlformats.org/drawingml/2006/main">
            <a:r>
              <a:t>- D:/Projects/AdaptiveWorkflow/src/AdaptiveTeamBuilderUI/src/collaboration/useSurfaceObservations.ts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performs deterministic calculations first: reversals, timing, comparison behavior, and ranking against visible business values. The AI’s role is interpretation, not arithmetic or event reconstruction.</a:t>
            </a:r>
          </a:p>
          <a:p xmlns:a="http://schemas.openxmlformats.org/drawingml/2006/main">
            <a:r>
              <a:t/>
            </a:r>
          </a:p>
          <a:p xmlns:a="http://schemas.openxmlformats.org/drawingml/2006/main">
            <a:r>
              <a:t>[Sources]</a:t>
            </a:r>
          </a:p>
          <a:p xmlns:a="http://schemas.openxmlformats.org/drawingml/2006/main">
            <a:r>
              <a:t>- D:/Projects/AdaptiveWorkflow/src/AdaptiveTeamBuilderSvc/CollaborationContextFormatter.cs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closest view of what the agent is ‘thinking.’ It compares competing explanations, weighs them against the current episode and memory, and produces a belief with explicit uncertainty and falsifiability.</a:t>
            </a:r>
          </a:p>
          <a:p xmlns:a="http://schemas.openxmlformats.org/drawingml/2006/main">
            <a:r>
              <a:t/>
            </a:r>
          </a:p>
          <a:p xmlns:a="http://schemas.openxmlformats.org/drawingml/2006/main">
            <a:r>
              <a:t>[Sources]</a:t>
            </a:r>
          </a:p>
          <a:p xmlns:a="http://schemas.openxmlformats.org/drawingml/2006/main">
            <a:r>
              <a:t>- D:/Projects/AdaptiveWorkflow/src/AdaptiveTeamBuilderSvc/AgentCollaborationProfileUpdater.cs</a:t>
            </a:r>
          </a:p>
          <a:p xmlns:a="http://schemas.openxmlformats.org/drawingml/2006/main">
            <a:r>
              <a:t>- D:/Projects/AdaptiveWorkflow/src/AdaptiveTeamBuilderSvc/BeliefDocumentFormat.cs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highest-value-contract example. The system receives the values that were visible when the action occurred, calculates rank, and tests whether value is consistently predictive. The numbers shown here are illustrative, not production data.</a:t>
            </a:r>
          </a:p>
          <a:p xmlns:a="http://schemas.openxmlformats.org/drawingml/2006/main">
            <a:r>
              <a:t/>
            </a:r>
          </a:p>
          <a:p xmlns:a="http://schemas.openxmlformats.org/drawingml/2006/main">
            <a:r>
              <a:t>[Sources]</a:t>
            </a:r>
          </a:p>
          <a:p xmlns:a="http://schemas.openxmlformats.org/drawingml/2006/main">
            <a:r>
              <a:t>- D:/Projects/AdaptiveWorkflow/src/AdaptiveTeamBuilderUI/src/collaboration/assembleSelectContractContext.ts</a:t>
            </a:r>
          </a:p>
          <a:p xmlns:a="http://schemas.openxmlformats.org/drawingml/2006/main">
            <a:r>
              <a:t>- D:/Projects/AdaptiveWorkflow/src/AdaptiveTeamBuilderSvc/CollaborationContextFormatter.cs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Beliefs do not merely accumulate confidence. New episodes can contradict earlier conclusions. The agent can revise the wording, reduce conviction, distinguish contexts, or remove a belief when it no longer explains behavior.</a:t>
            </a:r>
          </a:p>
          <a:p xmlns:a="http://schemas.openxmlformats.org/drawingml/2006/main">
            <a:r>
              <a:t/>
            </a:r>
          </a:p>
          <a:p xmlns:a="http://schemas.openxmlformats.org/drawingml/2006/main">
            <a:r>
              <a:t>[Sources]</a:t>
            </a:r>
          </a:p>
          <a:p xmlns:a="http://schemas.openxmlformats.org/drawingml/2006/main">
            <a:r>
              <a:t>- D:/Projects/AdaptiveWorkflow/src/AdaptiveTeamBuilder.Data/Entities/Belief.cs</a:t>
            </a:r>
          </a:p>
          <a:p xmlns:a="http://schemas.openxmlformats.org/drawingml/2006/main">
            <a:r>
              <a:t>- D:/Projects/AdaptiveWorkflow/src/AdaptiveTeamBuilderSvc/BeliefDocumentFormat.cs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updater sees the current profile plus a bounded recent history. It does not resend every raw interaction forever. Recent digests expose patterns; the profile preserves the conclusions needed for future decisions.</a:t>
            </a:r>
          </a:p>
          <a:p xmlns:a="http://schemas.openxmlformats.org/drawingml/2006/main">
            <a:r>
              <a:t/>
            </a:r>
          </a:p>
          <a:p xmlns:a="http://schemas.openxmlformats.org/drawingml/2006/main">
            <a:r>
              <a:t>[Sources]</a:t>
            </a:r>
          </a:p>
          <a:p xmlns:a="http://schemas.openxmlformats.org/drawingml/2006/main">
            <a:r>
              <a:t>- D:/Projects/AdaptiveWorkflow/src/AdaptiveTeamBuilder.Data/Entities/TurnDigest.cs</a:t>
            </a:r>
          </a:p>
          <a:p xmlns:a="http://schemas.openxmlformats.org/drawingml/2006/main">
            <a:r>
              <a:t>- D:/Projects/AdaptiveWorkflow/src/AdaptiveTeamBuilder.Data/Entities/BeliefDocument.cs</a:t>
            </a:r>
          </a:p>
          <a:p xmlns:a="http://schemas.openxmlformats.org/drawingml/2006/main">
            <a:r>
              <a:t>- D:/Projects/AdaptiveWorkflow/src/AdaptiveTeamBuilderSvc/AgentCollaborationProfileUpdater.cs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deliberately separates updating the user model from advising the current UI. The advisor uses the most recently available profile; the profile update can continue independently so learning does not need to block every interaction.</a:t>
            </a:r>
          </a:p>
          <a:p xmlns:a="http://schemas.openxmlformats.org/drawingml/2006/main">
            <a:r>
              <a:t/>
            </a:r>
          </a:p>
          <a:p xmlns:a="http://schemas.openxmlformats.org/drawingml/2006/main">
            <a:r>
              <a:t>[Sources]</a:t>
            </a:r>
          </a:p>
          <a:p xmlns:a="http://schemas.openxmlformats.org/drawingml/2006/main">
            <a:r>
              <a:t>- D:/Projects/AdaptiveWorkflow/src/AdaptiveTeamBuilderSvc/AgentCollaborationAdvisor.cs</a:t>
            </a:r>
          </a:p>
          <a:p xmlns:a="http://schemas.openxmlformats.org/drawingml/2006/main">
            <a:r>
              <a:t>- D:/Projects/AdaptiveWorkflow/src/AdaptiveTeamBuilderSvc/AgentCollaborationProfileUpdater.cs</a:t>
            </a:r>
          </a:p>
          <a:p xmlns:a="http://schemas.openxmlformats.org/drawingml/2006/main">
            <a:r>
              <a:t>- D:/Projects/AdaptiveWorkflow/src/AdaptiveTeamBuilderSvc/ObservationEndpoints.cs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never receives arbitrary control of the interface. It returns a recommendation in a schema the application owns. Policy decides whether the recommendation is allowed, and the application applies only known, reversible state changes.</a:t>
            </a:r>
          </a:p>
          <a:p xmlns:a="http://schemas.openxmlformats.org/drawingml/2006/main">
            <a:r>
              <a:t/>
            </a:r>
          </a:p>
          <a:p xmlns:a="http://schemas.openxmlformats.org/drawingml/2006/main">
            <a:r>
              <a:t>[Sources]</a:t>
            </a:r>
          </a:p>
          <a:p xmlns:a="http://schemas.openxmlformats.org/drawingml/2006/main">
            <a:r>
              <a:t>- D:/Projects/AdaptiveWorkflow/src/AdaptiveTeamBuilder.Data/Contracts/AdaptiveFrameworkContracts.cs</a:t>
            </a:r>
          </a:p>
          <a:p xmlns:a="http://schemas.openxmlformats.org/drawingml/2006/main">
            <a:r>
              <a:t>- D:/Projects/AdaptiveWorkflow/src/AdaptiveTeamBuilderSvc/AgentResultModels.cs</a:t>
            </a:r>
          </a:p>
          <a:p xmlns:a="http://schemas.openxmlformats.org/drawingml/2006/main">
            <a:r>
              <a:t>- D:/Projects/AdaptiveWorkflow/src/AdaptiveTeamBuilderSvc/AdaptationApprovalPolicy.cs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key design principle. If the advisor has no useful suggestion, the application keeps its ordinary state. There is no simulated AI fallback. Profile update failure preserves the existing profile, and diagnostic records make the failure visible.</a:t>
            </a:r>
          </a:p>
          <a:p xmlns:a="http://schemas.openxmlformats.org/drawingml/2006/main">
            <a:r>
              <a:t/>
            </a:r>
          </a:p>
          <a:p xmlns:a="http://schemas.openxmlformats.org/drawingml/2006/main">
            <a:r>
              <a:t>[Sources]</a:t>
            </a:r>
          </a:p>
          <a:p xmlns:a="http://schemas.openxmlformats.org/drawingml/2006/main">
            <a:r>
              <a:t>- D:/Projects/AdaptiveWorkflow/src/AdaptiveTeamBuilderSvc/AgentCollaborationAdvisor.cs</a:t>
            </a:r>
          </a:p>
          <a:p xmlns:a="http://schemas.openxmlformats.org/drawingml/2006/main">
            <a:r>
              <a:t>- D:/Projects/AdaptiveWorkflow/src/AdaptiveTeamBuilderSvc/AgentCollaborationProfileUpdater.cs</a:t>
            </a:r>
          </a:p>
          <a:p xmlns:a="http://schemas.openxmlformats.org/drawingml/2006/main">
            <a:r>
              <a:t>- D:/Projects/AdaptiveWorkflow/src/AdaptiveTeamBuilderSvc/FileCollaborationAgentTranscriptLogger.cs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run, the system can correlate the original observations, contextual snapshot, deterministic analysis, model interaction, profile outcome, advisor result, and applied decision. This is the foundation for evaluating behavior rather than relying on anecdotes.</a:t>
            </a:r>
          </a:p>
          <a:p xmlns:a="http://schemas.openxmlformats.org/drawingml/2006/main">
            <a:r>
              <a:t/>
            </a:r>
          </a:p>
          <a:p xmlns:a="http://schemas.openxmlformats.org/drawingml/2006/main">
            <a:r>
              <a:t>[Sources]</a:t>
            </a:r>
          </a:p>
          <a:p xmlns:a="http://schemas.openxmlformats.org/drawingml/2006/main">
            <a:r>
              <a:t>- D:/Projects/AdaptiveWorkflow/src/AdaptiveTeamBuilderSvc/AgentRunRecorder.cs</a:t>
            </a:r>
          </a:p>
          <a:p xmlns:a="http://schemas.openxmlformats.org/drawingml/2006/main">
            <a:r>
              <a:t>- D:/Projects/AdaptiveWorkflow/src/AdaptiveTeamBuilderSvc/FileCollaborationAgentTranscriptLogger.cs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positioning the POC correctly: the core architecture exists. The important next work is evaluation—learning speed, precision, contradiction handling, cross-context transfer, user trust, and measurable value. The live demo is optional evidence, not the organizing narrative of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0751b2105a46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2d1226345b40ab" /><Relationship Type="http://schemas.openxmlformats.org/officeDocument/2006/relationships/slideLayout" Target="/ppt/slideLayouts/slideLayout1.xml" Id="R1fa1f977c4314b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a1f977c4314b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1c57280a5f4f00" /><Relationship Type="http://schemas.openxmlformats.org/officeDocument/2006/relationships/notesSlide" Target="/ppt/notesSlides/notesSlide1.xml" Id="Rb93be231bc5f42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3c3c3b8f334426" /><Relationship Type="http://schemas.openxmlformats.org/officeDocument/2006/relationships/notesSlide" Target="/ppt/notesSlides/notesSlide2.xml" Id="R07c7e2b4c8104c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c389b8534b4e65" /><Relationship Type="http://schemas.openxmlformats.org/officeDocument/2006/relationships/notesSlide" Target="/ppt/notesSlides/notesSlide3.xml" Id="R6488cfee42cb49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c1d265acc7540d4" /><Relationship Type="http://schemas.openxmlformats.org/officeDocument/2006/relationships/notesSlide" Target="/ppt/notesSlides/notesSlide4.xml" Id="Ra9a89857530040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22e9764c344aae" /><Relationship Type="http://schemas.openxmlformats.org/officeDocument/2006/relationships/notesSlide" Target="/ppt/notesSlides/notesSlide5.xml" Id="R2085763c07c747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4b1551b85c4461" /><Relationship Type="http://schemas.openxmlformats.org/officeDocument/2006/relationships/notesSlide" Target="/ppt/notesSlides/notesSlide6.xml" Id="R88c166d5ce4d45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ce6b16ce9994554" /><Relationship Type="http://schemas.openxmlformats.org/officeDocument/2006/relationships/notesSlide" Target="/ppt/notesSlides/notesSlide7.xml" Id="R2b8d9f34a12d40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01bd750baf4176" /><Relationship Type="http://schemas.openxmlformats.org/officeDocument/2006/relationships/notesSlide" Target="/ppt/notesSlides/notesSlide8.xml" Id="Rc457a7d5d1554d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5b8c35345144f0" /><Relationship Type="http://schemas.openxmlformats.org/officeDocument/2006/relationships/notesSlide" Target="/ppt/notesSlides/notesSlide9.xml" Id="R62b380fcb09840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ba61f422f64fce" /><Relationship Type="http://schemas.openxmlformats.org/officeDocument/2006/relationships/notesSlide" Target="/ppt/notesSlides/notesSlide10.xml" Id="Rcc70fdba0ebf42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4d76de4ba246ee" /><Relationship Type="http://schemas.openxmlformats.org/officeDocument/2006/relationships/notesSlide" Target="/ppt/notesSlides/notesSlide11.xml" Id="Ra9138858d6794a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3a6f5017704eb4" /><Relationship Type="http://schemas.openxmlformats.org/officeDocument/2006/relationships/notesSlide" Target="/ppt/notesSlides/notesSlide12.xml" Id="Re5899b66f16e41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3b33d8747c249b0" /><Relationship Type="http://schemas.openxmlformats.org/officeDocument/2006/relationships/notesSlide" Target="/ppt/notesSlides/notesSlide13.xml" Id="Re204afd1099f4c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7c14b0cc0ad432e" /><Relationship Type="http://schemas.openxmlformats.org/officeDocument/2006/relationships/notesSlide" Target="/ppt/notesSlides/notesSlide14.xml" Id="Ra8cb5fe332b8415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6F82930-C9D5-422E-9627-71566F3A80F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FC0DA2-732C-408E-998C-8A0F0E86FF23}"/>
              </a:ext>
            </a:extLst>
          </p:cNvPr>
          <p:cNvSpPr>
            <a:spLocks xmlns:a="http://schemas.openxmlformats.org/drawingml/2006/main" noGrp="1"/>
          </p:cNvSpPr>
          <p:nvPr/>
        </p:nvSpPr>
        <p:spPr>
          <a:xfrm xmlns:a="http://schemas.openxmlformats.org/drawingml/2006/main">
            <a:off x="685800" y="609600"/>
            <a:ext cx="1333500" cy="285750"/>
          </a:xfrm>
          <a:prstGeom xmlns:a="http://schemas.openxmlformats.org/drawingml/2006/main" prst="roundRect">
            <a:avLst>
              <a:gd name="adj" fmla="val 40000"/>
            </a:avLst>
          </a:prstGeom>
          <a:solidFill xmlns:a="http://schemas.openxmlformats.org/drawingml/2006/main">
            <a:srgbClr val="EAF6F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D247969-87BD-4C44-B4B6-3BC0E20B323E}"/>
              </a:ext>
            </a:extLst>
          </p:cNvPr>
          <p:cNvSpPr>
            <a:spLocks xmlns:a="http://schemas.openxmlformats.org/drawingml/2006/main" noGrp="1"/>
          </p:cNvSpPr>
          <p:nvPr/>
        </p:nvSpPr>
        <p:spPr>
          <a:xfrm xmlns:a="http://schemas.openxmlformats.org/drawingml/2006/main">
            <a:off x="781050" y="6096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3D8DFF"/>
                </a:solidFill>
              </a:defRPr>
            </a:pPr>
            <a:r>
              <a:rPr sz="900" b="1">
                <a:solidFill>
                  <a:srgbClr val="3D8DFF"/>
                </a:solidFill>
              </a:rPr>
              <a:t>SYSTEM THEORY</a:t>
            </a:r>
          </a:p>
        </p:txBody>
      </p:sp>
      <p:sp>
        <p:nvSpPr>
          <p:cNvPr id="4" name="">
            <a:extLst xmlns:a="http://schemas.openxmlformats.org/drawingml/2006/main">
              <a:ext uri="{FF2B5EF4-FFF2-40B4-BE49-F238E27FC236}">
                <a16:creationId xmlns:a16="http://schemas.microsoft.com/office/drawing/2014/main" id="{E1BADDF3-CCA3-4E0A-988C-5B88516113EE}"/>
              </a:ext>
            </a:extLst>
          </p:cNvPr>
          <p:cNvSpPr>
            <a:spLocks xmlns:a="http://schemas.openxmlformats.org/drawingml/2006/main" noGrp="1"/>
          </p:cNvSpPr>
          <p:nvPr/>
        </p:nvSpPr>
        <p:spPr>
          <a:xfrm xmlns:a="http://schemas.openxmlformats.org/drawingml/2006/main">
            <a:off x="685800" y="1257300"/>
            <a:ext cx="7239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101216"/>
                </a:solidFill>
              </a:defRPr>
            </a:pPr>
            <a:r>
              <a:rPr sz="3450" b="1">
                <a:solidFill>
                  <a:srgbClr val="101216"/>
                </a:solidFill>
              </a:rPr>
              <a:t>Contextual Learning</a:t>
            </a:r>
          </a:p>
          <a:p xmlns:a="http://schemas.openxmlformats.org/drawingml/2006/main">
            <a:pPr algn="l">
              <a:defRPr sz="3450" b="1">
                <a:solidFill>
                  <a:srgbClr val="101216"/>
                </a:solidFill>
              </a:defRPr>
            </a:pPr>
            <a:r>
              <a:rPr sz="3450" b="1">
                <a:solidFill>
                  <a:srgbClr val="101216"/>
                </a:solidFill>
              </a:rPr>
              <a:t>for Adaptive Applications</a:t>
            </a:r>
          </a:p>
        </p:txBody>
      </p:sp>
      <p:sp>
        <p:nvSpPr>
          <p:cNvPr id="5" name="">
            <a:extLst xmlns:a="http://schemas.openxmlformats.org/drawingml/2006/main">
              <a:ext uri="{FF2B5EF4-FFF2-40B4-BE49-F238E27FC236}">
                <a16:creationId xmlns:a16="http://schemas.microsoft.com/office/drawing/2014/main" id="{C4DB277F-04D3-480F-909E-14344183A690}"/>
              </a:ext>
            </a:extLst>
          </p:cNvPr>
          <p:cNvSpPr>
            <a:spLocks xmlns:a="http://schemas.openxmlformats.org/drawingml/2006/main" noGrp="1"/>
          </p:cNvSpPr>
          <p:nvPr/>
        </p:nvSpPr>
        <p:spPr>
          <a:xfrm xmlns:a="http://schemas.openxmlformats.org/drawingml/2006/main">
            <a:off x="723900" y="3162300"/>
            <a:ext cx="666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F6875"/>
                </a:solidFill>
              </a:defRPr>
            </a:pPr>
            <a:r>
              <a:rPr sz="1725" b="0">
                <a:solidFill>
                  <a:srgbClr val="5F6875"/>
                </a:solidFill>
              </a:rPr>
              <a:t>How observed behavior becomes evidence, durable beliefs, and controlled application changes</a:t>
            </a:r>
          </a:p>
        </p:txBody>
      </p:sp>
      <p:sp>
        <p:nvSpPr>
          <p:cNvPr id="6" name="">
            <a:extLst xmlns:a="http://schemas.openxmlformats.org/drawingml/2006/main">
              <a:ext uri="{FF2B5EF4-FFF2-40B4-BE49-F238E27FC236}">
                <a16:creationId xmlns:a16="http://schemas.microsoft.com/office/drawing/2014/main" id="{BE468E0E-7F20-4BAE-B44C-9C6867831E83}"/>
              </a:ext>
            </a:extLst>
          </p:cNvPr>
          <p:cNvSpPr>
            <a:spLocks xmlns:a="http://schemas.openxmlformats.org/drawingml/2006/main" noGrp="1"/>
          </p:cNvSpPr>
          <p:nvPr/>
        </p:nvSpPr>
        <p:spPr>
          <a:xfrm xmlns:a="http://schemas.openxmlformats.org/drawingml/2006/main">
            <a:off x="8172450" y="876300"/>
            <a:ext cx="3143250" cy="438150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71DEC6B-6CFA-4BF4-A453-285AC05835E3}"/>
              </a:ext>
            </a:extLst>
          </p:cNvPr>
          <p:cNvSpPr>
            <a:spLocks xmlns:a="http://schemas.openxmlformats.org/drawingml/2006/main" noGrp="1"/>
          </p:cNvSpPr>
          <p:nvPr/>
        </p:nvSpPr>
        <p:spPr>
          <a:xfrm xmlns:a="http://schemas.openxmlformats.org/drawingml/2006/main">
            <a:off x="8515350" y="1257300"/>
            <a:ext cx="457200" cy="457200"/>
          </a:xfrm>
          <a:prstGeom xmlns:a="http://schemas.openxmlformats.org/drawingml/2006/main" prst="ellipse">
            <a:avLst/>
          </a:prstGeom>
          <a:solidFill xmlns:a="http://schemas.openxmlformats.org/drawingml/2006/main">
            <a:srgbClr val="FFFFFF"/>
          </a:solidFill>
          <a:ln xmlns:a="http://schemas.openxmlformats.org/drawingml/2006/main" w="9525">
            <a:solidFill>
              <a:srgbClr val="DCE1E7"/>
            </a:solidFill>
            <a:prstDash val="solid"/>
          </a:ln>
        </p:spPr>
      </p:sp>
      <p:sp>
        <p:nvSpPr>
          <p:cNvPr id="8" name="">
            <a:extLst xmlns:a="http://schemas.openxmlformats.org/drawingml/2006/main">
              <a:ext uri="{FF2B5EF4-FFF2-40B4-BE49-F238E27FC236}">
                <a16:creationId xmlns:a16="http://schemas.microsoft.com/office/drawing/2014/main" id="{DE1CF308-1868-4E9A-BD0D-9D9DBE03E69B}"/>
              </a:ext>
            </a:extLst>
          </p:cNvPr>
          <p:cNvSpPr>
            <a:spLocks xmlns:a="http://schemas.openxmlformats.org/drawingml/2006/main" noGrp="1"/>
          </p:cNvSpPr>
          <p:nvPr/>
        </p:nvSpPr>
        <p:spPr>
          <a:xfrm xmlns:a="http://schemas.openxmlformats.org/drawingml/2006/main">
            <a:off x="8515350" y="12573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defRPr>
            </a:pPr>
            <a:r>
              <a:rPr sz="1200" b="1">
                <a:solidFill>
                  <a:srgbClr val="3D8DFF"/>
                </a:solidFill>
              </a:rPr>
              <a:t>1</a:t>
            </a:r>
          </a:p>
        </p:txBody>
      </p:sp>
      <p:sp>
        <p:nvSpPr>
          <p:cNvPr id="9" name="">
            <a:extLst xmlns:a="http://schemas.openxmlformats.org/drawingml/2006/main">
              <a:ext uri="{FF2B5EF4-FFF2-40B4-BE49-F238E27FC236}">
                <a16:creationId xmlns:a16="http://schemas.microsoft.com/office/drawing/2014/main" id="{AEBB7FBF-1062-4522-95D5-EBB91E35B181}"/>
              </a:ext>
            </a:extLst>
          </p:cNvPr>
          <p:cNvSpPr>
            <a:spLocks xmlns:a="http://schemas.openxmlformats.org/drawingml/2006/main" noGrp="1"/>
          </p:cNvSpPr>
          <p:nvPr/>
        </p:nvSpPr>
        <p:spPr>
          <a:xfrm xmlns:a="http://schemas.openxmlformats.org/drawingml/2006/main">
            <a:off x="9182100" y="125730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01216"/>
                </a:solidFill>
              </a:defRPr>
            </a:pPr>
            <a:r>
              <a:rPr sz="1500" b="1">
                <a:solidFill>
                  <a:srgbClr val="101216"/>
                </a:solidFill>
              </a:rPr>
              <a:t>Observe</a:t>
            </a:r>
          </a:p>
        </p:txBody>
      </p:sp>
      <p:sp>
        <p:nvSpPr>
          <p:cNvPr id="10" name="">
            <a:extLst xmlns:a="http://schemas.openxmlformats.org/drawingml/2006/main">
              <a:ext uri="{FF2B5EF4-FFF2-40B4-BE49-F238E27FC236}">
                <a16:creationId xmlns:a16="http://schemas.microsoft.com/office/drawing/2014/main" id="{342ECD1F-57F6-458C-9B5E-FBBA86A9E54C}"/>
              </a:ext>
            </a:extLst>
          </p:cNvPr>
          <p:cNvSpPr>
            <a:spLocks xmlns:a="http://schemas.openxmlformats.org/drawingml/2006/main" noGrp="1"/>
          </p:cNvSpPr>
          <p:nvPr/>
        </p:nvSpPr>
        <p:spPr>
          <a:xfrm xmlns:a="http://schemas.openxmlformats.org/drawingml/2006/main">
            <a:off x="8743950" y="1714500"/>
            <a:ext cx="0" cy="438150"/>
          </a:xfrm>
          <a:prstGeom xmlns:a="http://schemas.openxmlformats.org/drawingml/2006/main" prst="line">
            <a:avLst/>
          </a:prstGeom>
          <a:noFill xmlns:a="http://schemas.openxmlformats.org/drawingml/2006/main"/>
          <a:ln xmlns:a="http://schemas.openxmlformats.org/drawingml/2006/main" w="19050">
            <a:solidFill>
              <a:srgbClr val="DCE1E7"/>
            </a:solidFill>
            <a:prstDash val="solid"/>
          </a:ln>
        </p:spPr>
      </p:sp>
      <p:sp>
        <p:nvSpPr>
          <p:cNvPr id="11" name="">
            <a:extLst xmlns:a="http://schemas.openxmlformats.org/drawingml/2006/main">
              <a:ext uri="{FF2B5EF4-FFF2-40B4-BE49-F238E27FC236}">
                <a16:creationId xmlns:a16="http://schemas.microsoft.com/office/drawing/2014/main" id="{66E35310-A7DB-49B2-9881-FFE298E1A6A7}"/>
              </a:ext>
            </a:extLst>
          </p:cNvPr>
          <p:cNvSpPr>
            <a:spLocks xmlns:a="http://schemas.openxmlformats.org/drawingml/2006/main" noGrp="1"/>
          </p:cNvSpPr>
          <p:nvPr/>
        </p:nvSpPr>
        <p:spPr>
          <a:xfrm xmlns:a="http://schemas.openxmlformats.org/drawingml/2006/main">
            <a:off x="8515350" y="2152650"/>
            <a:ext cx="457200" cy="457200"/>
          </a:xfrm>
          <a:prstGeom xmlns:a="http://schemas.openxmlformats.org/drawingml/2006/main" prst="ellipse">
            <a:avLst/>
          </a:prstGeom>
          <a:solidFill xmlns:a="http://schemas.openxmlformats.org/drawingml/2006/main">
            <a:srgbClr val="FFFFFF"/>
          </a:solidFill>
          <a:ln xmlns:a="http://schemas.openxmlformats.org/drawingml/2006/main" w="9525">
            <a:solidFill>
              <a:srgbClr val="DCE1E7"/>
            </a:solidFill>
            <a:prstDash val="solid"/>
          </a:ln>
        </p:spPr>
      </p:sp>
      <p:sp>
        <p:nvSpPr>
          <p:cNvPr id="12" name="">
            <a:extLst xmlns:a="http://schemas.openxmlformats.org/drawingml/2006/main">
              <a:ext uri="{FF2B5EF4-FFF2-40B4-BE49-F238E27FC236}">
                <a16:creationId xmlns:a16="http://schemas.microsoft.com/office/drawing/2014/main" id="{5D28A89E-6470-4427-88FD-59D4D708896E}"/>
              </a:ext>
            </a:extLst>
          </p:cNvPr>
          <p:cNvSpPr>
            <a:spLocks xmlns:a="http://schemas.openxmlformats.org/drawingml/2006/main" noGrp="1"/>
          </p:cNvSpPr>
          <p:nvPr/>
        </p:nvSpPr>
        <p:spPr>
          <a:xfrm xmlns:a="http://schemas.openxmlformats.org/drawingml/2006/main">
            <a:off x="8515350" y="21526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defRPr>
            </a:pPr>
            <a:r>
              <a:rPr sz="1200" b="1">
                <a:solidFill>
                  <a:srgbClr val="3D8DFF"/>
                </a:solidFill>
              </a:rPr>
              <a:t>2</a:t>
            </a:r>
          </a:p>
        </p:txBody>
      </p:sp>
      <p:sp>
        <p:nvSpPr>
          <p:cNvPr id="13" name="">
            <a:extLst xmlns:a="http://schemas.openxmlformats.org/drawingml/2006/main">
              <a:ext uri="{FF2B5EF4-FFF2-40B4-BE49-F238E27FC236}">
                <a16:creationId xmlns:a16="http://schemas.microsoft.com/office/drawing/2014/main" id="{8B55B66B-686A-4611-A6E8-2018FA12E7CF}"/>
              </a:ext>
            </a:extLst>
          </p:cNvPr>
          <p:cNvSpPr>
            <a:spLocks xmlns:a="http://schemas.openxmlformats.org/drawingml/2006/main" noGrp="1"/>
          </p:cNvSpPr>
          <p:nvPr/>
        </p:nvSpPr>
        <p:spPr>
          <a:xfrm xmlns:a="http://schemas.openxmlformats.org/drawingml/2006/main">
            <a:off x="9182100" y="21526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01216"/>
                </a:solidFill>
              </a:defRPr>
            </a:pPr>
            <a:r>
              <a:rPr sz="1500" b="1">
                <a:solidFill>
                  <a:srgbClr val="101216"/>
                </a:solidFill>
              </a:rPr>
              <a:t>Interpret</a:t>
            </a:r>
          </a:p>
        </p:txBody>
      </p:sp>
      <p:sp>
        <p:nvSpPr>
          <p:cNvPr id="14" name="">
            <a:extLst xmlns:a="http://schemas.openxmlformats.org/drawingml/2006/main">
              <a:ext uri="{FF2B5EF4-FFF2-40B4-BE49-F238E27FC236}">
                <a16:creationId xmlns:a16="http://schemas.microsoft.com/office/drawing/2014/main" id="{0EFE8B6F-40D4-4E85-B1F9-5C54D1A8B927}"/>
              </a:ext>
            </a:extLst>
          </p:cNvPr>
          <p:cNvSpPr>
            <a:spLocks xmlns:a="http://schemas.openxmlformats.org/drawingml/2006/main" noGrp="1"/>
          </p:cNvSpPr>
          <p:nvPr/>
        </p:nvSpPr>
        <p:spPr>
          <a:xfrm xmlns:a="http://schemas.openxmlformats.org/drawingml/2006/main">
            <a:off x="8743950" y="2609850"/>
            <a:ext cx="0" cy="438150"/>
          </a:xfrm>
          <a:prstGeom xmlns:a="http://schemas.openxmlformats.org/drawingml/2006/main" prst="line">
            <a:avLst/>
          </a:prstGeom>
          <a:noFill xmlns:a="http://schemas.openxmlformats.org/drawingml/2006/main"/>
          <a:ln xmlns:a="http://schemas.openxmlformats.org/drawingml/2006/main" w="19050">
            <a:solidFill>
              <a:srgbClr val="DCE1E7"/>
            </a:solidFill>
            <a:prstDash val="solid"/>
          </a:ln>
        </p:spPr>
      </p:sp>
      <p:sp>
        <p:nvSpPr>
          <p:cNvPr id="15" name="">
            <a:extLst xmlns:a="http://schemas.openxmlformats.org/drawingml/2006/main">
              <a:ext uri="{FF2B5EF4-FFF2-40B4-BE49-F238E27FC236}">
                <a16:creationId xmlns:a16="http://schemas.microsoft.com/office/drawing/2014/main" id="{A090DFBF-1EF4-4AEC-A5A3-EA1D848FE4EB}"/>
              </a:ext>
            </a:extLst>
          </p:cNvPr>
          <p:cNvSpPr>
            <a:spLocks xmlns:a="http://schemas.openxmlformats.org/drawingml/2006/main" noGrp="1"/>
          </p:cNvSpPr>
          <p:nvPr/>
        </p:nvSpPr>
        <p:spPr>
          <a:xfrm xmlns:a="http://schemas.openxmlformats.org/drawingml/2006/main">
            <a:off x="8515350" y="3048000"/>
            <a:ext cx="457200" cy="457200"/>
          </a:xfrm>
          <a:prstGeom xmlns:a="http://schemas.openxmlformats.org/drawingml/2006/main" prst="ellipse">
            <a:avLst/>
          </a:prstGeom>
          <a:solidFill xmlns:a="http://schemas.openxmlformats.org/drawingml/2006/main">
            <a:srgbClr val="FFFFFF"/>
          </a:solidFill>
          <a:ln xmlns:a="http://schemas.openxmlformats.org/drawingml/2006/main" w="9525">
            <a:solidFill>
              <a:srgbClr val="DCE1E7"/>
            </a:solidFill>
            <a:prstDash val="solid"/>
          </a:ln>
        </p:spPr>
      </p:sp>
      <p:sp>
        <p:nvSpPr>
          <p:cNvPr id="16" name="">
            <a:extLst xmlns:a="http://schemas.openxmlformats.org/drawingml/2006/main">
              <a:ext uri="{FF2B5EF4-FFF2-40B4-BE49-F238E27FC236}">
                <a16:creationId xmlns:a16="http://schemas.microsoft.com/office/drawing/2014/main" id="{F2FF8F4F-F19C-4D4E-B5B7-18E5DF3BCADE}"/>
              </a:ext>
            </a:extLst>
          </p:cNvPr>
          <p:cNvSpPr>
            <a:spLocks xmlns:a="http://schemas.openxmlformats.org/drawingml/2006/main" noGrp="1"/>
          </p:cNvSpPr>
          <p:nvPr/>
        </p:nvSpPr>
        <p:spPr>
          <a:xfrm xmlns:a="http://schemas.openxmlformats.org/drawingml/2006/main">
            <a:off x="8515350" y="30480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defRPr>
            </a:pPr>
            <a:r>
              <a:rPr sz="1200" b="1">
                <a:solidFill>
                  <a:srgbClr val="3D8DFF"/>
                </a:solidFill>
              </a:rPr>
              <a:t>3</a:t>
            </a:r>
          </a:p>
        </p:txBody>
      </p:sp>
      <p:sp>
        <p:nvSpPr>
          <p:cNvPr id="17" name="">
            <a:extLst xmlns:a="http://schemas.openxmlformats.org/drawingml/2006/main">
              <a:ext uri="{FF2B5EF4-FFF2-40B4-BE49-F238E27FC236}">
                <a16:creationId xmlns:a16="http://schemas.microsoft.com/office/drawing/2014/main" id="{2FE637FE-BA5D-40DB-B56F-47FD4617B5C0}"/>
              </a:ext>
            </a:extLst>
          </p:cNvPr>
          <p:cNvSpPr>
            <a:spLocks xmlns:a="http://schemas.openxmlformats.org/drawingml/2006/main" noGrp="1"/>
          </p:cNvSpPr>
          <p:nvPr/>
        </p:nvSpPr>
        <p:spPr>
          <a:xfrm xmlns:a="http://schemas.openxmlformats.org/drawingml/2006/main">
            <a:off x="9182100" y="304800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01216"/>
                </a:solidFill>
              </a:defRPr>
            </a:pPr>
            <a:r>
              <a:rPr sz="1500" b="1">
                <a:solidFill>
                  <a:srgbClr val="101216"/>
                </a:solidFill>
              </a:rPr>
              <a:t>Learn</a:t>
            </a:r>
          </a:p>
        </p:txBody>
      </p:sp>
      <p:sp>
        <p:nvSpPr>
          <p:cNvPr id="18" name="">
            <a:extLst xmlns:a="http://schemas.openxmlformats.org/drawingml/2006/main">
              <a:ext uri="{FF2B5EF4-FFF2-40B4-BE49-F238E27FC236}">
                <a16:creationId xmlns:a16="http://schemas.microsoft.com/office/drawing/2014/main" id="{CB61E5E9-D03C-4068-B719-461B59F8CCE7}"/>
              </a:ext>
            </a:extLst>
          </p:cNvPr>
          <p:cNvSpPr>
            <a:spLocks xmlns:a="http://schemas.openxmlformats.org/drawingml/2006/main" noGrp="1"/>
          </p:cNvSpPr>
          <p:nvPr/>
        </p:nvSpPr>
        <p:spPr>
          <a:xfrm xmlns:a="http://schemas.openxmlformats.org/drawingml/2006/main">
            <a:off x="8743950" y="3505200"/>
            <a:ext cx="0" cy="438150"/>
          </a:xfrm>
          <a:prstGeom xmlns:a="http://schemas.openxmlformats.org/drawingml/2006/main" prst="line">
            <a:avLst/>
          </a:prstGeom>
          <a:noFill xmlns:a="http://schemas.openxmlformats.org/drawingml/2006/main"/>
          <a:ln xmlns:a="http://schemas.openxmlformats.org/drawingml/2006/main" w="19050">
            <a:solidFill>
              <a:srgbClr val="DCE1E7"/>
            </a:solidFill>
            <a:prstDash val="solid"/>
          </a:ln>
        </p:spPr>
      </p:sp>
      <p:sp>
        <p:nvSpPr>
          <p:cNvPr id="19" name="">
            <a:extLst xmlns:a="http://schemas.openxmlformats.org/drawingml/2006/main">
              <a:ext uri="{FF2B5EF4-FFF2-40B4-BE49-F238E27FC236}">
                <a16:creationId xmlns:a16="http://schemas.microsoft.com/office/drawing/2014/main" id="{3F801A6F-72BF-49CB-914F-5C0989EB6E28}"/>
              </a:ext>
            </a:extLst>
          </p:cNvPr>
          <p:cNvSpPr>
            <a:spLocks xmlns:a="http://schemas.openxmlformats.org/drawingml/2006/main" noGrp="1"/>
          </p:cNvSpPr>
          <p:nvPr/>
        </p:nvSpPr>
        <p:spPr>
          <a:xfrm xmlns:a="http://schemas.openxmlformats.org/drawingml/2006/main">
            <a:off x="8515350" y="3943350"/>
            <a:ext cx="457200" cy="4572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4FFFC28-C2D6-4F36-9142-3E06E1B3BDE3}"/>
              </a:ext>
            </a:extLst>
          </p:cNvPr>
          <p:cNvSpPr>
            <a:spLocks xmlns:a="http://schemas.openxmlformats.org/drawingml/2006/main" noGrp="1"/>
          </p:cNvSpPr>
          <p:nvPr/>
        </p:nvSpPr>
        <p:spPr>
          <a:xfrm xmlns:a="http://schemas.openxmlformats.org/drawingml/2006/main">
            <a:off x="8515350" y="39433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4</a:t>
            </a:r>
          </a:p>
        </p:txBody>
      </p:sp>
      <p:sp>
        <p:nvSpPr>
          <p:cNvPr id="21" name="">
            <a:extLst xmlns:a="http://schemas.openxmlformats.org/drawingml/2006/main">
              <a:ext uri="{FF2B5EF4-FFF2-40B4-BE49-F238E27FC236}">
                <a16:creationId xmlns:a16="http://schemas.microsoft.com/office/drawing/2014/main" id="{AB07DA1C-4A2D-4D5B-9186-D6CA71B24791}"/>
              </a:ext>
            </a:extLst>
          </p:cNvPr>
          <p:cNvSpPr>
            <a:spLocks xmlns:a="http://schemas.openxmlformats.org/drawingml/2006/main" noGrp="1"/>
          </p:cNvSpPr>
          <p:nvPr/>
        </p:nvSpPr>
        <p:spPr>
          <a:xfrm xmlns:a="http://schemas.openxmlformats.org/drawingml/2006/main">
            <a:off x="9182100" y="39433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01216"/>
                </a:solidFill>
              </a:defRPr>
            </a:pPr>
            <a:r>
              <a:rPr sz="1500" b="1">
                <a:solidFill>
                  <a:srgbClr val="101216"/>
                </a:solidFill>
              </a:rPr>
              <a:t>Adapt</a:t>
            </a:r>
          </a:p>
        </p:txBody>
      </p:sp>
      <p:sp>
        <p:nvSpPr>
          <p:cNvPr id="22" name="">
            <a:extLst xmlns:a="http://schemas.openxmlformats.org/drawingml/2006/main">
              <a:ext uri="{FF2B5EF4-FFF2-40B4-BE49-F238E27FC236}">
                <a16:creationId xmlns:a16="http://schemas.microsoft.com/office/drawing/2014/main" id="{8C37CDEA-CA19-4C79-B51B-628ECB3256C6}"/>
              </a:ext>
            </a:extLst>
          </p:cNvPr>
          <p:cNvSpPr>
            <a:spLocks xmlns:a="http://schemas.openxmlformats.org/drawingml/2006/main" noGrp="1"/>
          </p:cNvSpPr>
          <p:nvPr/>
        </p:nvSpPr>
        <p:spPr>
          <a:xfrm xmlns:a="http://schemas.openxmlformats.org/drawingml/2006/main">
            <a:off x="723900" y="58293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8D96A3"/>
                </a:solidFill>
              </a:defRPr>
            </a:pPr>
            <a:r>
              <a:rPr sz="1125" b="1">
                <a:solidFill>
                  <a:srgbClr val="8D96A3"/>
                </a:solidFill>
              </a:rPr>
              <a:t>Theory, operating model, and current proof of concept</a:t>
            </a:r>
          </a:p>
        </p:txBody>
      </p:sp>
    </p:spTree>
    <p:extLst>
      <p:ext uri="{BB962C8B-B14F-4D97-AF65-F5344CB8AC3E}">
        <p14:creationId xmlns:p14="http://schemas.microsoft.com/office/powerpoint/2010/main" val="20612798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EE71E8E-D53D-4EE2-9173-D5E095643731}"/>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02</a:t>
            </a:r>
          </a:p>
        </p:txBody>
      </p:sp>
      <p:sp>
        <p:nvSpPr>
          <p:cNvPr id="2" name="">
            <a:extLst xmlns:a="http://schemas.openxmlformats.org/drawingml/2006/main">
              <a:ext uri="{FF2B5EF4-FFF2-40B4-BE49-F238E27FC236}">
                <a16:creationId xmlns:a16="http://schemas.microsoft.com/office/drawing/2014/main" id="{06B8106A-2B43-43BD-879B-2A24A413EB42}"/>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CORE MODEL</a:t>
            </a:r>
          </a:p>
        </p:txBody>
      </p:sp>
      <p:sp>
        <p:nvSpPr>
          <p:cNvPr id="3" name="">
            <a:extLst xmlns:a="http://schemas.openxmlformats.org/drawingml/2006/main">
              <a:ext uri="{FF2B5EF4-FFF2-40B4-BE49-F238E27FC236}">
                <a16:creationId xmlns:a16="http://schemas.microsoft.com/office/drawing/2014/main" id="{AAC66B4C-355B-46CB-AC0C-9A186C0A19E7}"/>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The model separates observations, evidence, beliefs, and adaptations</a:t>
            </a:r>
          </a:p>
        </p:txBody>
      </p:sp>
      <p:sp>
        <p:nvSpPr>
          <p:cNvPr id="4" name="">
            <a:extLst xmlns:a="http://schemas.openxmlformats.org/drawingml/2006/main">
              <a:ext uri="{FF2B5EF4-FFF2-40B4-BE49-F238E27FC236}">
                <a16:creationId xmlns:a16="http://schemas.microsoft.com/office/drawing/2014/main" id="{88CF1D08-5A27-4109-908F-6D66D4998C15}"/>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66140B98-2073-44CC-8A42-5D61A0184EB5}"/>
              </a:ext>
            </a:extLst>
          </p:cNvPr>
          <p:cNvSpPr>
            <a:spLocks xmlns:a="http://schemas.openxmlformats.org/drawingml/2006/main" noGrp="1"/>
          </p:cNvSpPr>
          <p:nvPr/>
        </p:nvSpPr>
        <p:spPr>
          <a:xfrm xmlns:a="http://schemas.openxmlformats.org/drawingml/2006/main">
            <a:off x="609600" y="2190750"/>
            <a:ext cx="2190750" cy="2381250"/>
          </a:xfrm>
          <a:prstGeom xmlns:a="http://schemas.openxmlformats.org/drawingml/2006/main" prst="roundRect">
            <a:avLst>
              <a:gd name="adj" fmla="val 5217"/>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F4A6C2B-E805-4BDA-8D09-0A099731C702}"/>
              </a:ext>
            </a:extLst>
          </p:cNvPr>
          <p:cNvSpPr>
            <a:spLocks xmlns:a="http://schemas.openxmlformats.org/drawingml/2006/main" noGrp="1"/>
          </p:cNvSpPr>
          <p:nvPr/>
        </p:nvSpPr>
        <p:spPr>
          <a:xfrm xmlns:a="http://schemas.openxmlformats.org/drawingml/2006/main">
            <a:off x="800100" y="24003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OBSERVATION</a:t>
            </a:r>
          </a:p>
        </p:txBody>
      </p:sp>
      <p:sp>
        <p:nvSpPr>
          <p:cNvPr id="7" name="">
            <a:extLst xmlns:a="http://schemas.openxmlformats.org/drawingml/2006/main">
              <a:ext uri="{FF2B5EF4-FFF2-40B4-BE49-F238E27FC236}">
                <a16:creationId xmlns:a16="http://schemas.microsoft.com/office/drawing/2014/main" id="{9845353C-F7E5-4BB0-8DC6-DED569C162A8}"/>
              </a:ext>
            </a:extLst>
          </p:cNvPr>
          <p:cNvSpPr>
            <a:spLocks xmlns:a="http://schemas.openxmlformats.org/drawingml/2006/main" noGrp="1"/>
          </p:cNvSpPr>
          <p:nvPr/>
        </p:nvSpPr>
        <p:spPr>
          <a:xfrm xmlns:a="http://schemas.openxmlformats.org/drawingml/2006/main">
            <a:off x="800100" y="2876550"/>
            <a:ext cx="180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01216"/>
                </a:solidFill>
              </a:defRPr>
            </a:pPr>
            <a:r>
              <a:rPr sz="1350" b="0">
                <a:solidFill>
                  <a:srgbClr val="101216"/>
                </a:solidFill>
              </a:rPr>
              <a:t>A user action occurred in a known application context.</a:t>
            </a:r>
          </a:p>
        </p:txBody>
      </p:sp>
      <p:sp>
        <p:nvSpPr>
          <p:cNvPr id="8" name="">
            <a:extLst xmlns:a="http://schemas.openxmlformats.org/drawingml/2006/main">
              <a:ext uri="{FF2B5EF4-FFF2-40B4-BE49-F238E27FC236}">
                <a16:creationId xmlns:a16="http://schemas.microsoft.com/office/drawing/2014/main" id="{659C0CDD-BC86-41D3-973D-A3D6263E7C7C}"/>
              </a:ext>
            </a:extLst>
          </p:cNvPr>
          <p:cNvSpPr>
            <a:spLocks xmlns:a="http://schemas.openxmlformats.org/drawingml/2006/main" noGrp="1"/>
          </p:cNvSpPr>
          <p:nvPr/>
        </p:nvSpPr>
        <p:spPr>
          <a:xfrm xmlns:a="http://schemas.openxmlformats.org/drawingml/2006/main">
            <a:off x="2895600" y="3219450"/>
            <a:ext cx="38100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B69DC44-0943-4087-919F-4CDFB6B3D13F}"/>
              </a:ext>
            </a:extLst>
          </p:cNvPr>
          <p:cNvSpPr>
            <a:spLocks xmlns:a="http://schemas.openxmlformats.org/drawingml/2006/main" noGrp="1"/>
          </p:cNvSpPr>
          <p:nvPr/>
        </p:nvSpPr>
        <p:spPr>
          <a:xfrm xmlns:a="http://schemas.openxmlformats.org/drawingml/2006/main">
            <a:off x="3371850" y="2190750"/>
            <a:ext cx="2190750" cy="2381250"/>
          </a:xfrm>
          <a:prstGeom xmlns:a="http://schemas.openxmlformats.org/drawingml/2006/main" prst="roundRect">
            <a:avLst>
              <a:gd name="adj" fmla="val 5217"/>
            </a:avLst>
          </a:prstGeom>
          <a:solidFill xmlns:a="http://schemas.openxmlformats.org/drawingml/2006/main">
            <a:srgbClr val="F3F5F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2F19BC-1E70-45D3-8BED-BE9860FAFE7D}"/>
              </a:ext>
            </a:extLst>
          </p:cNvPr>
          <p:cNvSpPr>
            <a:spLocks xmlns:a="http://schemas.openxmlformats.org/drawingml/2006/main" noGrp="1"/>
          </p:cNvSpPr>
          <p:nvPr/>
        </p:nvSpPr>
        <p:spPr>
          <a:xfrm xmlns:a="http://schemas.openxmlformats.org/drawingml/2006/main">
            <a:off x="3562350" y="24003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EVIDENCE</a:t>
            </a:r>
          </a:p>
        </p:txBody>
      </p:sp>
      <p:sp>
        <p:nvSpPr>
          <p:cNvPr id="11" name="">
            <a:extLst xmlns:a="http://schemas.openxmlformats.org/drawingml/2006/main">
              <a:ext uri="{FF2B5EF4-FFF2-40B4-BE49-F238E27FC236}">
                <a16:creationId xmlns:a16="http://schemas.microsoft.com/office/drawing/2014/main" id="{0288B684-DA5A-44FF-8DE4-916A79B23859}"/>
              </a:ext>
            </a:extLst>
          </p:cNvPr>
          <p:cNvSpPr>
            <a:spLocks xmlns:a="http://schemas.openxmlformats.org/drawingml/2006/main" noGrp="1"/>
          </p:cNvSpPr>
          <p:nvPr/>
        </p:nvSpPr>
        <p:spPr>
          <a:xfrm xmlns:a="http://schemas.openxmlformats.org/drawingml/2006/main">
            <a:off x="3562350" y="2876550"/>
            <a:ext cx="180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01216"/>
                </a:solidFill>
              </a:defRPr>
            </a:pPr>
            <a:r>
              <a:rPr sz="1350" b="0">
                <a:solidFill>
                  <a:srgbClr val="101216"/>
                </a:solidFill>
              </a:rPr>
              <a:t>A pattern or relationship is supported by one or more episodes.</a:t>
            </a:r>
          </a:p>
        </p:txBody>
      </p:sp>
      <p:sp>
        <p:nvSpPr>
          <p:cNvPr id="12" name="">
            <a:extLst xmlns:a="http://schemas.openxmlformats.org/drawingml/2006/main">
              <a:ext uri="{FF2B5EF4-FFF2-40B4-BE49-F238E27FC236}">
                <a16:creationId xmlns:a16="http://schemas.microsoft.com/office/drawing/2014/main" id="{E8AD93C4-498D-4D66-B04E-A8B8161470B7}"/>
              </a:ext>
            </a:extLst>
          </p:cNvPr>
          <p:cNvSpPr>
            <a:spLocks xmlns:a="http://schemas.openxmlformats.org/drawingml/2006/main" noGrp="1"/>
          </p:cNvSpPr>
          <p:nvPr/>
        </p:nvSpPr>
        <p:spPr>
          <a:xfrm xmlns:a="http://schemas.openxmlformats.org/drawingml/2006/main">
            <a:off x="5657850" y="3219450"/>
            <a:ext cx="38100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EF6131B-487F-4542-8D81-53E77731131E}"/>
              </a:ext>
            </a:extLst>
          </p:cNvPr>
          <p:cNvSpPr>
            <a:spLocks xmlns:a="http://schemas.openxmlformats.org/drawingml/2006/main" noGrp="1"/>
          </p:cNvSpPr>
          <p:nvPr/>
        </p:nvSpPr>
        <p:spPr>
          <a:xfrm xmlns:a="http://schemas.openxmlformats.org/drawingml/2006/main">
            <a:off x="6134100" y="2190750"/>
            <a:ext cx="2190750" cy="2381250"/>
          </a:xfrm>
          <a:prstGeom xmlns:a="http://schemas.openxmlformats.org/drawingml/2006/main" prst="roundRect">
            <a:avLst>
              <a:gd name="adj" fmla="val 5217"/>
            </a:avLst>
          </a:prstGeom>
          <a:solidFill xmlns:a="http://schemas.openxmlformats.org/drawingml/2006/main">
            <a:srgbClr val="EAF6F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C49F968-B16F-47B3-A246-A2C466445669}"/>
              </a:ext>
            </a:extLst>
          </p:cNvPr>
          <p:cNvSpPr>
            <a:spLocks xmlns:a="http://schemas.openxmlformats.org/drawingml/2006/main" noGrp="1"/>
          </p:cNvSpPr>
          <p:nvPr/>
        </p:nvSpPr>
        <p:spPr>
          <a:xfrm xmlns:a="http://schemas.openxmlformats.org/drawingml/2006/main">
            <a:off x="6324600" y="24003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BELIEF</a:t>
            </a:r>
          </a:p>
        </p:txBody>
      </p:sp>
      <p:sp>
        <p:nvSpPr>
          <p:cNvPr id="15" name="">
            <a:extLst xmlns:a="http://schemas.openxmlformats.org/drawingml/2006/main">
              <a:ext uri="{FF2B5EF4-FFF2-40B4-BE49-F238E27FC236}">
                <a16:creationId xmlns:a16="http://schemas.microsoft.com/office/drawing/2014/main" id="{5F5090C4-D56D-442F-9C55-5EC48EB954BB}"/>
              </a:ext>
            </a:extLst>
          </p:cNvPr>
          <p:cNvSpPr>
            <a:spLocks xmlns:a="http://schemas.openxmlformats.org/drawingml/2006/main" noGrp="1"/>
          </p:cNvSpPr>
          <p:nvPr/>
        </p:nvSpPr>
        <p:spPr>
          <a:xfrm xmlns:a="http://schemas.openxmlformats.org/drawingml/2006/main">
            <a:off x="6324600" y="2876550"/>
            <a:ext cx="180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The system’s current, revisable explanation of the user.</a:t>
            </a:r>
          </a:p>
        </p:txBody>
      </p:sp>
      <p:sp>
        <p:nvSpPr>
          <p:cNvPr id="16" name="">
            <a:extLst xmlns:a="http://schemas.openxmlformats.org/drawingml/2006/main">
              <a:ext uri="{FF2B5EF4-FFF2-40B4-BE49-F238E27FC236}">
                <a16:creationId xmlns:a16="http://schemas.microsoft.com/office/drawing/2014/main" id="{E62D8A36-3E3A-4829-A211-8D5A73173DC6}"/>
              </a:ext>
            </a:extLst>
          </p:cNvPr>
          <p:cNvSpPr>
            <a:spLocks xmlns:a="http://schemas.openxmlformats.org/drawingml/2006/main" noGrp="1"/>
          </p:cNvSpPr>
          <p:nvPr/>
        </p:nvSpPr>
        <p:spPr>
          <a:xfrm xmlns:a="http://schemas.openxmlformats.org/drawingml/2006/main">
            <a:off x="8420100" y="3219450"/>
            <a:ext cx="38100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67F7B68-8149-4E17-973F-19C32D75A9F1}"/>
              </a:ext>
            </a:extLst>
          </p:cNvPr>
          <p:cNvSpPr>
            <a:spLocks xmlns:a="http://schemas.openxmlformats.org/drawingml/2006/main" noGrp="1"/>
          </p:cNvSpPr>
          <p:nvPr/>
        </p:nvSpPr>
        <p:spPr>
          <a:xfrm xmlns:a="http://schemas.openxmlformats.org/drawingml/2006/main">
            <a:off x="8896350" y="2190750"/>
            <a:ext cx="2190750" cy="2381250"/>
          </a:xfrm>
          <a:prstGeom xmlns:a="http://schemas.openxmlformats.org/drawingml/2006/main" prst="roundRect">
            <a:avLst>
              <a:gd name="adj" fmla="val 5217"/>
            </a:avLst>
          </a:prstGeom>
          <a:solidFill xmlns:a="http://schemas.openxmlformats.org/drawingml/2006/main">
            <a:srgbClr val="F3F5F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8EE2BB-7C56-45CB-8854-ABBD8DDEF808}"/>
              </a:ext>
            </a:extLst>
          </p:cNvPr>
          <p:cNvSpPr>
            <a:spLocks xmlns:a="http://schemas.openxmlformats.org/drawingml/2006/main" noGrp="1"/>
          </p:cNvSpPr>
          <p:nvPr/>
        </p:nvSpPr>
        <p:spPr>
          <a:xfrm xmlns:a="http://schemas.openxmlformats.org/drawingml/2006/main">
            <a:off x="9086850" y="24003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ADAPTATION</a:t>
            </a:r>
          </a:p>
        </p:txBody>
      </p:sp>
      <p:sp>
        <p:nvSpPr>
          <p:cNvPr id="19" name="">
            <a:extLst xmlns:a="http://schemas.openxmlformats.org/drawingml/2006/main">
              <a:ext uri="{FF2B5EF4-FFF2-40B4-BE49-F238E27FC236}">
                <a16:creationId xmlns:a16="http://schemas.microsoft.com/office/drawing/2014/main" id="{A6CF50AF-8CB4-4AA5-BC74-8F89E107635F}"/>
              </a:ext>
            </a:extLst>
          </p:cNvPr>
          <p:cNvSpPr>
            <a:spLocks xmlns:a="http://schemas.openxmlformats.org/drawingml/2006/main" noGrp="1"/>
          </p:cNvSpPr>
          <p:nvPr/>
        </p:nvSpPr>
        <p:spPr>
          <a:xfrm xmlns:a="http://schemas.openxmlformats.org/drawingml/2006/main">
            <a:off x="9086850" y="2876550"/>
            <a:ext cx="180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01216"/>
                </a:solidFill>
              </a:defRPr>
            </a:pPr>
            <a:r>
              <a:rPr sz="1350" b="0">
                <a:solidFill>
                  <a:srgbClr val="101216"/>
                </a:solidFill>
              </a:rPr>
              <a:t>A bounded change the application knows how to apply.</a:t>
            </a:r>
          </a:p>
        </p:txBody>
      </p:sp>
      <p:sp>
        <p:nvSpPr>
          <p:cNvPr id="20" name="">
            <a:extLst xmlns:a="http://schemas.openxmlformats.org/drawingml/2006/main">
              <a:ext uri="{FF2B5EF4-FFF2-40B4-BE49-F238E27FC236}">
                <a16:creationId xmlns:a16="http://schemas.microsoft.com/office/drawing/2014/main" id="{A4D71E98-596D-4ABA-A400-2A7490C3EBAD}"/>
              </a:ext>
            </a:extLst>
          </p:cNvPr>
          <p:cNvSpPr>
            <a:spLocks xmlns:a="http://schemas.openxmlformats.org/drawingml/2006/main" noGrp="1"/>
          </p:cNvSpPr>
          <p:nvPr/>
        </p:nvSpPr>
        <p:spPr>
          <a:xfrm xmlns:a="http://schemas.openxmlformats.org/drawingml/2006/main">
            <a:off x="914400" y="4953000"/>
            <a:ext cx="10363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01216"/>
                </a:solidFill>
              </a:defRPr>
            </a:pPr>
            <a:r>
              <a:rPr sz="1725" b="1">
                <a:solidFill>
                  <a:srgbClr val="101216"/>
                </a:solidFill>
              </a:rPr>
              <a:t>The discipline matters: an action is not automatically a preference, and a preference is not automatically permission to change the interface.</a:t>
            </a:r>
          </a:p>
        </p:txBody>
      </p:sp>
      <p:sp>
        <p:nvSpPr>
          <p:cNvPr id="21" name="">
            <a:extLst xmlns:a="http://schemas.openxmlformats.org/drawingml/2006/main">
              <a:ext uri="{FF2B5EF4-FFF2-40B4-BE49-F238E27FC236}">
                <a16:creationId xmlns:a16="http://schemas.microsoft.com/office/drawing/2014/main" id="{1957043F-5867-420F-BD6A-65811D047B50}"/>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22" name="">
            <a:extLst xmlns:a="http://schemas.openxmlformats.org/drawingml/2006/main">
              <a:ext uri="{FF2B5EF4-FFF2-40B4-BE49-F238E27FC236}">
                <a16:creationId xmlns:a16="http://schemas.microsoft.com/office/drawing/2014/main" id="{F13954AD-6D6F-42CB-944F-175545A541D3}"/>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2</a:t>
            </a:r>
          </a:p>
        </p:txBody>
      </p:sp>
    </p:spTree>
    <p:extLst>
      <p:ext uri="{BB962C8B-B14F-4D97-AF65-F5344CB8AC3E}">
        <p14:creationId xmlns:p14="http://schemas.microsoft.com/office/powerpoint/2010/main" val="7239625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1857F48-772B-48A8-86CE-D52B24499E12}"/>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03</a:t>
            </a:r>
          </a:p>
        </p:txBody>
      </p:sp>
      <p:sp>
        <p:nvSpPr>
          <p:cNvPr id="2" name="">
            <a:extLst xmlns:a="http://schemas.openxmlformats.org/drawingml/2006/main">
              <a:ext uri="{FF2B5EF4-FFF2-40B4-BE49-F238E27FC236}">
                <a16:creationId xmlns:a16="http://schemas.microsoft.com/office/drawing/2014/main" id="{B7904E8E-16EB-4056-A9FB-D3A030ABAA08}"/>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CONTEXT</a:t>
            </a:r>
          </a:p>
        </p:txBody>
      </p:sp>
      <p:sp>
        <p:nvSpPr>
          <p:cNvPr id="3" name="">
            <a:extLst xmlns:a="http://schemas.openxmlformats.org/drawingml/2006/main">
              <a:ext uri="{FF2B5EF4-FFF2-40B4-BE49-F238E27FC236}">
                <a16:creationId xmlns:a16="http://schemas.microsoft.com/office/drawing/2014/main" id="{9E01821C-2D2D-4FD1-8E83-412800C66035}"/>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The application supplies meaning the AI cannot infer alone</a:t>
            </a:r>
          </a:p>
        </p:txBody>
      </p:sp>
      <p:sp>
        <p:nvSpPr>
          <p:cNvPr id="4" name="">
            <a:extLst xmlns:a="http://schemas.openxmlformats.org/drawingml/2006/main">
              <a:ext uri="{FF2B5EF4-FFF2-40B4-BE49-F238E27FC236}">
                <a16:creationId xmlns:a16="http://schemas.microsoft.com/office/drawing/2014/main" id="{E1EA40D4-23E6-4165-94C6-685AF9A265CE}"/>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6B600164-C099-4A0F-B28F-B60F7CED3ABF}"/>
              </a:ext>
            </a:extLst>
          </p:cNvPr>
          <p:cNvSpPr>
            <a:spLocks xmlns:a="http://schemas.openxmlformats.org/drawingml/2006/main" noGrp="1"/>
          </p:cNvSpPr>
          <p:nvPr/>
        </p:nvSpPr>
        <p:spPr>
          <a:xfrm xmlns:a="http://schemas.openxmlformats.org/drawingml/2006/main">
            <a:off x="609600" y="2038350"/>
            <a:ext cx="3143250" cy="2952750"/>
          </a:xfrm>
          <a:prstGeom xmlns:a="http://schemas.openxmlformats.org/drawingml/2006/main" prst="roundRect">
            <a:avLst>
              <a:gd name="adj" fmla="val 3871"/>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E1D31ED-1D6B-42D5-B6A8-B0AB1B179934}"/>
              </a:ext>
            </a:extLst>
          </p:cNvPr>
          <p:cNvSpPr>
            <a:spLocks xmlns:a="http://schemas.openxmlformats.org/drawingml/2006/main" noGrp="1"/>
          </p:cNvSpPr>
          <p:nvPr/>
        </p:nvSpPr>
        <p:spPr>
          <a:xfrm xmlns:a="http://schemas.openxmlformats.org/drawingml/2006/main">
            <a:off x="609600" y="2038350"/>
            <a:ext cx="57150" cy="2952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76CF409-BA80-41AA-BE8A-337A642F2007}"/>
              </a:ext>
            </a:extLst>
          </p:cNvPr>
          <p:cNvSpPr>
            <a:spLocks xmlns:a="http://schemas.openxmlformats.org/drawingml/2006/main" noGrp="1"/>
          </p:cNvSpPr>
          <p:nvPr/>
        </p:nvSpPr>
        <p:spPr>
          <a:xfrm xmlns:a="http://schemas.openxmlformats.org/drawingml/2006/main">
            <a:off x="838200" y="2209800"/>
            <a:ext cx="274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Application identity</a:t>
            </a:r>
          </a:p>
        </p:txBody>
      </p:sp>
      <p:sp>
        <p:nvSpPr>
          <p:cNvPr id="8" name="">
            <a:extLst xmlns:a="http://schemas.openxmlformats.org/drawingml/2006/main">
              <a:ext uri="{FF2B5EF4-FFF2-40B4-BE49-F238E27FC236}">
                <a16:creationId xmlns:a16="http://schemas.microsoft.com/office/drawing/2014/main" id="{A08D712E-83F2-415C-BE58-43C7BC4CE2F2}"/>
              </a:ext>
            </a:extLst>
          </p:cNvPr>
          <p:cNvSpPr>
            <a:spLocks xmlns:a="http://schemas.openxmlformats.org/drawingml/2006/main" noGrp="1"/>
          </p:cNvSpPr>
          <p:nvPr/>
        </p:nvSpPr>
        <p:spPr>
          <a:xfrm xmlns:a="http://schemas.openxmlformats.org/drawingml/2006/main">
            <a:off x="838200" y="2590800"/>
            <a:ext cx="27432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F6875"/>
                </a:solidFill>
              </a:defRPr>
            </a:pPr>
            <a:r>
              <a:rPr sz="1125" b="0">
                <a:solidFill>
                  <a:srgbClr val="5F6875"/>
                </a:solidFill>
              </a:rPr>
              <a:t>Which product and business domain?</a:t>
            </a:r>
          </a:p>
          <a:p xmlns:a="http://schemas.openxmlformats.org/drawingml/2006/main">
            <a:r>
              <a:t/>
            </a:r>
          </a:p>
          <a:p xmlns:a="http://schemas.openxmlformats.org/drawingml/2006/main">
            <a:pPr algn="l">
              <a:defRPr sz="1125" b="0">
                <a:solidFill>
                  <a:srgbClr val="5F6875"/>
                </a:solidFill>
              </a:defRPr>
            </a:pPr>
            <a:r>
              <a:rPr sz="1125" b="0">
                <a:solidFill>
                  <a:srgbClr val="5F6875"/>
                </a:solidFill>
              </a:rPr>
              <a:t>Which surface and workflow step?</a:t>
            </a:r>
          </a:p>
          <a:p xmlns:a="http://schemas.openxmlformats.org/drawingml/2006/main">
            <a:r>
              <a:t/>
            </a:r>
          </a:p>
          <a:p xmlns:a="http://schemas.openxmlformats.org/drawingml/2006/main">
            <a:pPr algn="l">
              <a:defRPr sz="1125" b="0">
                <a:solidFill>
                  <a:srgbClr val="5F6875"/>
                </a:solidFill>
              </a:defRPr>
            </a:pPr>
            <a:r>
              <a:rPr sz="1125" b="0">
                <a:solidFill>
                  <a:srgbClr val="5F6875"/>
                </a:solidFill>
              </a:rPr>
              <a:t>What does the user believe they are doing?</a:t>
            </a:r>
          </a:p>
        </p:txBody>
      </p:sp>
      <p:sp>
        <p:nvSpPr>
          <p:cNvPr id="9" name="">
            <a:extLst xmlns:a="http://schemas.openxmlformats.org/drawingml/2006/main">
              <a:ext uri="{FF2B5EF4-FFF2-40B4-BE49-F238E27FC236}">
                <a16:creationId xmlns:a16="http://schemas.microsoft.com/office/drawing/2014/main" id="{9DFD6C33-14CF-490C-BC20-53E2F6FFB44D}"/>
              </a:ext>
            </a:extLst>
          </p:cNvPr>
          <p:cNvSpPr>
            <a:spLocks xmlns:a="http://schemas.openxmlformats.org/drawingml/2006/main" noGrp="1"/>
          </p:cNvSpPr>
          <p:nvPr/>
        </p:nvSpPr>
        <p:spPr>
          <a:xfrm xmlns:a="http://schemas.openxmlformats.org/drawingml/2006/main">
            <a:off x="4524375" y="2038350"/>
            <a:ext cx="3143250" cy="2952750"/>
          </a:xfrm>
          <a:prstGeom xmlns:a="http://schemas.openxmlformats.org/drawingml/2006/main" prst="roundRect">
            <a:avLst>
              <a:gd name="adj" fmla="val 3871"/>
            </a:avLst>
          </a:prstGeom>
          <a:solidFill xmlns:a="http://schemas.openxmlformats.org/drawingml/2006/main">
            <a:srgbClr val="F3F5F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B98E22A-40ED-453B-AB60-125F5DCC2E51}"/>
              </a:ext>
            </a:extLst>
          </p:cNvPr>
          <p:cNvSpPr>
            <a:spLocks xmlns:a="http://schemas.openxmlformats.org/drawingml/2006/main" noGrp="1"/>
          </p:cNvSpPr>
          <p:nvPr/>
        </p:nvSpPr>
        <p:spPr>
          <a:xfrm xmlns:a="http://schemas.openxmlformats.org/drawingml/2006/main">
            <a:off x="4524375" y="2038350"/>
            <a:ext cx="57150" cy="29527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92AAC18-985B-4E95-96D3-C3F7110CD57D}"/>
              </a:ext>
            </a:extLst>
          </p:cNvPr>
          <p:cNvSpPr>
            <a:spLocks xmlns:a="http://schemas.openxmlformats.org/drawingml/2006/main" noGrp="1"/>
          </p:cNvSpPr>
          <p:nvPr/>
        </p:nvSpPr>
        <p:spPr>
          <a:xfrm xmlns:a="http://schemas.openxmlformats.org/drawingml/2006/main">
            <a:off x="4752975" y="2209800"/>
            <a:ext cx="274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Visible state</a:t>
            </a:r>
          </a:p>
        </p:txBody>
      </p:sp>
      <p:sp>
        <p:nvSpPr>
          <p:cNvPr id="12" name="">
            <a:extLst xmlns:a="http://schemas.openxmlformats.org/drawingml/2006/main">
              <a:ext uri="{FF2B5EF4-FFF2-40B4-BE49-F238E27FC236}">
                <a16:creationId xmlns:a16="http://schemas.microsoft.com/office/drawing/2014/main" id="{927E5DAD-7308-4B4F-9C34-6C005622B57B}"/>
              </a:ext>
            </a:extLst>
          </p:cNvPr>
          <p:cNvSpPr>
            <a:spLocks xmlns:a="http://schemas.openxmlformats.org/drawingml/2006/main" noGrp="1"/>
          </p:cNvSpPr>
          <p:nvPr/>
        </p:nvSpPr>
        <p:spPr>
          <a:xfrm xmlns:a="http://schemas.openxmlformats.org/drawingml/2006/main">
            <a:off x="4752975" y="2590800"/>
            <a:ext cx="27432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F6875"/>
                </a:solidFill>
              </a:defRPr>
            </a:pPr>
            <a:r>
              <a:rPr sz="1125" b="0">
                <a:solidFill>
                  <a:srgbClr val="5F6875"/>
                </a:solidFill>
              </a:rPr>
              <a:t>Which view is active?</a:t>
            </a:r>
          </a:p>
          <a:p xmlns:a="http://schemas.openxmlformats.org/drawingml/2006/main">
            <a:r>
              <a:t/>
            </a:r>
          </a:p>
          <a:p xmlns:a="http://schemas.openxmlformats.org/drawingml/2006/main">
            <a:pPr algn="l">
              <a:defRPr sz="1125" b="0">
                <a:solidFill>
                  <a:srgbClr val="5F6875"/>
                </a:solidFill>
              </a:defRPr>
            </a:pPr>
            <a:r>
              <a:rPr sz="1125" b="0">
                <a:solidFill>
                  <a:srgbClr val="5F6875"/>
                </a:solidFill>
              </a:rPr>
              <a:t>What controls and options are visible?</a:t>
            </a:r>
          </a:p>
          <a:p xmlns:a="http://schemas.openxmlformats.org/drawingml/2006/main">
            <a:r>
              <a:t/>
            </a:r>
          </a:p>
          <a:p xmlns:a="http://schemas.openxmlformats.org/drawingml/2006/main">
            <a:pPr algn="l">
              <a:defRPr sz="1125" b="0">
                <a:solidFill>
                  <a:srgbClr val="5F6875"/>
                </a:solidFill>
              </a:defRPr>
            </a:pPr>
            <a:r>
              <a:rPr sz="1125" b="0">
                <a:solidFill>
                  <a:srgbClr val="5F6875"/>
                </a:solidFill>
              </a:rPr>
              <a:t>Which entities and values are present?</a:t>
            </a:r>
          </a:p>
        </p:txBody>
      </p:sp>
      <p:sp>
        <p:nvSpPr>
          <p:cNvPr id="13" name="">
            <a:extLst xmlns:a="http://schemas.openxmlformats.org/drawingml/2006/main">
              <a:ext uri="{FF2B5EF4-FFF2-40B4-BE49-F238E27FC236}">
                <a16:creationId xmlns:a16="http://schemas.microsoft.com/office/drawing/2014/main" id="{811E4F08-BC57-4DE7-9F34-8BC472FE6A36}"/>
              </a:ext>
            </a:extLst>
          </p:cNvPr>
          <p:cNvSpPr>
            <a:spLocks xmlns:a="http://schemas.openxmlformats.org/drawingml/2006/main" noGrp="1"/>
          </p:cNvSpPr>
          <p:nvPr/>
        </p:nvSpPr>
        <p:spPr>
          <a:xfrm xmlns:a="http://schemas.openxmlformats.org/drawingml/2006/main">
            <a:off x="8439150" y="2038350"/>
            <a:ext cx="3143250" cy="2952750"/>
          </a:xfrm>
          <a:prstGeom xmlns:a="http://schemas.openxmlformats.org/drawingml/2006/main" prst="roundRect">
            <a:avLst>
              <a:gd name="adj" fmla="val 3871"/>
            </a:avLst>
          </a:prstGeom>
          <a:solidFill xmlns:a="http://schemas.openxmlformats.org/drawingml/2006/main">
            <a:srgbClr val="F3F5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F26C9E6-DC23-471F-A500-0B7CB5211191}"/>
              </a:ext>
            </a:extLst>
          </p:cNvPr>
          <p:cNvSpPr>
            <a:spLocks xmlns:a="http://schemas.openxmlformats.org/drawingml/2006/main" noGrp="1"/>
          </p:cNvSpPr>
          <p:nvPr/>
        </p:nvSpPr>
        <p:spPr>
          <a:xfrm xmlns:a="http://schemas.openxmlformats.org/drawingml/2006/main">
            <a:off x="8439150" y="2038350"/>
            <a:ext cx="57150" cy="2952750"/>
          </a:xfrm>
          <a:prstGeom xmlns:a="http://schemas.openxmlformats.org/drawingml/2006/main" prst="rect">
            <a:avLst/>
          </a:prstGeom>
          <a:solidFill xmlns:a="http://schemas.openxmlformats.org/drawingml/2006/main">
            <a:srgbClr val="38A16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BA08DBD-ADE0-4A42-9D06-41D2FBDD649D}"/>
              </a:ext>
            </a:extLst>
          </p:cNvPr>
          <p:cNvSpPr>
            <a:spLocks xmlns:a="http://schemas.openxmlformats.org/drawingml/2006/main" noGrp="1"/>
          </p:cNvSpPr>
          <p:nvPr/>
        </p:nvSpPr>
        <p:spPr>
          <a:xfrm xmlns:a="http://schemas.openxmlformats.org/drawingml/2006/main">
            <a:off x="8667750" y="2209800"/>
            <a:ext cx="274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Interaction semantics</a:t>
            </a:r>
          </a:p>
        </p:txBody>
      </p:sp>
      <p:sp>
        <p:nvSpPr>
          <p:cNvPr id="16" name="">
            <a:extLst xmlns:a="http://schemas.openxmlformats.org/drawingml/2006/main">
              <a:ext uri="{FF2B5EF4-FFF2-40B4-BE49-F238E27FC236}">
                <a16:creationId xmlns:a16="http://schemas.microsoft.com/office/drawing/2014/main" id="{47444E72-32A9-4005-A701-0A82A0256A5D}"/>
              </a:ext>
            </a:extLst>
          </p:cNvPr>
          <p:cNvSpPr>
            <a:spLocks xmlns:a="http://schemas.openxmlformats.org/drawingml/2006/main" noGrp="1"/>
          </p:cNvSpPr>
          <p:nvPr/>
        </p:nvSpPr>
        <p:spPr>
          <a:xfrm xmlns:a="http://schemas.openxmlformats.org/drawingml/2006/main">
            <a:off x="8667750" y="2590800"/>
            <a:ext cx="27432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F6875"/>
                </a:solidFill>
              </a:defRPr>
            </a:pPr>
            <a:r>
              <a:rPr sz="1125" b="0">
                <a:solidFill>
                  <a:srgbClr val="5F6875"/>
                </a:solidFill>
              </a:rPr>
              <a:t>What does expand, select, compare, or change-view mean here?</a:t>
            </a:r>
          </a:p>
          <a:p xmlns:a="http://schemas.openxmlformats.org/drawingml/2006/main">
            <a:r>
              <a:t/>
            </a:r>
          </a:p>
          <a:p xmlns:a="http://schemas.openxmlformats.org/drawingml/2006/main">
            <a:pPr algn="l">
              <a:defRPr sz="1125" b="0">
                <a:solidFill>
                  <a:srgbClr val="5F6875"/>
                </a:solidFill>
              </a:defRPr>
            </a:pPr>
            <a:r>
              <a:rPr sz="1125" b="0">
                <a:solidFill>
                  <a:srgbClr val="5F6875"/>
                </a:solidFill>
              </a:rPr>
              <a:t>Which actions are reversible or consequential?</a:t>
            </a:r>
          </a:p>
        </p:txBody>
      </p:sp>
      <p:sp>
        <p:nvSpPr>
          <p:cNvPr id="17" name="">
            <a:extLst xmlns:a="http://schemas.openxmlformats.org/drawingml/2006/main">
              <a:ext uri="{FF2B5EF4-FFF2-40B4-BE49-F238E27FC236}">
                <a16:creationId xmlns:a16="http://schemas.microsoft.com/office/drawing/2014/main" id="{D814F080-9BCA-44A3-B5B7-6E8C744E56BA}"/>
              </a:ext>
            </a:extLst>
          </p:cNvPr>
          <p:cNvSpPr>
            <a:spLocks xmlns:a="http://schemas.openxmlformats.org/drawingml/2006/main" noGrp="1"/>
          </p:cNvSpPr>
          <p:nvPr/>
        </p:nvSpPr>
        <p:spPr>
          <a:xfrm xmlns:a="http://schemas.openxmlformats.org/drawingml/2006/main">
            <a:off x="1524000" y="5353050"/>
            <a:ext cx="914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01216"/>
                </a:solidFill>
              </a:defRPr>
            </a:pPr>
            <a:r>
              <a:rPr sz="1800" b="1">
                <a:solidFill>
                  <a:srgbClr val="101216"/>
                </a:solidFill>
              </a:rPr>
              <a:t>Without this contract, the model sees clicks. With it, the model can reason about intent.</a:t>
            </a:r>
          </a:p>
        </p:txBody>
      </p:sp>
      <p:sp>
        <p:nvSpPr>
          <p:cNvPr id="18" name="">
            <a:extLst xmlns:a="http://schemas.openxmlformats.org/drawingml/2006/main">
              <a:ext uri="{FF2B5EF4-FFF2-40B4-BE49-F238E27FC236}">
                <a16:creationId xmlns:a16="http://schemas.microsoft.com/office/drawing/2014/main" id="{FC55D4E2-6415-4A0D-9FB1-EBC0B76B6ACD}"/>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19" name="">
            <a:extLst xmlns:a="http://schemas.openxmlformats.org/drawingml/2006/main">
              <a:ext uri="{FF2B5EF4-FFF2-40B4-BE49-F238E27FC236}">
                <a16:creationId xmlns:a16="http://schemas.microsoft.com/office/drawing/2014/main" id="{F8A2BE29-AAC9-4669-ABC4-A7C7C2C22C2F}"/>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3</a:t>
            </a:r>
          </a:p>
        </p:txBody>
      </p:sp>
    </p:spTree>
    <p:extLst>
      <p:ext uri="{BB962C8B-B14F-4D97-AF65-F5344CB8AC3E}">
        <p14:creationId xmlns:p14="http://schemas.microsoft.com/office/powerpoint/2010/main" val="12144000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9EAB363-A368-4E5C-8F20-230D902E667E}"/>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04</a:t>
            </a:r>
          </a:p>
        </p:txBody>
      </p:sp>
      <p:sp>
        <p:nvSpPr>
          <p:cNvPr id="2" name="">
            <a:extLst xmlns:a="http://schemas.openxmlformats.org/drawingml/2006/main">
              <a:ext uri="{FF2B5EF4-FFF2-40B4-BE49-F238E27FC236}">
                <a16:creationId xmlns:a16="http://schemas.microsoft.com/office/drawing/2014/main" id="{87521F8A-024A-4151-85AD-2AA9743AE49C}"/>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EVENT ACCUMULATION</a:t>
            </a:r>
          </a:p>
        </p:txBody>
      </p:sp>
      <p:sp>
        <p:nvSpPr>
          <p:cNvPr id="3" name="">
            <a:extLst xmlns:a="http://schemas.openxmlformats.org/drawingml/2006/main">
              <a:ext uri="{FF2B5EF4-FFF2-40B4-BE49-F238E27FC236}">
                <a16:creationId xmlns:a16="http://schemas.microsoft.com/office/drawing/2014/main" id="{1F206BA4-A1BB-4456-B69C-7186C05F1276}"/>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Individual UI events are assembled into decision episodes</a:t>
            </a:r>
          </a:p>
        </p:txBody>
      </p:sp>
      <p:sp>
        <p:nvSpPr>
          <p:cNvPr id="4" name="">
            <a:extLst xmlns:a="http://schemas.openxmlformats.org/drawingml/2006/main">
              <a:ext uri="{FF2B5EF4-FFF2-40B4-BE49-F238E27FC236}">
                <a16:creationId xmlns:a16="http://schemas.microsoft.com/office/drawing/2014/main" id="{9EA899BB-DACF-46DC-9947-5CE3A479C0AB}"/>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2665404C-3FD3-46B4-8D69-BB13807728B0}"/>
              </a:ext>
            </a:extLst>
          </p:cNvPr>
          <p:cNvSpPr>
            <a:spLocks xmlns:a="http://schemas.openxmlformats.org/drawingml/2006/main" noGrp="1"/>
          </p:cNvSpPr>
          <p:nvPr/>
        </p:nvSpPr>
        <p:spPr>
          <a:xfrm xmlns:a="http://schemas.openxmlformats.org/drawingml/2006/main">
            <a:off x="647700" y="2190750"/>
            <a:ext cx="1771650" cy="590550"/>
          </a:xfrm>
          <a:prstGeom xmlns:a="http://schemas.openxmlformats.org/drawingml/2006/main" prst="roundRect">
            <a:avLst>
              <a:gd name="adj" fmla="val 19355"/>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EF112A9-0AC2-428B-B8DA-C9EAC7381C7A}"/>
              </a:ext>
            </a:extLst>
          </p:cNvPr>
          <p:cNvSpPr>
            <a:spLocks xmlns:a="http://schemas.openxmlformats.org/drawingml/2006/main" noGrp="1"/>
          </p:cNvSpPr>
          <p:nvPr/>
        </p:nvSpPr>
        <p:spPr>
          <a:xfrm xmlns:a="http://schemas.openxmlformats.org/drawingml/2006/main">
            <a:off x="742950" y="2190750"/>
            <a:ext cx="1581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01216"/>
                </a:solidFill>
              </a:defRPr>
            </a:pPr>
            <a:r>
              <a:rPr sz="1125" b="1">
                <a:solidFill>
                  <a:srgbClr val="101216"/>
                </a:solidFill>
              </a:rPr>
              <a:t>Expand A</a:t>
            </a:r>
          </a:p>
        </p:txBody>
      </p:sp>
      <p:sp>
        <p:nvSpPr>
          <p:cNvPr id="7" name="">
            <a:extLst xmlns:a="http://schemas.openxmlformats.org/drawingml/2006/main">
              <a:ext uri="{FF2B5EF4-FFF2-40B4-BE49-F238E27FC236}">
                <a16:creationId xmlns:a16="http://schemas.microsoft.com/office/drawing/2014/main" id="{CEA9759F-F5F9-494C-9234-FEA7919206F3}"/>
              </a:ext>
            </a:extLst>
          </p:cNvPr>
          <p:cNvSpPr>
            <a:spLocks xmlns:a="http://schemas.openxmlformats.org/drawingml/2006/main" noGrp="1"/>
          </p:cNvSpPr>
          <p:nvPr/>
        </p:nvSpPr>
        <p:spPr>
          <a:xfrm xmlns:a="http://schemas.openxmlformats.org/drawingml/2006/main">
            <a:off x="2438400" y="2371725"/>
            <a:ext cx="32385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D6F4E94-5134-47CC-84CC-1539805D0261}"/>
              </a:ext>
            </a:extLst>
          </p:cNvPr>
          <p:cNvSpPr>
            <a:spLocks xmlns:a="http://schemas.openxmlformats.org/drawingml/2006/main" noGrp="1"/>
          </p:cNvSpPr>
          <p:nvPr/>
        </p:nvSpPr>
        <p:spPr>
          <a:xfrm xmlns:a="http://schemas.openxmlformats.org/drawingml/2006/main">
            <a:off x="2800350" y="2190750"/>
            <a:ext cx="1771650" cy="590550"/>
          </a:xfrm>
          <a:prstGeom xmlns:a="http://schemas.openxmlformats.org/drawingml/2006/main" prst="roundRect">
            <a:avLst>
              <a:gd name="adj" fmla="val 19355"/>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57893C9-D825-4359-92E4-659CDFB13CD5}"/>
              </a:ext>
            </a:extLst>
          </p:cNvPr>
          <p:cNvSpPr>
            <a:spLocks xmlns:a="http://schemas.openxmlformats.org/drawingml/2006/main" noGrp="1"/>
          </p:cNvSpPr>
          <p:nvPr/>
        </p:nvSpPr>
        <p:spPr>
          <a:xfrm xmlns:a="http://schemas.openxmlformats.org/drawingml/2006/main">
            <a:off x="2895600" y="2190750"/>
            <a:ext cx="1581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01216"/>
                </a:solidFill>
              </a:defRPr>
            </a:pPr>
            <a:r>
              <a:rPr sz="1125" b="1">
                <a:solidFill>
                  <a:srgbClr val="101216"/>
                </a:solidFill>
              </a:rPr>
              <a:t>Collapse A</a:t>
            </a:r>
          </a:p>
        </p:txBody>
      </p:sp>
      <p:sp>
        <p:nvSpPr>
          <p:cNvPr id="10" name="">
            <a:extLst xmlns:a="http://schemas.openxmlformats.org/drawingml/2006/main">
              <a:ext uri="{FF2B5EF4-FFF2-40B4-BE49-F238E27FC236}">
                <a16:creationId xmlns:a16="http://schemas.microsoft.com/office/drawing/2014/main" id="{877BC7B2-D55A-46D2-92B3-6EC54C5FF714}"/>
              </a:ext>
            </a:extLst>
          </p:cNvPr>
          <p:cNvSpPr>
            <a:spLocks xmlns:a="http://schemas.openxmlformats.org/drawingml/2006/main" noGrp="1"/>
          </p:cNvSpPr>
          <p:nvPr/>
        </p:nvSpPr>
        <p:spPr>
          <a:xfrm xmlns:a="http://schemas.openxmlformats.org/drawingml/2006/main">
            <a:off x="4591050" y="2371725"/>
            <a:ext cx="32385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0671A76-236E-4C07-BC90-71E3CF33457C}"/>
              </a:ext>
            </a:extLst>
          </p:cNvPr>
          <p:cNvSpPr>
            <a:spLocks xmlns:a="http://schemas.openxmlformats.org/drawingml/2006/main" noGrp="1"/>
          </p:cNvSpPr>
          <p:nvPr/>
        </p:nvSpPr>
        <p:spPr>
          <a:xfrm xmlns:a="http://schemas.openxmlformats.org/drawingml/2006/main">
            <a:off x="4953000" y="2190750"/>
            <a:ext cx="1771650" cy="590550"/>
          </a:xfrm>
          <a:prstGeom xmlns:a="http://schemas.openxmlformats.org/drawingml/2006/main" prst="roundRect">
            <a:avLst>
              <a:gd name="adj" fmla="val 19355"/>
            </a:avLst>
          </a:prstGeom>
          <a:solidFill xmlns:a="http://schemas.openxmlformats.org/drawingml/2006/main">
            <a:srgbClr val="F3F5F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BC60D2-8E06-4F21-93C5-7B8918FBE457}"/>
              </a:ext>
            </a:extLst>
          </p:cNvPr>
          <p:cNvSpPr>
            <a:spLocks xmlns:a="http://schemas.openxmlformats.org/drawingml/2006/main" noGrp="1"/>
          </p:cNvSpPr>
          <p:nvPr/>
        </p:nvSpPr>
        <p:spPr>
          <a:xfrm xmlns:a="http://schemas.openxmlformats.org/drawingml/2006/main">
            <a:off x="5048250" y="2190750"/>
            <a:ext cx="1581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01216"/>
                </a:solidFill>
              </a:defRPr>
            </a:pPr>
            <a:r>
              <a:rPr sz="1125" b="1">
                <a:solidFill>
                  <a:srgbClr val="101216"/>
                </a:solidFill>
              </a:rPr>
              <a:t>Expand B</a:t>
            </a:r>
          </a:p>
        </p:txBody>
      </p:sp>
      <p:sp>
        <p:nvSpPr>
          <p:cNvPr id="13" name="">
            <a:extLst xmlns:a="http://schemas.openxmlformats.org/drawingml/2006/main">
              <a:ext uri="{FF2B5EF4-FFF2-40B4-BE49-F238E27FC236}">
                <a16:creationId xmlns:a16="http://schemas.microsoft.com/office/drawing/2014/main" id="{DE4A3203-357F-4095-9693-10CA7F4519CB}"/>
              </a:ext>
            </a:extLst>
          </p:cNvPr>
          <p:cNvSpPr>
            <a:spLocks xmlns:a="http://schemas.openxmlformats.org/drawingml/2006/main" noGrp="1"/>
          </p:cNvSpPr>
          <p:nvPr/>
        </p:nvSpPr>
        <p:spPr>
          <a:xfrm xmlns:a="http://schemas.openxmlformats.org/drawingml/2006/main">
            <a:off x="6743700" y="2371725"/>
            <a:ext cx="32385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79BDA2-4227-421F-9BE9-2AB9DE9F196E}"/>
              </a:ext>
            </a:extLst>
          </p:cNvPr>
          <p:cNvSpPr>
            <a:spLocks xmlns:a="http://schemas.openxmlformats.org/drawingml/2006/main" noGrp="1"/>
          </p:cNvSpPr>
          <p:nvPr/>
        </p:nvSpPr>
        <p:spPr>
          <a:xfrm xmlns:a="http://schemas.openxmlformats.org/drawingml/2006/main">
            <a:off x="7105650" y="2190750"/>
            <a:ext cx="1771650" cy="590550"/>
          </a:xfrm>
          <a:prstGeom xmlns:a="http://schemas.openxmlformats.org/drawingml/2006/main" prst="roundRect">
            <a:avLst>
              <a:gd name="adj" fmla="val 19355"/>
            </a:avLst>
          </a:prstGeom>
          <a:solidFill xmlns:a="http://schemas.openxmlformats.org/drawingml/2006/main">
            <a:srgbClr val="F3F5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58A06AE-2625-4947-9047-2F4F9E1CBF95}"/>
              </a:ext>
            </a:extLst>
          </p:cNvPr>
          <p:cNvSpPr>
            <a:spLocks xmlns:a="http://schemas.openxmlformats.org/drawingml/2006/main" noGrp="1"/>
          </p:cNvSpPr>
          <p:nvPr/>
        </p:nvSpPr>
        <p:spPr>
          <a:xfrm xmlns:a="http://schemas.openxmlformats.org/drawingml/2006/main">
            <a:off x="7200900" y="2190750"/>
            <a:ext cx="1581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01216"/>
                </a:solidFill>
              </a:defRPr>
            </a:pPr>
            <a:r>
              <a:rPr sz="1125" b="1">
                <a:solidFill>
                  <a:srgbClr val="101216"/>
                </a:solidFill>
              </a:rPr>
              <a:t>Choose graph</a:t>
            </a:r>
          </a:p>
        </p:txBody>
      </p:sp>
      <p:sp>
        <p:nvSpPr>
          <p:cNvPr id="16" name="">
            <a:extLst xmlns:a="http://schemas.openxmlformats.org/drawingml/2006/main">
              <a:ext uri="{FF2B5EF4-FFF2-40B4-BE49-F238E27FC236}">
                <a16:creationId xmlns:a16="http://schemas.microsoft.com/office/drawing/2014/main" id="{1C653030-0830-4665-8F00-AE9067FFF77A}"/>
              </a:ext>
            </a:extLst>
          </p:cNvPr>
          <p:cNvSpPr>
            <a:spLocks xmlns:a="http://schemas.openxmlformats.org/drawingml/2006/main" noGrp="1"/>
          </p:cNvSpPr>
          <p:nvPr/>
        </p:nvSpPr>
        <p:spPr>
          <a:xfrm xmlns:a="http://schemas.openxmlformats.org/drawingml/2006/main">
            <a:off x="8896350" y="2371725"/>
            <a:ext cx="32385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533E605-3843-4CF1-887A-29AEABDD6AC6}"/>
              </a:ext>
            </a:extLst>
          </p:cNvPr>
          <p:cNvSpPr>
            <a:spLocks xmlns:a="http://schemas.openxmlformats.org/drawingml/2006/main" noGrp="1"/>
          </p:cNvSpPr>
          <p:nvPr/>
        </p:nvSpPr>
        <p:spPr>
          <a:xfrm xmlns:a="http://schemas.openxmlformats.org/drawingml/2006/main">
            <a:off x="9258300" y="2190750"/>
            <a:ext cx="1771650" cy="590550"/>
          </a:xfrm>
          <a:prstGeom xmlns:a="http://schemas.openxmlformats.org/drawingml/2006/main" prst="roundRect">
            <a:avLst>
              <a:gd name="adj" fmla="val 19355"/>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AA28557-3DE3-46AB-9AF6-1809A8379440}"/>
              </a:ext>
            </a:extLst>
          </p:cNvPr>
          <p:cNvSpPr>
            <a:spLocks xmlns:a="http://schemas.openxmlformats.org/drawingml/2006/main" noGrp="1"/>
          </p:cNvSpPr>
          <p:nvPr/>
        </p:nvSpPr>
        <p:spPr>
          <a:xfrm xmlns:a="http://schemas.openxmlformats.org/drawingml/2006/main">
            <a:off x="9353550" y="2190750"/>
            <a:ext cx="1581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Select contract</a:t>
            </a:r>
          </a:p>
        </p:txBody>
      </p:sp>
      <p:sp>
        <p:nvSpPr>
          <p:cNvPr id="19" name="">
            <a:extLst xmlns:a="http://schemas.openxmlformats.org/drawingml/2006/main">
              <a:ext uri="{FF2B5EF4-FFF2-40B4-BE49-F238E27FC236}">
                <a16:creationId xmlns:a16="http://schemas.microsoft.com/office/drawing/2014/main" id="{58AE7CC7-F18B-47FC-ABB3-8451EDFDBFF2}"/>
              </a:ext>
            </a:extLst>
          </p:cNvPr>
          <p:cNvSpPr>
            <a:spLocks xmlns:a="http://schemas.openxmlformats.org/drawingml/2006/main" noGrp="1"/>
          </p:cNvSpPr>
          <p:nvPr/>
        </p:nvSpPr>
        <p:spPr>
          <a:xfrm xmlns:a="http://schemas.openxmlformats.org/drawingml/2006/main">
            <a:off x="1409700" y="3371850"/>
            <a:ext cx="9372600" cy="1257300"/>
          </a:xfrm>
          <a:prstGeom xmlns:a="http://schemas.openxmlformats.org/drawingml/2006/main" prst="roundRect">
            <a:avLst>
              <a:gd name="adj" fmla="val 9091"/>
            </a:avLst>
          </a:prstGeom>
          <a:solidFill xmlns:a="http://schemas.openxmlformats.org/drawingml/2006/main">
            <a:srgbClr val="EAF6F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37F0CD0-131B-4448-B35B-C07B7191326C}"/>
              </a:ext>
            </a:extLst>
          </p:cNvPr>
          <p:cNvSpPr>
            <a:spLocks xmlns:a="http://schemas.openxmlformats.org/drawingml/2006/main" noGrp="1"/>
          </p:cNvSpPr>
          <p:nvPr/>
        </p:nvSpPr>
        <p:spPr>
          <a:xfrm xmlns:a="http://schemas.openxmlformats.org/drawingml/2006/main">
            <a:off x="1695450" y="35433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DECISION EPISODE</a:t>
            </a:r>
          </a:p>
        </p:txBody>
      </p:sp>
      <p:sp>
        <p:nvSpPr>
          <p:cNvPr id="21" name="">
            <a:extLst xmlns:a="http://schemas.openxmlformats.org/drawingml/2006/main">
              <a:ext uri="{FF2B5EF4-FFF2-40B4-BE49-F238E27FC236}">
                <a16:creationId xmlns:a16="http://schemas.microsoft.com/office/drawing/2014/main" id="{7B22FECB-E11F-4230-9454-63E2C3FF5DB7}"/>
              </a:ext>
            </a:extLst>
          </p:cNvPr>
          <p:cNvSpPr>
            <a:spLocks xmlns:a="http://schemas.openxmlformats.org/drawingml/2006/main" noGrp="1"/>
          </p:cNvSpPr>
          <p:nvPr/>
        </p:nvSpPr>
        <p:spPr>
          <a:xfrm xmlns:a="http://schemas.openxmlformats.org/drawingml/2006/main">
            <a:off x="1695450" y="38957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01216"/>
                </a:solidFill>
              </a:defRPr>
            </a:pPr>
            <a:r>
              <a:rPr sz="1575" b="1">
                <a:solidFill>
                  <a:srgbClr val="101216"/>
                </a:solidFill>
              </a:rPr>
              <a:t>The buffered exploration, reversals, timing, visible alternatives, and final action are submitted together.</a:t>
            </a:r>
          </a:p>
        </p:txBody>
      </p:sp>
      <p:sp>
        <p:nvSpPr>
          <p:cNvPr id="22" name="">
            <a:extLst xmlns:a="http://schemas.openxmlformats.org/drawingml/2006/main">
              <a:ext uri="{FF2B5EF4-FFF2-40B4-BE49-F238E27FC236}">
                <a16:creationId xmlns:a16="http://schemas.microsoft.com/office/drawing/2014/main" id="{1D4A672D-7348-4DAC-BF4D-738936AB69D4}"/>
              </a:ext>
            </a:extLst>
          </p:cNvPr>
          <p:cNvSpPr>
            <a:spLocks xmlns:a="http://schemas.openxmlformats.org/drawingml/2006/main" noGrp="1"/>
          </p:cNvSpPr>
          <p:nvPr/>
        </p:nvSpPr>
        <p:spPr>
          <a:xfrm xmlns:a="http://schemas.openxmlformats.org/drawingml/2006/main">
            <a:off x="1790700" y="5095875"/>
            <a:ext cx="8610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0">
                <a:solidFill>
                  <a:srgbClr val="5F6875"/>
                </a:solidFill>
              </a:defRPr>
            </a:pPr>
            <a:r>
              <a:rPr sz="1650" b="0">
                <a:solidFill>
                  <a:srgbClr val="5F6875"/>
                </a:solidFill>
              </a:rPr>
              <a:t>A coherent episode is more informative than five disconnected events.</a:t>
            </a:r>
          </a:p>
        </p:txBody>
      </p:sp>
      <p:sp>
        <p:nvSpPr>
          <p:cNvPr id="23" name="">
            <a:extLst xmlns:a="http://schemas.openxmlformats.org/drawingml/2006/main">
              <a:ext uri="{FF2B5EF4-FFF2-40B4-BE49-F238E27FC236}">
                <a16:creationId xmlns:a16="http://schemas.microsoft.com/office/drawing/2014/main" id="{23C4B58B-957D-49E1-829F-A4ADA8619DD3}"/>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24" name="">
            <a:extLst xmlns:a="http://schemas.openxmlformats.org/drawingml/2006/main">
              <a:ext uri="{FF2B5EF4-FFF2-40B4-BE49-F238E27FC236}">
                <a16:creationId xmlns:a16="http://schemas.microsoft.com/office/drawing/2014/main" id="{C7013500-8806-43F1-BC2D-C8C962147536}"/>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4</a:t>
            </a:r>
          </a:p>
        </p:txBody>
      </p:sp>
    </p:spTree>
    <p:extLst>
      <p:ext uri="{BB962C8B-B14F-4D97-AF65-F5344CB8AC3E}">
        <p14:creationId xmlns:p14="http://schemas.microsoft.com/office/powerpoint/2010/main" val="10238591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0C52F2A-DBDD-4FC2-848E-DF9C12121B13}"/>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05</a:t>
            </a:r>
          </a:p>
        </p:txBody>
      </p:sp>
      <p:sp>
        <p:nvSpPr>
          <p:cNvPr id="2" name="">
            <a:extLst xmlns:a="http://schemas.openxmlformats.org/drawingml/2006/main">
              <a:ext uri="{FF2B5EF4-FFF2-40B4-BE49-F238E27FC236}">
                <a16:creationId xmlns:a16="http://schemas.microsoft.com/office/drawing/2014/main" id="{B6B3E993-1FC5-4B05-9F82-8243A6E684B9}"/>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PREPROCESSING</a:t>
            </a:r>
          </a:p>
        </p:txBody>
      </p:sp>
      <p:sp>
        <p:nvSpPr>
          <p:cNvPr id="3" name="">
            <a:extLst xmlns:a="http://schemas.openxmlformats.org/drawingml/2006/main">
              <a:ext uri="{FF2B5EF4-FFF2-40B4-BE49-F238E27FC236}">
                <a16:creationId xmlns:a16="http://schemas.microsoft.com/office/drawing/2014/main" id="{D31FCFDE-0311-4DCF-AE63-3A592F0CBE51}"/>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Deterministic analysis prepares evidence before AI reasoning</a:t>
            </a:r>
          </a:p>
        </p:txBody>
      </p:sp>
      <p:sp>
        <p:nvSpPr>
          <p:cNvPr id="4" name="">
            <a:extLst xmlns:a="http://schemas.openxmlformats.org/drawingml/2006/main">
              <a:ext uri="{FF2B5EF4-FFF2-40B4-BE49-F238E27FC236}">
                <a16:creationId xmlns:a16="http://schemas.microsoft.com/office/drawing/2014/main" id="{C4FCBB0C-8A5F-427A-B862-77F2693EDEF8}"/>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9C2C5887-D131-4309-8875-C9E3419D3FF9}"/>
              </a:ext>
            </a:extLst>
          </p:cNvPr>
          <p:cNvSpPr>
            <a:spLocks xmlns:a="http://schemas.openxmlformats.org/drawingml/2006/main" noGrp="1"/>
          </p:cNvSpPr>
          <p:nvPr/>
        </p:nvSpPr>
        <p:spPr>
          <a:xfrm xmlns:a="http://schemas.openxmlformats.org/drawingml/2006/main">
            <a:off x="609600" y="2095500"/>
            <a:ext cx="2000250" cy="933450"/>
          </a:xfrm>
          <a:prstGeom xmlns:a="http://schemas.openxmlformats.org/drawingml/2006/main" prst="roundRect">
            <a:avLst>
              <a:gd name="adj" fmla="val 12245"/>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83FCF7B-BCF8-460E-8CDB-E12957E49398}"/>
              </a:ext>
            </a:extLst>
          </p:cNvPr>
          <p:cNvSpPr>
            <a:spLocks xmlns:a="http://schemas.openxmlformats.org/drawingml/2006/main" noGrp="1"/>
          </p:cNvSpPr>
          <p:nvPr/>
        </p:nvSpPr>
        <p:spPr>
          <a:xfrm xmlns:a="http://schemas.openxmlformats.org/drawingml/2006/main">
            <a:off x="762000" y="22860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01216"/>
                </a:solidFill>
              </a:defRPr>
            </a:pPr>
            <a:r>
              <a:rPr sz="1200" b="1">
                <a:solidFill>
                  <a:srgbClr val="101216"/>
                </a:solidFill>
              </a:rPr>
              <a:t>Reversals</a:t>
            </a:r>
          </a:p>
        </p:txBody>
      </p:sp>
      <p:sp>
        <p:nvSpPr>
          <p:cNvPr id="7" name="">
            <a:extLst xmlns:a="http://schemas.openxmlformats.org/drawingml/2006/main">
              <a:ext uri="{FF2B5EF4-FFF2-40B4-BE49-F238E27FC236}">
                <a16:creationId xmlns:a16="http://schemas.microsoft.com/office/drawing/2014/main" id="{28FDAE94-3571-4488-B256-802A8A027728}"/>
              </a:ext>
            </a:extLst>
          </p:cNvPr>
          <p:cNvSpPr>
            <a:spLocks xmlns:a="http://schemas.openxmlformats.org/drawingml/2006/main" noGrp="1"/>
          </p:cNvSpPr>
          <p:nvPr/>
        </p:nvSpPr>
        <p:spPr>
          <a:xfrm xmlns:a="http://schemas.openxmlformats.org/drawingml/2006/main">
            <a:off x="762000" y="2647950"/>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8D96A3"/>
                </a:solidFill>
              </a:defRPr>
            </a:pPr>
            <a:r>
              <a:rPr sz="900" b="0">
                <a:solidFill>
                  <a:srgbClr val="8D96A3"/>
                </a:solidFill>
              </a:rPr>
              <a:t>undo / redo</a:t>
            </a:r>
          </a:p>
        </p:txBody>
      </p:sp>
      <p:sp>
        <p:nvSpPr>
          <p:cNvPr id="8" name="">
            <a:extLst xmlns:a="http://schemas.openxmlformats.org/drawingml/2006/main">
              <a:ext uri="{FF2B5EF4-FFF2-40B4-BE49-F238E27FC236}">
                <a16:creationId xmlns:a16="http://schemas.microsoft.com/office/drawing/2014/main" id="{82B94FA9-0651-47FD-8FE7-B0C343CF8A4A}"/>
              </a:ext>
            </a:extLst>
          </p:cNvPr>
          <p:cNvSpPr>
            <a:spLocks xmlns:a="http://schemas.openxmlformats.org/drawingml/2006/main" noGrp="1"/>
          </p:cNvSpPr>
          <p:nvPr/>
        </p:nvSpPr>
        <p:spPr>
          <a:xfrm xmlns:a="http://schemas.openxmlformats.org/drawingml/2006/main">
            <a:off x="2800350" y="2095500"/>
            <a:ext cx="2000250" cy="933450"/>
          </a:xfrm>
          <a:prstGeom xmlns:a="http://schemas.openxmlformats.org/drawingml/2006/main" prst="roundRect">
            <a:avLst>
              <a:gd name="adj" fmla="val 12245"/>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81E4321-FB7D-4F5D-BA73-7148CD3BDDA5}"/>
              </a:ext>
            </a:extLst>
          </p:cNvPr>
          <p:cNvSpPr>
            <a:spLocks xmlns:a="http://schemas.openxmlformats.org/drawingml/2006/main" noGrp="1"/>
          </p:cNvSpPr>
          <p:nvPr/>
        </p:nvSpPr>
        <p:spPr>
          <a:xfrm xmlns:a="http://schemas.openxmlformats.org/drawingml/2006/main">
            <a:off x="2952750" y="22860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01216"/>
                </a:solidFill>
              </a:defRPr>
            </a:pPr>
            <a:r>
              <a:rPr sz="1200" b="1">
                <a:solidFill>
                  <a:srgbClr val="101216"/>
                </a:solidFill>
              </a:rPr>
              <a:t>Action timing</a:t>
            </a:r>
          </a:p>
        </p:txBody>
      </p:sp>
      <p:sp>
        <p:nvSpPr>
          <p:cNvPr id="10" name="">
            <a:extLst xmlns:a="http://schemas.openxmlformats.org/drawingml/2006/main">
              <a:ext uri="{FF2B5EF4-FFF2-40B4-BE49-F238E27FC236}">
                <a16:creationId xmlns:a16="http://schemas.microsoft.com/office/drawing/2014/main" id="{C594EE05-5847-4904-A190-9CCE8594EFE4}"/>
              </a:ext>
            </a:extLst>
          </p:cNvPr>
          <p:cNvSpPr>
            <a:spLocks xmlns:a="http://schemas.openxmlformats.org/drawingml/2006/main" noGrp="1"/>
          </p:cNvSpPr>
          <p:nvPr/>
        </p:nvSpPr>
        <p:spPr>
          <a:xfrm xmlns:a="http://schemas.openxmlformats.org/drawingml/2006/main">
            <a:off x="2952750" y="2647950"/>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8D96A3"/>
                </a:solidFill>
              </a:defRPr>
            </a:pPr>
            <a:r>
              <a:rPr sz="900" b="0">
                <a:solidFill>
                  <a:srgbClr val="8D96A3"/>
                </a:solidFill>
              </a:rPr>
              <a:t>fast / deliberate</a:t>
            </a:r>
          </a:p>
        </p:txBody>
      </p:sp>
      <p:sp>
        <p:nvSpPr>
          <p:cNvPr id="11" name="">
            <a:extLst xmlns:a="http://schemas.openxmlformats.org/drawingml/2006/main">
              <a:ext uri="{FF2B5EF4-FFF2-40B4-BE49-F238E27FC236}">
                <a16:creationId xmlns:a16="http://schemas.microsoft.com/office/drawing/2014/main" id="{131B2AFF-0F4B-4A6D-A64A-173C6FF912A6}"/>
              </a:ext>
            </a:extLst>
          </p:cNvPr>
          <p:cNvSpPr>
            <a:spLocks xmlns:a="http://schemas.openxmlformats.org/drawingml/2006/main" noGrp="1"/>
          </p:cNvSpPr>
          <p:nvPr/>
        </p:nvSpPr>
        <p:spPr>
          <a:xfrm xmlns:a="http://schemas.openxmlformats.org/drawingml/2006/main">
            <a:off x="4991100" y="2095500"/>
            <a:ext cx="2000250" cy="933450"/>
          </a:xfrm>
          <a:prstGeom xmlns:a="http://schemas.openxmlformats.org/drawingml/2006/main" prst="roundRect">
            <a:avLst>
              <a:gd name="adj" fmla="val 12245"/>
            </a:avLst>
          </a:prstGeom>
          <a:solidFill xmlns:a="http://schemas.openxmlformats.org/drawingml/2006/main">
            <a:srgbClr val="F3F5F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25824D8-FA92-40C3-8489-9CEEF2436FD0}"/>
              </a:ext>
            </a:extLst>
          </p:cNvPr>
          <p:cNvSpPr>
            <a:spLocks xmlns:a="http://schemas.openxmlformats.org/drawingml/2006/main" noGrp="1"/>
          </p:cNvSpPr>
          <p:nvPr/>
        </p:nvSpPr>
        <p:spPr>
          <a:xfrm xmlns:a="http://schemas.openxmlformats.org/drawingml/2006/main">
            <a:off x="5143500" y="22860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01216"/>
                </a:solidFill>
              </a:defRPr>
            </a:pPr>
            <a:r>
              <a:rPr sz="1200" b="1">
                <a:solidFill>
                  <a:srgbClr val="101216"/>
                </a:solidFill>
              </a:rPr>
              <a:t>Comparison pattern</a:t>
            </a:r>
          </a:p>
        </p:txBody>
      </p:sp>
      <p:sp>
        <p:nvSpPr>
          <p:cNvPr id="13" name="">
            <a:extLst xmlns:a="http://schemas.openxmlformats.org/drawingml/2006/main">
              <a:ext uri="{FF2B5EF4-FFF2-40B4-BE49-F238E27FC236}">
                <a16:creationId xmlns:a16="http://schemas.microsoft.com/office/drawing/2014/main" id="{7AFE0B60-2690-4CCA-AA2D-A08C13C894BC}"/>
              </a:ext>
            </a:extLst>
          </p:cNvPr>
          <p:cNvSpPr>
            <a:spLocks xmlns:a="http://schemas.openxmlformats.org/drawingml/2006/main" noGrp="1"/>
          </p:cNvSpPr>
          <p:nvPr/>
        </p:nvSpPr>
        <p:spPr>
          <a:xfrm xmlns:a="http://schemas.openxmlformats.org/drawingml/2006/main">
            <a:off x="5143500" y="2647950"/>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8D96A3"/>
                </a:solidFill>
              </a:defRPr>
            </a:pPr>
            <a:r>
              <a:rPr sz="900" b="0">
                <a:solidFill>
                  <a:srgbClr val="8D96A3"/>
                </a:solidFill>
              </a:rPr>
              <a:t>what was contrasted</a:t>
            </a:r>
          </a:p>
        </p:txBody>
      </p:sp>
      <p:sp>
        <p:nvSpPr>
          <p:cNvPr id="14" name="">
            <a:extLst xmlns:a="http://schemas.openxmlformats.org/drawingml/2006/main">
              <a:ext uri="{FF2B5EF4-FFF2-40B4-BE49-F238E27FC236}">
                <a16:creationId xmlns:a16="http://schemas.microsoft.com/office/drawing/2014/main" id="{67D01073-B7D2-4A76-87DB-D235FB0E0E31}"/>
              </a:ext>
            </a:extLst>
          </p:cNvPr>
          <p:cNvSpPr>
            <a:spLocks xmlns:a="http://schemas.openxmlformats.org/drawingml/2006/main" noGrp="1"/>
          </p:cNvSpPr>
          <p:nvPr/>
        </p:nvSpPr>
        <p:spPr>
          <a:xfrm xmlns:a="http://schemas.openxmlformats.org/drawingml/2006/main">
            <a:off x="7181850" y="2095500"/>
            <a:ext cx="2000250" cy="933450"/>
          </a:xfrm>
          <a:prstGeom xmlns:a="http://schemas.openxmlformats.org/drawingml/2006/main" prst="roundRect">
            <a:avLst>
              <a:gd name="adj" fmla="val 12245"/>
            </a:avLst>
          </a:prstGeom>
          <a:solidFill xmlns:a="http://schemas.openxmlformats.org/drawingml/2006/main">
            <a:srgbClr val="F3F5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707437A-5B96-4EF1-B5DB-6700B9379BDB}"/>
              </a:ext>
            </a:extLst>
          </p:cNvPr>
          <p:cNvSpPr>
            <a:spLocks xmlns:a="http://schemas.openxmlformats.org/drawingml/2006/main" noGrp="1"/>
          </p:cNvSpPr>
          <p:nvPr/>
        </p:nvSpPr>
        <p:spPr>
          <a:xfrm xmlns:a="http://schemas.openxmlformats.org/drawingml/2006/main">
            <a:off x="7334250" y="22860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01216"/>
                </a:solidFill>
              </a:defRPr>
            </a:pPr>
            <a:r>
              <a:rPr sz="1200" b="1">
                <a:solidFill>
                  <a:srgbClr val="101216"/>
                </a:solidFill>
              </a:rPr>
              <a:t>Value ranking</a:t>
            </a:r>
          </a:p>
        </p:txBody>
      </p:sp>
      <p:sp>
        <p:nvSpPr>
          <p:cNvPr id="16" name="">
            <a:extLst xmlns:a="http://schemas.openxmlformats.org/drawingml/2006/main">
              <a:ext uri="{FF2B5EF4-FFF2-40B4-BE49-F238E27FC236}">
                <a16:creationId xmlns:a16="http://schemas.microsoft.com/office/drawing/2014/main" id="{335530D3-A4F6-4733-A0AB-9F037F83A67B}"/>
              </a:ext>
            </a:extLst>
          </p:cNvPr>
          <p:cNvSpPr>
            <a:spLocks xmlns:a="http://schemas.openxmlformats.org/drawingml/2006/main" noGrp="1"/>
          </p:cNvSpPr>
          <p:nvPr/>
        </p:nvSpPr>
        <p:spPr>
          <a:xfrm xmlns:a="http://schemas.openxmlformats.org/drawingml/2006/main">
            <a:off x="7334250" y="2647950"/>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8D96A3"/>
                </a:solidFill>
              </a:defRPr>
            </a:pPr>
            <a:r>
              <a:rPr sz="900" b="0">
                <a:solidFill>
                  <a:srgbClr val="8D96A3"/>
                </a:solidFill>
              </a:rPr>
              <a:t>where entities rank</a:t>
            </a:r>
          </a:p>
        </p:txBody>
      </p:sp>
      <p:sp>
        <p:nvSpPr>
          <p:cNvPr id="17" name="">
            <a:extLst xmlns:a="http://schemas.openxmlformats.org/drawingml/2006/main">
              <a:ext uri="{FF2B5EF4-FFF2-40B4-BE49-F238E27FC236}">
                <a16:creationId xmlns:a16="http://schemas.microsoft.com/office/drawing/2014/main" id="{232CD3A1-7585-44F2-B768-8A76A323CB8A}"/>
              </a:ext>
            </a:extLst>
          </p:cNvPr>
          <p:cNvSpPr>
            <a:spLocks xmlns:a="http://schemas.openxmlformats.org/drawingml/2006/main" noGrp="1"/>
          </p:cNvSpPr>
          <p:nvPr/>
        </p:nvSpPr>
        <p:spPr>
          <a:xfrm xmlns:a="http://schemas.openxmlformats.org/drawingml/2006/main">
            <a:off x="9372600" y="2095500"/>
            <a:ext cx="2000250" cy="933450"/>
          </a:xfrm>
          <a:prstGeom xmlns:a="http://schemas.openxmlformats.org/drawingml/2006/main" prst="roundRect">
            <a:avLst>
              <a:gd name="adj" fmla="val 12245"/>
            </a:avLst>
          </a:prstGeom>
          <a:solidFill xmlns:a="http://schemas.openxmlformats.org/drawingml/2006/main">
            <a:srgbClr val="F3F5F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17BE8E6-64F6-485D-805A-C07F81A626CA}"/>
              </a:ext>
            </a:extLst>
          </p:cNvPr>
          <p:cNvSpPr>
            <a:spLocks xmlns:a="http://schemas.openxmlformats.org/drawingml/2006/main" noGrp="1"/>
          </p:cNvSpPr>
          <p:nvPr/>
        </p:nvSpPr>
        <p:spPr>
          <a:xfrm xmlns:a="http://schemas.openxmlformats.org/drawingml/2006/main">
            <a:off x="9525000" y="22860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01216"/>
                </a:solidFill>
              </a:defRPr>
            </a:pPr>
            <a:r>
              <a:rPr sz="1200" b="1">
                <a:solidFill>
                  <a:srgbClr val="101216"/>
                </a:solidFill>
              </a:rPr>
              <a:t>Cross-signal checks</a:t>
            </a:r>
          </a:p>
        </p:txBody>
      </p:sp>
      <p:sp>
        <p:nvSpPr>
          <p:cNvPr id="19" name="">
            <a:extLst xmlns:a="http://schemas.openxmlformats.org/drawingml/2006/main">
              <a:ext uri="{FF2B5EF4-FFF2-40B4-BE49-F238E27FC236}">
                <a16:creationId xmlns:a16="http://schemas.microsoft.com/office/drawing/2014/main" id="{9E437F04-B2AB-484B-AC52-57D230A3BA6D}"/>
              </a:ext>
            </a:extLst>
          </p:cNvPr>
          <p:cNvSpPr>
            <a:spLocks xmlns:a="http://schemas.openxmlformats.org/drawingml/2006/main" noGrp="1"/>
          </p:cNvSpPr>
          <p:nvPr/>
        </p:nvSpPr>
        <p:spPr>
          <a:xfrm xmlns:a="http://schemas.openxmlformats.org/drawingml/2006/main">
            <a:off x="9525000" y="2647950"/>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8D96A3"/>
                </a:solidFill>
              </a:defRPr>
            </a:pPr>
            <a:r>
              <a:rPr sz="900" b="0">
                <a:solidFill>
                  <a:srgbClr val="8D96A3"/>
                </a:solidFill>
              </a:rPr>
              <a:t>which explanation survives</a:t>
            </a:r>
          </a:p>
        </p:txBody>
      </p:sp>
      <p:sp>
        <p:nvSpPr>
          <p:cNvPr id="20" name="">
            <a:extLst xmlns:a="http://schemas.openxmlformats.org/drawingml/2006/main">
              <a:ext uri="{FF2B5EF4-FFF2-40B4-BE49-F238E27FC236}">
                <a16:creationId xmlns:a16="http://schemas.microsoft.com/office/drawing/2014/main" id="{CB0BC7D2-3BAD-4AB2-A13B-8D3E8E1FD04A}"/>
              </a:ext>
            </a:extLst>
          </p:cNvPr>
          <p:cNvSpPr>
            <a:spLocks xmlns:a="http://schemas.openxmlformats.org/drawingml/2006/main" noGrp="1"/>
          </p:cNvSpPr>
          <p:nvPr/>
        </p:nvSpPr>
        <p:spPr>
          <a:xfrm xmlns:a="http://schemas.openxmlformats.org/drawingml/2006/main">
            <a:off x="2343150" y="3476625"/>
            <a:ext cx="7239000" cy="228600"/>
          </a:xfrm>
          <a:prstGeom xmlns:a="http://schemas.openxmlformats.org/drawingml/2006/main" prst="rightArrow">
            <a:avLst/>
          </a:prstGeom>
          <a:solidFill xmlns:a="http://schemas.openxmlformats.org/drawingml/2006/main">
            <a:srgbClr val="3D8D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51FCBF7-10F0-4B08-A4D4-DF6FD23D875A}"/>
              </a:ext>
            </a:extLst>
          </p:cNvPr>
          <p:cNvSpPr>
            <a:spLocks xmlns:a="http://schemas.openxmlformats.org/drawingml/2006/main" noGrp="1"/>
          </p:cNvSpPr>
          <p:nvPr/>
        </p:nvSpPr>
        <p:spPr>
          <a:xfrm xmlns:a="http://schemas.openxmlformats.org/drawingml/2006/main">
            <a:off x="2619375" y="4000500"/>
            <a:ext cx="6953250" cy="1162050"/>
          </a:xfrm>
          <a:prstGeom xmlns:a="http://schemas.openxmlformats.org/drawingml/2006/main" prst="roundRect">
            <a:avLst>
              <a:gd name="adj" fmla="val 9836"/>
            </a:avLst>
          </a:prstGeom>
          <a:solidFill xmlns:a="http://schemas.openxmlformats.org/drawingml/2006/main">
            <a:srgbClr val="EAF6F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988C225-2BCC-401A-A825-C60A306C7D7D}"/>
              </a:ext>
            </a:extLst>
          </p:cNvPr>
          <p:cNvSpPr>
            <a:spLocks xmlns:a="http://schemas.openxmlformats.org/drawingml/2006/main" noGrp="1"/>
          </p:cNvSpPr>
          <p:nvPr/>
        </p:nvSpPr>
        <p:spPr>
          <a:xfrm xmlns:a="http://schemas.openxmlformats.org/drawingml/2006/main">
            <a:off x="2905125" y="4171950"/>
            <a:ext cx="638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3D8DFF"/>
                </a:solidFill>
              </a:defRPr>
            </a:pPr>
            <a:r>
              <a:rPr sz="900" b="1">
                <a:solidFill>
                  <a:srgbClr val="3D8DFF"/>
                </a:solidFill>
              </a:rPr>
              <a:t>STRUCTURED EVIDENCE PACKET</a:t>
            </a:r>
          </a:p>
        </p:txBody>
      </p:sp>
      <p:sp>
        <p:nvSpPr>
          <p:cNvPr id="23" name="">
            <a:extLst xmlns:a="http://schemas.openxmlformats.org/drawingml/2006/main">
              <a:ext uri="{FF2B5EF4-FFF2-40B4-BE49-F238E27FC236}">
                <a16:creationId xmlns:a16="http://schemas.microsoft.com/office/drawing/2014/main" id="{8AC83B32-558C-4641-BF61-62BBE5C86D1C}"/>
              </a:ext>
            </a:extLst>
          </p:cNvPr>
          <p:cNvSpPr>
            <a:spLocks xmlns:a="http://schemas.openxmlformats.org/drawingml/2006/main" noGrp="1"/>
          </p:cNvSpPr>
          <p:nvPr/>
        </p:nvSpPr>
        <p:spPr>
          <a:xfrm xmlns:a="http://schemas.openxmlformats.org/drawingml/2006/main">
            <a:off x="2905125" y="4524375"/>
            <a:ext cx="638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1216"/>
                </a:solidFill>
              </a:defRPr>
            </a:pPr>
            <a:r>
              <a:rPr sz="1650" b="1">
                <a:solidFill>
                  <a:srgbClr val="101216"/>
                </a:solidFill>
              </a:rPr>
              <a:t>The AI receives computed facts and relationships—not just a raw event stream.</a:t>
            </a:r>
          </a:p>
        </p:txBody>
      </p:sp>
      <p:sp>
        <p:nvSpPr>
          <p:cNvPr id="24" name="">
            <a:extLst xmlns:a="http://schemas.openxmlformats.org/drawingml/2006/main">
              <a:ext uri="{FF2B5EF4-FFF2-40B4-BE49-F238E27FC236}">
                <a16:creationId xmlns:a16="http://schemas.microsoft.com/office/drawing/2014/main" id="{73AE8570-5C38-4900-8C02-9C6A82250236}"/>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25" name="">
            <a:extLst xmlns:a="http://schemas.openxmlformats.org/drawingml/2006/main">
              <a:ext uri="{FF2B5EF4-FFF2-40B4-BE49-F238E27FC236}">
                <a16:creationId xmlns:a16="http://schemas.microsoft.com/office/drawing/2014/main" id="{82C00AA9-84B3-40DD-BD7B-10470F5B6345}"/>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5</a:t>
            </a:r>
          </a:p>
        </p:txBody>
      </p:sp>
    </p:spTree>
    <p:extLst>
      <p:ext uri="{BB962C8B-B14F-4D97-AF65-F5344CB8AC3E}">
        <p14:creationId xmlns:p14="http://schemas.microsoft.com/office/powerpoint/2010/main" val="4471892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79D8F24-53D9-4F46-BDBD-FCB1E2BEE9CF}"/>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06</a:t>
            </a:r>
          </a:p>
        </p:txBody>
      </p:sp>
      <p:sp>
        <p:nvSpPr>
          <p:cNvPr id="2" name="">
            <a:extLst xmlns:a="http://schemas.openxmlformats.org/drawingml/2006/main">
              <a:ext uri="{FF2B5EF4-FFF2-40B4-BE49-F238E27FC236}">
                <a16:creationId xmlns:a16="http://schemas.microsoft.com/office/drawing/2014/main" id="{BC74DAEF-DBFA-4746-B070-67DE5DFCE5A6}"/>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REASONING</a:t>
            </a:r>
          </a:p>
        </p:txBody>
      </p:sp>
      <p:sp>
        <p:nvSpPr>
          <p:cNvPr id="3" name="">
            <a:extLst xmlns:a="http://schemas.openxmlformats.org/drawingml/2006/main">
              <a:ext uri="{FF2B5EF4-FFF2-40B4-BE49-F238E27FC236}">
                <a16:creationId xmlns:a16="http://schemas.microsoft.com/office/drawing/2014/main" id="{91E704C2-8F37-47BF-85CD-BF73BF2D2C73}"/>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The agent evaluates competing explanations</a:t>
            </a:r>
          </a:p>
        </p:txBody>
      </p:sp>
      <p:sp>
        <p:nvSpPr>
          <p:cNvPr id="4" name="">
            <a:extLst xmlns:a="http://schemas.openxmlformats.org/drawingml/2006/main">
              <a:ext uri="{FF2B5EF4-FFF2-40B4-BE49-F238E27FC236}">
                <a16:creationId xmlns:a16="http://schemas.microsoft.com/office/drawing/2014/main" id="{D5ECD0DE-53BF-48A0-9A01-44319710BCA2}"/>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D9A547DF-F95E-48CD-9FC9-F62099D45249}"/>
              </a:ext>
            </a:extLst>
          </p:cNvPr>
          <p:cNvSpPr>
            <a:spLocks xmlns:a="http://schemas.openxmlformats.org/drawingml/2006/main" noGrp="1"/>
          </p:cNvSpPr>
          <p:nvPr/>
        </p:nvSpPr>
        <p:spPr>
          <a:xfrm xmlns:a="http://schemas.openxmlformats.org/drawingml/2006/main">
            <a:off x="609600" y="2038350"/>
            <a:ext cx="3333750" cy="31432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BE15A7F-63FE-4A9B-9F88-E1A9CD1D2C77}"/>
              </a:ext>
            </a:extLst>
          </p:cNvPr>
          <p:cNvSpPr>
            <a:spLocks xmlns:a="http://schemas.openxmlformats.org/drawingml/2006/main" noGrp="1"/>
          </p:cNvSpPr>
          <p:nvPr/>
        </p:nvSpPr>
        <p:spPr>
          <a:xfrm xmlns:a="http://schemas.openxmlformats.org/drawingml/2006/main">
            <a:off x="609600" y="2038350"/>
            <a:ext cx="57150" cy="3143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D51CB40-F5FD-42BD-909F-2C905B8404AD}"/>
              </a:ext>
            </a:extLst>
          </p:cNvPr>
          <p:cNvSpPr>
            <a:spLocks xmlns:a="http://schemas.openxmlformats.org/drawingml/2006/main" noGrp="1"/>
          </p:cNvSpPr>
          <p:nvPr/>
        </p:nvSpPr>
        <p:spPr>
          <a:xfrm xmlns:a="http://schemas.openxmlformats.org/drawingml/2006/main">
            <a:off x="838200" y="22098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1  Generate hypotheses</a:t>
            </a:r>
          </a:p>
        </p:txBody>
      </p:sp>
      <p:sp>
        <p:nvSpPr>
          <p:cNvPr id="8" name="">
            <a:extLst xmlns:a="http://schemas.openxmlformats.org/drawingml/2006/main">
              <a:ext uri="{FF2B5EF4-FFF2-40B4-BE49-F238E27FC236}">
                <a16:creationId xmlns:a16="http://schemas.microsoft.com/office/drawing/2014/main" id="{609D8F6A-4FCB-48CB-BF01-6369CD86AD77}"/>
              </a:ext>
            </a:extLst>
          </p:cNvPr>
          <p:cNvSpPr>
            <a:spLocks xmlns:a="http://schemas.openxmlformats.org/drawingml/2006/main" noGrp="1"/>
          </p:cNvSpPr>
          <p:nvPr/>
        </p:nvSpPr>
        <p:spPr>
          <a:xfrm xmlns:a="http://schemas.openxmlformats.org/drawingml/2006/main">
            <a:off x="838200" y="2590800"/>
            <a:ext cx="293370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F6875"/>
                </a:solidFill>
              </a:defRPr>
            </a:pPr>
            <a:r>
              <a:rPr sz="1125" b="0">
                <a:solidFill>
                  <a:srgbClr val="5F6875"/>
                </a:solidFill>
              </a:rPr>
              <a:t>Examples:</a:t>
            </a:r>
          </a:p>
          <a:p xmlns:a="http://schemas.openxmlformats.org/drawingml/2006/main">
            <a:pPr algn="l">
              <a:defRPr sz="1125" b="0">
                <a:solidFill>
                  <a:srgbClr val="5F6875"/>
                </a:solidFill>
              </a:defRPr>
            </a:pPr>
            <a:r>
              <a:rPr sz="1125" b="0">
                <a:solidFill>
                  <a:srgbClr val="5F6875"/>
                </a:solidFill>
              </a:rPr>
              <a:t>• prefers graph view</a:t>
            </a:r>
          </a:p>
          <a:p xmlns:a="http://schemas.openxmlformats.org/drawingml/2006/main">
            <a:pPr algn="l">
              <a:defRPr sz="1125" b="0">
                <a:solidFill>
                  <a:srgbClr val="5F6875"/>
                </a:solidFill>
              </a:defRPr>
            </a:pPr>
            <a:r>
              <a:rPr sz="1125" b="0">
                <a:solidFill>
                  <a:srgbClr val="5F6875"/>
                </a:solidFill>
              </a:rPr>
              <a:t>• expands for detail</a:t>
            </a:r>
          </a:p>
          <a:p xmlns:a="http://schemas.openxmlformats.org/drawingml/2006/main">
            <a:pPr algn="l">
              <a:defRPr sz="1125" b="0">
                <a:solidFill>
                  <a:srgbClr val="5F6875"/>
                </a:solidFill>
              </a:defRPr>
            </a:pPr>
            <a:r>
              <a:rPr sz="1125" b="0">
                <a:solidFill>
                  <a:srgbClr val="5F6875"/>
                </a:solidFill>
              </a:rPr>
              <a:t>• focuses on highest-value options</a:t>
            </a:r>
          </a:p>
          <a:p xmlns:a="http://schemas.openxmlformats.org/drawingml/2006/main">
            <a:pPr algn="l">
              <a:defRPr sz="1125" b="0">
                <a:solidFill>
                  <a:srgbClr val="5F6875"/>
                </a:solidFill>
              </a:defRPr>
            </a:pPr>
            <a:r>
              <a:rPr sz="1125" b="0">
                <a:solidFill>
                  <a:srgbClr val="5F6875"/>
                </a:solidFill>
              </a:rPr>
              <a:t>• is correcting an accidental action</a:t>
            </a:r>
          </a:p>
        </p:txBody>
      </p:sp>
      <p:sp>
        <p:nvSpPr>
          <p:cNvPr id="9" name="">
            <a:extLst xmlns:a="http://schemas.openxmlformats.org/drawingml/2006/main">
              <a:ext uri="{FF2B5EF4-FFF2-40B4-BE49-F238E27FC236}">
                <a16:creationId xmlns:a16="http://schemas.microsoft.com/office/drawing/2014/main" id="{9236CF05-87F8-4D59-A20F-4FFBECBED5B2}"/>
              </a:ext>
            </a:extLst>
          </p:cNvPr>
          <p:cNvSpPr>
            <a:spLocks xmlns:a="http://schemas.openxmlformats.org/drawingml/2006/main" noGrp="1"/>
          </p:cNvSpPr>
          <p:nvPr/>
        </p:nvSpPr>
        <p:spPr>
          <a:xfrm xmlns:a="http://schemas.openxmlformats.org/drawingml/2006/main">
            <a:off x="4429125" y="2038350"/>
            <a:ext cx="3333750" cy="31432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D97C27E-06F1-431C-ADC2-1344C9BBE65B}"/>
              </a:ext>
            </a:extLst>
          </p:cNvPr>
          <p:cNvSpPr>
            <a:spLocks xmlns:a="http://schemas.openxmlformats.org/drawingml/2006/main" noGrp="1"/>
          </p:cNvSpPr>
          <p:nvPr/>
        </p:nvSpPr>
        <p:spPr>
          <a:xfrm xmlns:a="http://schemas.openxmlformats.org/drawingml/2006/main">
            <a:off x="4429125" y="2038350"/>
            <a:ext cx="57150" cy="31432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464C5D-29BA-4211-B4E6-0081FBDC2527}"/>
              </a:ext>
            </a:extLst>
          </p:cNvPr>
          <p:cNvSpPr>
            <a:spLocks xmlns:a="http://schemas.openxmlformats.org/drawingml/2006/main" noGrp="1"/>
          </p:cNvSpPr>
          <p:nvPr/>
        </p:nvSpPr>
        <p:spPr>
          <a:xfrm xmlns:a="http://schemas.openxmlformats.org/drawingml/2006/main">
            <a:off x="4657725" y="22098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2  Weigh evidence</a:t>
            </a:r>
          </a:p>
        </p:txBody>
      </p:sp>
      <p:sp>
        <p:nvSpPr>
          <p:cNvPr id="12" name="">
            <a:extLst xmlns:a="http://schemas.openxmlformats.org/drawingml/2006/main">
              <a:ext uri="{FF2B5EF4-FFF2-40B4-BE49-F238E27FC236}">
                <a16:creationId xmlns:a16="http://schemas.microsoft.com/office/drawing/2014/main" id="{78EB7C95-8A7B-4278-85AF-E441E0A25940}"/>
              </a:ext>
            </a:extLst>
          </p:cNvPr>
          <p:cNvSpPr>
            <a:spLocks xmlns:a="http://schemas.openxmlformats.org/drawingml/2006/main" noGrp="1"/>
          </p:cNvSpPr>
          <p:nvPr/>
        </p:nvSpPr>
        <p:spPr>
          <a:xfrm xmlns:a="http://schemas.openxmlformats.org/drawingml/2006/main">
            <a:off x="4657725" y="2590800"/>
            <a:ext cx="293370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F6875"/>
                </a:solidFill>
              </a:defRPr>
            </a:pPr>
            <a:r>
              <a:rPr sz="1125" b="0">
                <a:solidFill>
                  <a:srgbClr val="5F6875"/>
                </a:solidFill>
              </a:rPr>
              <a:t>Does the explanation fit the action sequence, timing, visible alternatives, current beliefs, and prior episodes?</a:t>
            </a:r>
          </a:p>
        </p:txBody>
      </p:sp>
      <p:sp>
        <p:nvSpPr>
          <p:cNvPr id="13" name="">
            <a:extLst xmlns:a="http://schemas.openxmlformats.org/drawingml/2006/main">
              <a:ext uri="{FF2B5EF4-FFF2-40B4-BE49-F238E27FC236}">
                <a16:creationId xmlns:a16="http://schemas.microsoft.com/office/drawing/2014/main" id="{648856AE-923F-4C27-912B-E437123C3824}"/>
              </a:ext>
            </a:extLst>
          </p:cNvPr>
          <p:cNvSpPr>
            <a:spLocks xmlns:a="http://schemas.openxmlformats.org/drawingml/2006/main" noGrp="1"/>
          </p:cNvSpPr>
          <p:nvPr/>
        </p:nvSpPr>
        <p:spPr>
          <a:xfrm xmlns:a="http://schemas.openxmlformats.org/drawingml/2006/main">
            <a:off x="8248650" y="2038350"/>
            <a:ext cx="3333750" cy="31432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CB7B5A-F14F-48BC-8498-0D08A5C7E307}"/>
              </a:ext>
            </a:extLst>
          </p:cNvPr>
          <p:cNvSpPr>
            <a:spLocks xmlns:a="http://schemas.openxmlformats.org/drawingml/2006/main" noGrp="1"/>
          </p:cNvSpPr>
          <p:nvPr/>
        </p:nvSpPr>
        <p:spPr>
          <a:xfrm xmlns:a="http://schemas.openxmlformats.org/drawingml/2006/main">
            <a:off x="8248650" y="2038350"/>
            <a:ext cx="57150" cy="3143250"/>
          </a:xfrm>
          <a:prstGeom xmlns:a="http://schemas.openxmlformats.org/drawingml/2006/main" prst="rect">
            <a:avLst/>
          </a:prstGeom>
          <a:solidFill xmlns:a="http://schemas.openxmlformats.org/drawingml/2006/main">
            <a:srgbClr val="38A16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7EC5FAC-A9B3-4AF9-8A07-66588D772769}"/>
              </a:ext>
            </a:extLst>
          </p:cNvPr>
          <p:cNvSpPr>
            <a:spLocks xmlns:a="http://schemas.openxmlformats.org/drawingml/2006/main" noGrp="1"/>
          </p:cNvSpPr>
          <p:nvPr/>
        </p:nvSpPr>
        <p:spPr>
          <a:xfrm xmlns:a="http://schemas.openxmlformats.org/drawingml/2006/main">
            <a:off x="8477250" y="22098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3  Update cautiously</a:t>
            </a:r>
          </a:p>
        </p:txBody>
      </p:sp>
      <p:sp>
        <p:nvSpPr>
          <p:cNvPr id="16" name="">
            <a:extLst xmlns:a="http://schemas.openxmlformats.org/drawingml/2006/main">
              <a:ext uri="{FF2B5EF4-FFF2-40B4-BE49-F238E27FC236}">
                <a16:creationId xmlns:a16="http://schemas.microsoft.com/office/drawing/2014/main" id="{E1D24B0D-0DDD-43D7-9B38-2B829C9707A1}"/>
              </a:ext>
            </a:extLst>
          </p:cNvPr>
          <p:cNvSpPr>
            <a:spLocks xmlns:a="http://schemas.openxmlformats.org/drawingml/2006/main" noGrp="1"/>
          </p:cNvSpPr>
          <p:nvPr/>
        </p:nvSpPr>
        <p:spPr>
          <a:xfrm xmlns:a="http://schemas.openxmlformats.org/drawingml/2006/main">
            <a:off x="8477250" y="2590800"/>
            <a:ext cx="293370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F6875"/>
                </a:solidFill>
              </a:defRPr>
            </a:pPr>
            <a:r>
              <a:rPr sz="1125" b="0">
                <a:solidFill>
                  <a:srgbClr val="5F6875"/>
                </a:solidFill>
              </a:rPr>
              <a:t>Strengthen, weaken, revise, or leave the belief unchanged. Record what supports it and what would disprove it.</a:t>
            </a:r>
          </a:p>
        </p:txBody>
      </p:sp>
      <p:sp>
        <p:nvSpPr>
          <p:cNvPr id="17" name="">
            <a:extLst xmlns:a="http://schemas.openxmlformats.org/drawingml/2006/main">
              <a:ext uri="{FF2B5EF4-FFF2-40B4-BE49-F238E27FC236}">
                <a16:creationId xmlns:a16="http://schemas.microsoft.com/office/drawing/2014/main" id="{987E08C1-D266-4A0F-B818-27B74963D0EC}"/>
              </a:ext>
            </a:extLst>
          </p:cNvPr>
          <p:cNvSpPr>
            <a:spLocks xmlns:a="http://schemas.openxmlformats.org/drawingml/2006/main" noGrp="1"/>
          </p:cNvSpPr>
          <p:nvPr/>
        </p:nvSpPr>
        <p:spPr>
          <a:xfrm xmlns:a="http://schemas.openxmlformats.org/drawingml/2006/main">
            <a:off x="1809750" y="54959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01216"/>
                </a:solidFill>
              </a:defRPr>
            </a:pPr>
            <a:r>
              <a:rPr sz="1725" b="1">
                <a:solidFill>
                  <a:srgbClr val="101216"/>
                </a:solidFill>
              </a:rPr>
              <a:t>The output is a revisable explanation—not a declaration of user intent.</a:t>
            </a:r>
          </a:p>
        </p:txBody>
      </p:sp>
      <p:sp>
        <p:nvSpPr>
          <p:cNvPr id="18" name="">
            <a:extLst xmlns:a="http://schemas.openxmlformats.org/drawingml/2006/main">
              <a:ext uri="{FF2B5EF4-FFF2-40B4-BE49-F238E27FC236}">
                <a16:creationId xmlns:a16="http://schemas.microsoft.com/office/drawing/2014/main" id="{DA12B770-F3B4-4A55-B23D-D13808D3EC16}"/>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19" name="">
            <a:extLst xmlns:a="http://schemas.openxmlformats.org/drawingml/2006/main">
              <a:ext uri="{FF2B5EF4-FFF2-40B4-BE49-F238E27FC236}">
                <a16:creationId xmlns:a16="http://schemas.microsoft.com/office/drawing/2014/main" id="{C4703CEA-80B0-4D93-A250-97EDEAB337EF}"/>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6</a:t>
            </a:r>
          </a:p>
        </p:txBody>
      </p:sp>
    </p:spTree>
    <p:extLst>
      <p:ext uri="{BB962C8B-B14F-4D97-AF65-F5344CB8AC3E}">
        <p14:creationId xmlns:p14="http://schemas.microsoft.com/office/powerpoint/2010/main" val="12472045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00F42E5-246A-440F-92A3-944FEA319CD6}"/>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07</a:t>
            </a:r>
          </a:p>
        </p:txBody>
      </p:sp>
      <p:sp>
        <p:nvSpPr>
          <p:cNvPr id="2" name="">
            <a:extLst xmlns:a="http://schemas.openxmlformats.org/drawingml/2006/main">
              <a:ext uri="{FF2B5EF4-FFF2-40B4-BE49-F238E27FC236}">
                <a16:creationId xmlns:a16="http://schemas.microsoft.com/office/drawing/2014/main" id="{5D8F55A8-2633-4993-9714-A57DB75045F0}"/>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DATA-AWARE LEARNING</a:t>
            </a:r>
          </a:p>
        </p:txBody>
      </p:sp>
      <p:sp>
        <p:nvSpPr>
          <p:cNvPr id="3" name="">
            <a:extLst xmlns:a="http://schemas.openxmlformats.org/drawingml/2006/main">
              <a:ext uri="{FF2B5EF4-FFF2-40B4-BE49-F238E27FC236}">
                <a16:creationId xmlns:a16="http://schemas.microsoft.com/office/drawing/2014/main" id="{B0C4E178-97EF-4877-8982-1609682C6A17}"/>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Business values reveal what may be driving behavior</a:t>
            </a:r>
          </a:p>
        </p:txBody>
      </p:sp>
      <p:sp>
        <p:nvSpPr>
          <p:cNvPr id="4" name="">
            <a:extLst xmlns:a="http://schemas.openxmlformats.org/drawingml/2006/main">
              <a:ext uri="{FF2B5EF4-FFF2-40B4-BE49-F238E27FC236}">
                <a16:creationId xmlns:a16="http://schemas.microsoft.com/office/drawing/2014/main" id="{89A43BB3-4DC2-4942-AE3D-D147B0DB7E8B}"/>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6368A757-5095-4955-A1D9-64EAA6F594E4}"/>
              </a:ext>
            </a:extLst>
          </p:cNvPr>
          <p:cNvSpPr>
            <a:spLocks xmlns:a="http://schemas.openxmlformats.org/drawingml/2006/main" noGrp="1"/>
          </p:cNvSpPr>
          <p:nvPr/>
        </p:nvSpPr>
        <p:spPr>
          <a:xfrm xmlns:a="http://schemas.openxmlformats.org/drawingml/2006/main">
            <a:off x="609600" y="1943100"/>
            <a:ext cx="1143000" cy="285750"/>
          </a:xfrm>
          <a:prstGeom xmlns:a="http://schemas.openxmlformats.org/drawingml/2006/main" prst="roundRect">
            <a:avLst>
              <a:gd name="adj" fmla="val 40000"/>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DDC1F52-82E2-42B0-9E50-EF414226F8BF}"/>
              </a:ext>
            </a:extLst>
          </p:cNvPr>
          <p:cNvSpPr>
            <a:spLocks xmlns:a="http://schemas.openxmlformats.org/drawingml/2006/main" noGrp="1"/>
          </p:cNvSpPr>
          <p:nvPr/>
        </p:nvSpPr>
        <p:spPr>
          <a:xfrm xmlns:a="http://schemas.openxmlformats.org/drawingml/2006/main">
            <a:off x="704850" y="19431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8D96A3"/>
                </a:solidFill>
              </a:defRPr>
            </a:pPr>
            <a:r>
              <a:rPr sz="900" b="1">
                <a:solidFill>
                  <a:srgbClr val="8D96A3"/>
                </a:solidFill>
              </a:rPr>
              <a:t>ILLUSTRATIVE</a:t>
            </a:r>
          </a:p>
        </p:txBody>
      </p:sp>
      <p:sp>
        <p:nvSpPr>
          <p:cNvPr id="7" name="">
            <a:extLst xmlns:a="http://schemas.openxmlformats.org/drawingml/2006/main">
              <a:ext uri="{FF2B5EF4-FFF2-40B4-BE49-F238E27FC236}">
                <a16:creationId xmlns:a16="http://schemas.microsoft.com/office/drawing/2014/main" id="{5E450324-6580-411D-A8CC-E426487A55C4}"/>
              </a:ext>
            </a:extLst>
          </p:cNvPr>
          <p:cNvSpPr>
            <a:spLocks xmlns:a="http://schemas.openxmlformats.org/drawingml/2006/main" noGrp="1"/>
          </p:cNvSpPr>
          <p:nvPr/>
        </p:nvSpPr>
        <p:spPr>
          <a:xfrm xmlns:a="http://schemas.openxmlformats.org/drawingml/2006/main">
            <a:off x="609600" y="24003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VISIBLE OPTIONS</a:t>
            </a:r>
          </a:p>
        </p:txBody>
      </p:sp>
      <p:sp>
        <p:nvSpPr>
          <p:cNvPr id="8" name="">
            <a:extLst xmlns:a="http://schemas.openxmlformats.org/drawingml/2006/main">
              <a:ext uri="{FF2B5EF4-FFF2-40B4-BE49-F238E27FC236}">
                <a16:creationId xmlns:a16="http://schemas.microsoft.com/office/drawing/2014/main" id="{DEB201AE-2ECE-4044-863D-1CC081C9CA0E}"/>
              </a:ext>
            </a:extLst>
          </p:cNvPr>
          <p:cNvSpPr>
            <a:spLocks xmlns:a="http://schemas.openxmlformats.org/drawingml/2006/main" noGrp="1"/>
          </p:cNvSpPr>
          <p:nvPr/>
        </p:nvSpPr>
        <p:spPr>
          <a:xfrm xmlns:a="http://schemas.openxmlformats.org/drawingml/2006/main">
            <a:off x="5829300" y="24003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VALUE</a:t>
            </a:r>
          </a:p>
        </p:txBody>
      </p:sp>
      <p:sp>
        <p:nvSpPr>
          <p:cNvPr id="9" name="">
            <a:extLst xmlns:a="http://schemas.openxmlformats.org/drawingml/2006/main">
              <a:ext uri="{FF2B5EF4-FFF2-40B4-BE49-F238E27FC236}">
                <a16:creationId xmlns:a16="http://schemas.microsoft.com/office/drawing/2014/main" id="{D4224D1F-04C8-4EEA-80B4-968C167772DB}"/>
              </a:ext>
            </a:extLst>
          </p:cNvPr>
          <p:cNvSpPr>
            <a:spLocks xmlns:a="http://schemas.openxmlformats.org/drawingml/2006/main" noGrp="1"/>
          </p:cNvSpPr>
          <p:nvPr/>
        </p:nvSpPr>
        <p:spPr>
          <a:xfrm xmlns:a="http://schemas.openxmlformats.org/drawingml/2006/main">
            <a:off x="7677150" y="24003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RANK</a:t>
            </a:r>
          </a:p>
        </p:txBody>
      </p:sp>
      <p:sp>
        <p:nvSpPr>
          <p:cNvPr id="10" name="">
            <a:extLst xmlns:a="http://schemas.openxmlformats.org/drawingml/2006/main">
              <a:ext uri="{FF2B5EF4-FFF2-40B4-BE49-F238E27FC236}">
                <a16:creationId xmlns:a16="http://schemas.microsoft.com/office/drawing/2014/main" id="{07B3FF60-3D53-4F5C-A0BB-9F146300E4DD}"/>
              </a:ext>
            </a:extLst>
          </p:cNvPr>
          <p:cNvSpPr>
            <a:spLocks xmlns:a="http://schemas.openxmlformats.org/drawingml/2006/main" noGrp="1"/>
          </p:cNvSpPr>
          <p:nvPr/>
        </p:nvSpPr>
        <p:spPr>
          <a:xfrm xmlns:a="http://schemas.openxmlformats.org/drawingml/2006/main">
            <a:off x="9429750" y="2400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ACTION</a:t>
            </a:r>
          </a:p>
        </p:txBody>
      </p:sp>
      <p:sp>
        <p:nvSpPr>
          <p:cNvPr id="11" name="">
            <a:extLst xmlns:a="http://schemas.openxmlformats.org/drawingml/2006/main">
              <a:ext uri="{FF2B5EF4-FFF2-40B4-BE49-F238E27FC236}">
                <a16:creationId xmlns:a16="http://schemas.microsoft.com/office/drawing/2014/main" id="{34C5B018-4755-4B34-A49F-ECB21CD2A427}"/>
              </a:ext>
            </a:extLst>
          </p:cNvPr>
          <p:cNvSpPr>
            <a:spLocks xmlns:a="http://schemas.openxmlformats.org/drawingml/2006/main" noGrp="1"/>
          </p:cNvSpPr>
          <p:nvPr/>
        </p:nvSpPr>
        <p:spPr>
          <a:xfrm xmlns:a="http://schemas.openxmlformats.org/drawingml/2006/main">
            <a:off x="609600" y="2714625"/>
            <a:ext cx="10668000" cy="552450"/>
          </a:xfrm>
          <a:prstGeom xmlns:a="http://schemas.openxmlformats.org/drawingml/2006/main" prst="roundRect">
            <a:avLst>
              <a:gd name="adj" fmla="val 20690"/>
            </a:avLst>
          </a:prstGeom>
          <a:solidFill xmlns:a="http://schemas.openxmlformats.org/drawingml/2006/main">
            <a:srgbClr val="EAF6F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C1F9EDE-B721-4D52-80D8-51D39CD2F5CF}"/>
              </a:ext>
            </a:extLst>
          </p:cNvPr>
          <p:cNvSpPr>
            <a:spLocks xmlns:a="http://schemas.openxmlformats.org/drawingml/2006/main" noGrp="1"/>
          </p:cNvSpPr>
          <p:nvPr/>
        </p:nvSpPr>
        <p:spPr>
          <a:xfrm xmlns:a="http://schemas.openxmlformats.org/drawingml/2006/main">
            <a:off x="800100" y="2714625"/>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Contract A</a:t>
            </a:r>
          </a:p>
        </p:txBody>
      </p:sp>
      <p:sp>
        <p:nvSpPr>
          <p:cNvPr id="13" name="">
            <a:extLst xmlns:a="http://schemas.openxmlformats.org/drawingml/2006/main">
              <a:ext uri="{FF2B5EF4-FFF2-40B4-BE49-F238E27FC236}">
                <a16:creationId xmlns:a16="http://schemas.microsoft.com/office/drawing/2014/main" id="{20561F28-2281-49AF-AC28-F4E1F1C94867}"/>
              </a:ext>
            </a:extLst>
          </p:cNvPr>
          <p:cNvSpPr>
            <a:spLocks xmlns:a="http://schemas.openxmlformats.org/drawingml/2006/main" noGrp="1"/>
          </p:cNvSpPr>
          <p:nvPr/>
        </p:nvSpPr>
        <p:spPr>
          <a:xfrm xmlns:a="http://schemas.openxmlformats.org/drawingml/2006/main">
            <a:off x="5829300" y="2714625"/>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$1.2M</a:t>
            </a:r>
          </a:p>
        </p:txBody>
      </p:sp>
      <p:sp>
        <p:nvSpPr>
          <p:cNvPr id="14" name="">
            <a:extLst xmlns:a="http://schemas.openxmlformats.org/drawingml/2006/main">
              <a:ext uri="{FF2B5EF4-FFF2-40B4-BE49-F238E27FC236}">
                <a16:creationId xmlns:a16="http://schemas.microsoft.com/office/drawing/2014/main" id="{98E34390-A742-4185-9714-2491D7994A62}"/>
              </a:ext>
            </a:extLst>
          </p:cNvPr>
          <p:cNvSpPr>
            <a:spLocks xmlns:a="http://schemas.openxmlformats.org/drawingml/2006/main" noGrp="1"/>
          </p:cNvSpPr>
          <p:nvPr/>
        </p:nvSpPr>
        <p:spPr>
          <a:xfrm xmlns:a="http://schemas.openxmlformats.org/drawingml/2006/main">
            <a:off x="7677150" y="2714625"/>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3D8DFF"/>
                </a:solidFill>
              </a:defRPr>
            </a:pPr>
            <a:r>
              <a:rPr sz="1350" b="1">
                <a:solidFill>
                  <a:srgbClr val="3D8DFF"/>
                </a:solidFill>
              </a:rPr>
              <a:t>#1</a:t>
            </a:r>
          </a:p>
        </p:txBody>
      </p:sp>
      <p:sp>
        <p:nvSpPr>
          <p:cNvPr id="15" name="">
            <a:extLst xmlns:a="http://schemas.openxmlformats.org/drawingml/2006/main">
              <a:ext uri="{FF2B5EF4-FFF2-40B4-BE49-F238E27FC236}">
                <a16:creationId xmlns:a16="http://schemas.microsoft.com/office/drawing/2014/main" id="{7B6A595E-F63D-4331-B68E-0897BAC8DC36}"/>
              </a:ext>
            </a:extLst>
          </p:cNvPr>
          <p:cNvSpPr>
            <a:spLocks xmlns:a="http://schemas.openxmlformats.org/drawingml/2006/main" noGrp="1"/>
          </p:cNvSpPr>
          <p:nvPr/>
        </p:nvSpPr>
        <p:spPr>
          <a:xfrm xmlns:a="http://schemas.openxmlformats.org/drawingml/2006/main">
            <a:off x="9353550" y="2847975"/>
            <a:ext cx="1619250" cy="28575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4A69CCB-6A36-4C0A-B35A-7A8F5F1D3692}"/>
              </a:ext>
            </a:extLst>
          </p:cNvPr>
          <p:cNvSpPr>
            <a:spLocks xmlns:a="http://schemas.openxmlformats.org/drawingml/2006/main" noGrp="1"/>
          </p:cNvSpPr>
          <p:nvPr/>
        </p:nvSpPr>
        <p:spPr>
          <a:xfrm xmlns:a="http://schemas.openxmlformats.org/drawingml/2006/main">
            <a:off x="9448800" y="28479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Expanded</a:t>
            </a:r>
          </a:p>
        </p:txBody>
      </p:sp>
      <p:sp>
        <p:nvSpPr>
          <p:cNvPr id="17" name="">
            <a:extLst xmlns:a="http://schemas.openxmlformats.org/drawingml/2006/main">
              <a:ext uri="{FF2B5EF4-FFF2-40B4-BE49-F238E27FC236}">
                <a16:creationId xmlns:a16="http://schemas.microsoft.com/office/drawing/2014/main" id="{EC3AB414-E747-4340-9B3D-EAEE9B5B7902}"/>
              </a:ext>
            </a:extLst>
          </p:cNvPr>
          <p:cNvSpPr>
            <a:spLocks xmlns:a="http://schemas.openxmlformats.org/drawingml/2006/main" noGrp="1"/>
          </p:cNvSpPr>
          <p:nvPr/>
        </p:nvSpPr>
        <p:spPr>
          <a:xfrm xmlns:a="http://schemas.openxmlformats.org/drawingml/2006/main">
            <a:off x="609600" y="3438525"/>
            <a:ext cx="10668000" cy="552450"/>
          </a:xfrm>
          <a:prstGeom xmlns:a="http://schemas.openxmlformats.org/drawingml/2006/main" prst="roundRect">
            <a:avLst>
              <a:gd name="adj" fmla="val 20690"/>
            </a:avLst>
          </a:prstGeom>
          <a:solidFill xmlns:a="http://schemas.openxmlformats.org/drawingml/2006/main">
            <a:srgbClr val="F3F5F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7748091-DB62-4890-9536-0EB2452BC707}"/>
              </a:ext>
            </a:extLst>
          </p:cNvPr>
          <p:cNvSpPr>
            <a:spLocks xmlns:a="http://schemas.openxmlformats.org/drawingml/2006/main" noGrp="1"/>
          </p:cNvSpPr>
          <p:nvPr/>
        </p:nvSpPr>
        <p:spPr>
          <a:xfrm xmlns:a="http://schemas.openxmlformats.org/drawingml/2006/main">
            <a:off x="800100" y="3438525"/>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01216"/>
                </a:solidFill>
              </a:defRPr>
            </a:pPr>
            <a:r>
              <a:rPr sz="1350" b="0">
                <a:solidFill>
                  <a:srgbClr val="101216"/>
                </a:solidFill>
              </a:rPr>
              <a:t>Contract B</a:t>
            </a:r>
          </a:p>
        </p:txBody>
      </p:sp>
      <p:sp>
        <p:nvSpPr>
          <p:cNvPr id="19" name="">
            <a:extLst xmlns:a="http://schemas.openxmlformats.org/drawingml/2006/main">
              <a:ext uri="{FF2B5EF4-FFF2-40B4-BE49-F238E27FC236}">
                <a16:creationId xmlns:a16="http://schemas.microsoft.com/office/drawing/2014/main" id="{F8D83D74-C5F3-4316-BE28-B37EA59614E4}"/>
              </a:ext>
            </a:extLst>
          </p:cNvPr>
          <p:cNvSpPr>
            <a:spLocks xmlns:a="http://schemas.openxmlformats.org/drawingml/2006/main" noGrp="1"/>
          </p:cNvSpPr>
          <p:nvPr/>
        </p:nvSpPr>
        <p:spPr>
          <a:xfrm xmlns:a="http://schemas.openxmlformats.org/drawingml/2006/main">
            <a:off x="5829300" y="3438525"/>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01216"/>
                </a:solidFill>
              </a:defRPr>
            </a:pPr>
            <a:r>
              <a:rPr sz="1350" b="0">
                <a:solidFill>
                  <a:srgbClr val="101216"/>
                </a:solidFill>
              </a:rPr>
              <a:t>$740K</a:t>
            </a:r>
          </a:p>
        </p:txBody>
      </p:sp>
      <p:sp>
        <p:nvSpPr>
          <p:cNvPr id="20" name="">
            <a:extLst xmlns:a="http://schemas.openxmlformats.org/drawingml/2006/main">
              <a:ext uri="{FF2B5EF4-FFF2-40B4-BE49-F238E27FC236}">
                <a16:creationId xmlns:a16="http://schemas.microsoft.com/office/drawing/2014/main" id="{DE410D5F-EB31-49C1-9D3C-3A6570CF1270}"/>
              </a:ext>
            </a:extLst>
          </p:cNvPr>
          <p:cNvSpPr>
            <a:spLocks xmlns:a="http://schemas.openxmlformats.org/drawingml/2006/main" noGrp="1"/>
          </p:cNvSpPr>
          <p:nvPr/>
        </p:nvSpPr>
        <p:spPr>
          <a:xfrm xmlns:a="http://schemas.openxmlformats.org/drawingml/2006/main">
            <a:off x="7677150" y="3438525"/>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F6875"/>
                </a:solidFill>
              </a:defRPr>
            </a:pPr>
            <a:r>
              <a:rPr sz="1350" b="1">
                <a:solidFill>
                  <a:srgbClr val="5F6875"/>
                </a:solidFill>
              </a:rPr>
              <a:t>#2</a:t>
            </a:r>
          </a:p>
        </p:txBody>
      </p:sp>
      <p:sp>
        <p:nvSpPr>
          <p:cNvPr id="21" name="">
            <a:extLst xmlns:a="http://schemas.openxmlformats.org/drawingml/2006/main">
              <a:ext uri="{FF2B5EF4-FFF2-40B4-BE49-F238E27FC236}">
                <a16:creationId xmlns:a16="http://schemas.microsoft.com/office/drawing/2014/main" id="{3816F2A3-D5DA-4D01-B99C-F97169599E65}"/>
              </a:ext>
            </a:extLst>
          </p:cNvPr>
          <p:cNvSpPr>
            <a:spLocks xmlns:a="http://schemas.openxmlformats.org/drawingml/2006/main" noGrp="1"/>
          </p:cNvSpPr>
          <p:nvPr/>
        </p:nvSpPr>
        <p:spPr>
          <a:xfrm xmlns:a="http://schemas.openxmlformats.org/drawingml/2006/main">
            <a:off x="9353550" y="3571875"/>
            <a:ext cx="1619250" cy="28575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D2BF261-05CA-4032-9DF5-57ED922DE5A0}"/>
              </a:ext>
            </a:extLst>
          </p:cNvPr>
          <p:cNvSpPr>
            <a:spLocks xmlns:a="http://schemas.openxmlformats.org/drawingml/2006/main" noGrp="1"/>
          </p:cNvSpPr>
          <p:nvPr/>
        </p:nvSpPr>
        <p:spPr>
          <a:xfrm xmlns:a="http://schemas.openxmlformats.org/drawingml/2006/main">
            <a:off x="9448800" y="35718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8D96A3"/>
                </a:solidFill>
              </a:defRPr>
            </a:pPr>
            <a:r>
              <a:rPr sz="900" b="1">
                <a:solidFill>
                  <a:srgbClr val="8D96A3"/>
                </a:solidFill>
              </a:rPr>
              <a:t>Collapsed</a:t>
            </a:r>
          </a:p>
        </p:txBody>
      </p:sp>
      <p:sp>
        <p:nvSpPr>
          <p:cNvPr id="23" name="">
            <a:extLst xmlns:a="http://schemas.openxmlformats.org/drawingml/2006/main">
              <a:ext uri="{FF2B5EF4-FFF2-40B4-BE49-F238E27FC236}">
                <a16:creationId xmlns:a16="http://schemas.microsoft.com/office/drawing/2014/main" id="{79DE2CCC-1DB5-49CB-ACEB-96FFF503ECF0}"/>
              </a:ext>
            </a:extLst>
          </p:cNvPr>
          <p:cNvSpPr>
            <a:spLocks xmlns:a="http://schemas.openxmlformats.org/drawingml/2006/main" noGrp="1"/>
          </p:cNvSpPr>
          <p:nvPr/>
        </p:nvSpPr>
        <p:spPr>
          <a:xfrm xmlns:a="http://schemas.openxmlformats.org/drawingml/2006/main">
            <a:off x="609600" y="4162425"/>
            <a:ext cx="10668000" cy="552450"/>
          </a:xfrm>
          <a:prstGeom xmlns:a="http://schemas.openxmlformats.org/drawingml/2006/main" prst="roundRect">
            <a:avLst>
              <a:gd name="adj" fmla="val 20690"/>
            </a:avLst>
          </a:prstGeom>
          <a:solidFill xmlns:a="http://schemas.openxmlformats.org/drawingml/2006/main">
            <a:srgbClr val="F3F5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0C02C98-DC5E-48F3-B850-E82F8C85209E}"/>
              </a:ext>
            </a:extLst>
          </p:cNvPr>
          <p:cNvSpPr>
            <a:spLocks xmlns:a="http://schemas.openxmlformats.org/drawingml/2006/main" noGrp="1"/>
          </p:cNvSpPr>
          <p:nvPr/>
        </p:nvSpPr>
        <p:spPr>
          <a:xfrm xmlns:a="http://schemas.openxmlformats.org/drawingml/2006/main">
            <a:off x="800100" y="4162425"/>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01216"/>
                </a:solidFill>
              </a:defRPr>
            </a:pPr>
            <a:r>
              <a:rPr sz="1350" b="0">
                <a:solidFill>
                  <a:srgbClr val="101216"/>
                </a:solidFill>
              </a:rPr>
              <a:t>Contract C</a:t>
            </a:r>
          </a:p>
        </p:txBody>
      </p:sp>
      <p:sp>
        <p:nvSpPr>
          <p:cNvPr id="25" name="">
            <a:extLst xmlns:a="http://schemas.openxmlformats.org/drawingml/2006/main">
              <a:ext uri="{FF2B5EF4-FFF2-40B4-BE49-F238E27FC236}">
                <a16:creationId xmlns:a16="http://schemas.microsoft.com/office/drawing/2014/main" id="{1A927509-E77D-41C9-82FE-426776C9CBB6}"/>
              </a:ext>
            </a:extLst>
          </p:cNvPr>
          <p:cNvSpPr>
            <a:spLocks xmlns:a="http://schemas.openxmlformats.org/drawingml/2006/main" noGrp="1"/>
          </p:cNvSpPr>
          <p:nvPr/>
        </p:nvSpPr>
        <p:spPr>
          <a:xfrm xmlns:a="http://schemas.openxmlformats.org/drawingml/2006/main">
            <a:off x="5829300" y="4162425"/>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01216"/>
                </a:solidFill>
              </a:defRPr>
            </a:pPr>
            <a:r>
              <a:rPr sz="1350" b="0">
                <a:solidFill>
                  <a:srgbClr val="101216"/>
                </a:solidFill>
              </a:rPr>
              <a:t>$310K</a:t>
            </a:r>
          </a:p>
        </p:txBody>
      </p:sp>
      <p:sp>
        <p:nvSpPr>
          <p:cNvPr id="26" name="">
            <a:extLst xmlns:a="http://schemas.openxmlformats.org/drawingml/2006/main">
              <a:ext uri="{FF2B5EF4-FFF2-40B4-BE49-F238E27FC236}">
                <a16:creationId xmlns:a16="http://schemas.microsoft.com/office/drawing/2014/main" id="{E42A6609-0847-4057-9D67-56482EBA31CC}"/>
              </a:ext>
            </a:extLst>
          </p:cNvPr>
          <p:cNvSpPr>
            <a:spLocks xmlns:a="http://schemas.openxmlformats.org/drawingml/2006/main" noGrp="1"/>
          </p:cNvSpPr>
          <p:nvPr/>
        </p:nvSpPr>
        <p:spPr>
          <a:xfrm xmlns:a="http://schemas.openxmlformats.org/drawingml/2006/main">
            <a:off x="7677150" y="4162425"/>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F6875"/>
                </a:solidFill>
              </a:defRPr>
            </a:pPr>
            <a:r>
              <a:rPr sz="1350" b="1">
                <a:solidFill>
                  <a:srgbClr val="5F6875"/>
                </a:solidFill>
              </a:rPr>
              <a:t>#3</a:t>
            </a:r>
          </a:p>
        </p:txBody>
      </p:sp>
      <p:sp>
        <p:nvSpPr>
          <p:cNvPr id="27" name="">
            <a:extLst xmlns:a="http://schemas.openxmlformats.org/drawingml/2006/main">
              <a:ext uri="{FF2B5EF4-FFF2-40B4-BE49-F238E27FC236}">
                <a16:creationId xmlns:a16="http://schemas.microsoft.com/office/drawing/2014/main" id="{E3308C19-6C5F-4061-B5B8-155075106DA3}"/>
              </a:ext>
            </a:extLst>
          </p:cNvPr>
          <p:cNvSpPr>
            <a:spLocks xmlns:a="http://schemas.openxmlformats.org/drawingml/2006/main" noGrp="1"/>
          </p:cNvSpPr>
          <p:nvPr/>
        </p:nvSpPr>
        <p:spPr>
          <a:xfrm xmlns:a="http://schemas.openxmlformats.org/drawingml/2006/main">
            <a:off x="9353550" y="4295775"/>
            <a:ext cx="1619250" cy="28575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C70E032-96E5-4374-A769-D1B6DD478013}"/>
              </a:ext>
            </a:extLst>
          </p:cNvPr>
          <p:cNvSpPr>
            <a:spLocks xmlns:a="http://schemas.openxmlformats.org/drawingml/2006/main" noGrp="1"/>
          </p:cNvSpPr>
          <p:nvPr/>
        </p:nvSpPr>
        <p:spPr>
          <a:xfrm xmlns:a="http://schemas.openxmlformats.org/drawingml/2006/main">
            <a:off x="9448800" y="42957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8D96A3"/>
                </a:solidFill>
              </a:defRPr>
            </a:pPr>
            <a:r>
              <a:rPr sz="900" b="1">
                <a:solidFill>
                  <a:srgbClr val="8D96A3"/>
                </a:solidFill>
              </a:rPr>
              <a:t>Collapsed</a:t>
            </a:r>
          </a:p>
        </p:txBody>
      </p:sp>
      <p:sp>
        <p:nvSpPr>
          <p:cNvPr id="29" name="">
            <a:extLst xmlns:a="http://schemas.openxmlformats.org/drawingml/2006/main">
              <a:ext uri="{FF2B5EF4-FFF2-40B4-BE49-F238E27FC236}">
                <a16:creationId xmlns:a16="http://schemas.microsoft.com/office/drawing/2014/main" id="{02FE374D-A9B0-4F81-B05B-1599EE83E99B}"/>
              </a:ext>
            </a:extLst>
          </p:cNvPr>
          <p:cNvSpPr>
            <a:spLocks xmlns:a="http://schemas.openxmlformats.org/drawingml/2006/main" noGrp="1"/>
          </p:cNvSpPr>
          <p:nvPr/>
        </p:nvSpPr>
        <p:spPr>
          <a:xfrm xmlns:a="http://schemas.openxmlformats.org/drawingml/2006/main">
            <a:off x="952500" y="52197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01216"/>
                </a:solidFill>
              </a:defRPr>
            </a:pPr>
            <a:r>
              <a:rPr sz="1575" b="1">
                <a:solidFill>
                  <a:srgbClr val="101216"/>
                </a:solidFill>
              </a:rPr>
              <a:t>Across episodes, the system can test whether ‘highest value’ predicts the user’s action better than position, label, or habit.</a:t>
            </a:r>
          </a:p>
        </p:txBody>
      </p:sp>
      <p:sp>
        <p:nvSpPr>
          <p:cNvPr id="30" name="">
            <a:extLst xmlns:a="http://schemas.openxmlformats.org/drawingml/2006/main">
              <a:ext uri="{FF2B5EF4-FFF2-40B4-BE49-F238E27FC236}">
                <a16:creationId xmlns:a16="http://schemas.microsoft.com/office/drawing/2014/main" id="{5B6C48CC-104F-4E4A-8741-93E9D720748D}"/>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31" name="">
            <a:extLst xmlns:a="http://schemas.openxmlformats.org/drawingml/2006/main">
              <a:ext uri="{FF2B5EF4-FFF2-40B4-BE49-F238E27FC236}">
                <a16:creationId xmlns:a16="http://schemas.microsoft.com/office/drawing/2014/main" id="{A1BB6C1C-C353-40DB-9B36-46A9ED20D1BA}"/>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7</a:t>
            </a:r>
          </a:p>
        </p:txBody>
      </p:sp>
    </p:spTree>
    <p:extLst>
      <p:ext uri="{BB962C8B-B14F-4D97-AF65-F5344CB8AC3E}">
        <p14:creationId xmlns:p14="http://schemas.microsoft.com/office/powerpoint/2010/main" val="5840626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0722261-B58D-4DC6-8981-D7DE630503F4}"/>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08</a:t>
            </a:r>
          </a:p>
        </p:txBody>
      </p:sp>
      <p:sp>
        <p:nvSpPr>
          <p:cNvPr id="2" name="">
            <a:extLst xmlns:a="http://schemas.openxmlformats.org/drawingml/2006/main">
              <a:ext uri="{FF2B5EF4-FFF2-40B4-BE49-F238E27FC236}">
                <a16:creationId xmlns:a16="http://schemas.microsoft.com/office/drawing/2014/main" id="{CA9BB6A6-86C5-4243-91F1-9E997F668DB4}"/>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BELIEF LIFECYCLE</a:t>
            </a:r>
          </a:p>
        </p:txBody>
      </p:sp>
      <p:sp>
        <p:nvSpPr>
          <p:cNvPr id="3" name="">
            <a:extLst xmlns:a="http://schemas.openxmlformats.org/drawingml/2006/main">
              <a:ext uri="{FF2B5EF4-FFF2-40B4-BE49-F238E27FC236}">
                <a16:creationId xmlns:a16="http://schemas.microsoft.com/office/drawing/2014/main" id="{66ECAFE7-36B6-461C-B42A-4B98537EF3BD}"/>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Learning occurs through accumulation, contradiction, and revision</a:t>
            </a:r>
          </a:p>
        </p:txBody>
      </p:sp>
      <p:sp>
        <p:nvSpPr>
          <p:cNvPr id="4" name="">
            <a:extLst xmlns:a="http://schemas.openxmlformats.org/drawingml/2006/main">
              <a:ext uri="{FF2B5EF4-FFF2-40B4-BE49-F238E27FC236}">
                <a16:creationId xmlns:a16="http://schemas.microsoft.com/office/drawing/2014/main" id="{4F88001B-6294-4D0A-AF44-E52C1F98E980}"/>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E2AE10F4-6EB4-4171-ABDF-479E1CA98FF5}"/>
              </a:ext>
            </a:extLst>
          </p:cNvPr>
          <p:cNvSpPr>
            <a:spLocks xmlns:a="http://schemas.openxmlformats.org/drawingml/2006/main" noGrp="1"/>
          </p:cNvSpPr>
          <p:nvPr/>
        </p:nvSpPr>
        <p:spPr>
          <a:xfrm xmlns:a="http://schemas.openxmlformats.org/drawingml/2006/main">
            <a:off x="609600" y="2333625"/>
            <a:ext cx="2381250" cy="1619250"/>
          </a:xfrm>
          <a:prstGeom xmlns:a="http://schemas.openxmlformats.org/drawingml/2006/main" prst="roundRect">
            <a:avLst>
              <a:gd name="adj" fmla="val 7059"/>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599A555-A349-4C98-B420-FECAAF2E653F}"/>
              </a:ext>
            </a:extLst>
          </p:cNvPr>
          <p:cNvSpPr>
            <a:spLocks xmlns:a="http://schemas.openxmlformats.org/drawingml/2006/main" noGrp="1"/>
          </p:cNvSpPr>
          <p:nvPr/>
        </p:nvSpPr>
        <p:spPr>
          <a:xfrm xmlns:a="http://schemas.openxmlformats.org/drawingml/2006/main">
            <a:off x="609600" y="2333625"/>
            <a:ext cx="2381250" cy="76200"/>
          </a:xfrm>
          <a:prstGeom xmlns:a="http://schemas.openxmlformats.org/drawingml/2006/main" prst="rect">
            <a:avLst/>
          </a:prstGeom>
          <a:solidFill xmlns:a="http://schemas.openxmlformats.org/drawingml/2006/main">
            <a:srgbClr val="8D96A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AA4F07B-7C47-4D5A-9AB4-2AE0B056EBC4}"/>
              </a:ext>
            </a:extLst>
          </p:cNvPr>
          <p:cNvSpPr>
            <a:spLocks xmlns:a="http://schemas.openxmlformats.org/drawingml/2006/main" noGrp="1"/>
          </p:cNvSpPr>
          <p:nvPr/>
        </p:nvSpPr>
        <p:spPr>
          <a:xfrm xmlns:a="http://schemas.openxmlformats.org/drawingml/2006/main">
            <a:off x="800100" y="2628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8D96A3"/>
                </a:solidFill>
              </a:defRPr>
            </a:pPr>
            <a:r>
              <a:rPr sz="900" b="1">
                <a:solidFill>
                  <a:srgbClr val="8D96A3"/>
                </a:solidFill>
              </a:rPr>
              <a:t>NOTICED</a:t>
            </a:r>
          </a:p>
        </p:txBody>
      </p:sp>
      <p:sp>
        <p:nvSpPr>
          <p:cNvPr id="8" name="">
            <a:extLst xmlns:a="http://schemas.openxmlformats.org/drawingml/2006/main">
              <a:ext uri="{FF2B5EF4-FFF2-40B4-BE49-F238E27FC236}">
                <a16:creationId xmlns:a16="http://schemas.microsoft.com/office/drawing/2014/main" id="{35A8CB68-5363-4B9F-AC64-E2F74B44B23D}"/>
              </a:ext>
            </a:extLst>
          </p:cNvPr>
          <p:cNvSpPr>
            <a:spLocks xmlns:a="http://schemas.openxmlformats.org/drawingml/2006/main" noGrp="1"/>
          </p:cNvSpPr>
          <p:nvPr/>
        </p:nvSpPr>
        <p:spPr>
          <a:xfrm xmlns:a="http://schemas.openxmlformats.org/drawingml/2006/main">
            <a:off x="838200" y="3048000"/>
            <a:ext cx="1924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01216"/>
                </a:solidFill>
              </a:defRPr>
            </a:pPr>
            <a:r>
              <a:rPr sz="1275" b="1">
                <a:solidFill>
                  <a:srgbClr val="101216"/>
                </a:solidFill>
              </a:rPr>
              <a:t>A possible signal appears</a:t>
            </a:r>
          </a:p>
        </p:txBody>
      </p:sp>
      <p:sp>
        <p:nvSpPr>
          <p:cNvPr id="9" name="">
            <a:extLst xmlns:a="http://schemas.openxmlformats.org/drawingml/2006/main">
              <a:ext uri="{FF2B5EF4-FFF2-40B4-BE49-F238E27FC236}">
                <a16:creationId xmlns:a16="http://schemas.microsoft.com/office/drawing/2014/main" id="{454A27D1-7850-4C43-91EE-BAFDAC152139}"/>
              </a:ext>
            </a:extLst>
          </p:cNvPr>
          <p:cNvSpPr>
            <a:spLocks xmlns:a="http://schemas.openxmlformats.org/drawingml/2006/main" noGrp="1"/>
          </p:cNvSpPr>
          <p:nvPr/>
        </p:nvSpPr>
        <p:spPr>
          <a:xfrm xmlns:a="http://schemas.openxmlformats.org/drawingml/2006/main">
            <a:off x="3019425" y="3028950"/>
            <a:ext cx="28575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3881D8B-38BA-40D8-AF0E-8C5BC0C1CF6A}"/>
              </a:ext>
            </a:extLst>
          </p:cNvPr>
          <p:cNvSpPr>
            <a:spLocks xmlns:a="http://schemas.openxmlformats.org/drawingml/2006/main" noGrp="1"/>
          </p:cNvSpPr>
          <p:nvPr/>
        </p:nvSpPr>
        <p:spPr>
          <a:xfrm xmlns:a="http://schemas.openxmlformats.org/drawingml/2006/main">
            <a:off x="3352800" y="2333625"/>
            <a:ext cx="2381250" cy="1619250"/>
          </a:xfrm>
          <a:prstGeom xmlns:a="http://schemas.openxmlformats.org/drawingml/2006/main" prst="roundRect">
            <a:avLst>
              <a:gd name="adj" fmla="val 7059"/>
            </a:avLst>
          </a:prstGeom>
          <a:solidFill xmlns:a="http://schemas.openxmlformats.org/drawingml/2006/main">
            <a:srgbClr val="F3F5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CF3AA08-6EB8-4C92-9162-24929B6730E2}"/>
              </a:ext>
            </a:extLst>
          </p:cNvPr>
          <p:cNvSpPr>
            <a:spLocks xmlns:a="http://schemas.openxmlformats.org/drawingml/2006/main" noGrp="1"/>
          </p:cNvSpPr>
          <p:nvPr/>
        </p:nvSpPr>
        <p:spPr>
          <a:xfrm xmlns:a="http://schemas.openxmlformats.org/drawingml/2006/main">
            <a:off x="3352800" y="2333625"/>
            <a:ext cx="2381250" cy="762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D867AD8-DA4E-4510-93FA-71ABC4A8D36D}"/>
              </a:ext>
            </a:extLst>
          </p:cNvPr>
          <p:cNvSpPr>
            <a:spLocks xmlns:a="http://schemas.openxmlformats.org/drawingml/2006/main" noGrp="1"/>
          </p:cNvSpPr>
          <p:nvPr/>
        </p:nvSpPr>
        <p:spPr>
          <a:xfrm xmlns:a="http://schemas.openxmlformats.org/drawingml/2006/main">
            <a:off x="3543300" y="2628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6DCBF4"/>
                </a:solidFill>
              </a:defRPr>
            </a:pPr>
            <a:r>
              <a:rPr sz="900" b="1">
                <a:solidFill>
                  <a:srgbClr val="6DCBF4"/>
                </a:solidFill>
              </a:rPr>
              <a:t>TENTATIVE</a:t>
            </a:r>
          </a:p>
        </p:txBody>
      </p:sp>
      <p:sp>
        <p:nvSpPr>
          <p:cNvPr id="13" name="">
            <a:extLst xmlns:a="http://schemas.openxmlformats.org/drawingml/2006/main">
              <a:ext uri="{FF2B5EF4-FFF2-40B4-BE49-F238E27FC236}">
                <a16:creationId xmlns:a16="http://schemas.microsoft.com/office/drawing/2014/main" id="{E71707DA-FA7E-40D7-B8CC-8E569EE54C60}"/>
              </a:ext>
            </a:extLst>
          </p:cNvPr>
          <p:cNvSpPr>
            <a:spLocks xmlns:a="http://schemas.openxmlformats.org/drawingml/2006/main" noGrp="1"/>
          </p:cNvSpPr>
          <p:nvPr/>
        </p:nvSpPr>
        <p:spPr>
          <a:xfrm xmlns:a="http://schemas.openxmlformats.org/drawingml/2006/main">
            <a:off x="3581400" y="3048000"/>
            <a:ext cx="1924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01216"/>
                </a:solidFill>
              </a:defRPr>
            </a:pPr>
            <a:r>
              <a:rPr sz="1275" b="1">
                <a:solidFill>
                  <a:srgbClr val="101216"/>
                </a:solidFill>
              </a:rPr>
              <a:t>Repeated, but alternatives remain</a:t>
            </a:r>
          </a:p>
        </p:txBody>
      </p:sp>
      <p:sp>
        <p:nvSpPr>
          <p:cNvPr id="14" name="">
            <a:extLst xmlns:a="http://schemas.openxmlformats.org/drawingml/2006/main">
              <a:ext uri="{FF2B5EF4-FFF2-40B4-BE49-F238E27FC236}">
                <a16:creationId xmlns:a16="http://schemas.microsoft.com/office/drawing/2014/main" id="{CC8C5966-3F53-4813-86B5-EC105E7B7BDC}"/>
              </a:ext>
            </a:extLst>
          </p:cNvPr>
          <p:cNvSpPr>
            <a:spLocks xmlns:a="http://schemas.openxmlformats.org/drawingml/2006/main" noGrp="1"/>
          </p:cNvSpPr>
          <p:nvPr/>
        </p:nvSpPr>
        <p:spPr>
          <a:xfrm xmlns:a="http://schemas.openxmlformats.org/drawingml/2006/main">
            <a:off x="5762625" y="3028950"/>
            <a:ext cx="28575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653F23B-F412-420E-A251-AC57A35FE3C4}"/>
              </a:ext>
            </a:extLst>
          </p:cNvPr>
          <p:cNvSpPr>
            <a:spLocks xmlns:a="http://schemas.openxmlformats.org/drawingml/2006/main" noGrp="1"/>
          </p:cNvSpPr>
          <p:nvPr/>
        </p:nvSpPr>
        <p:spPr>
          <a:xfrm xmlns:a="http://schemas.openxmlformats.org/drawingml/2006/main">
            <a:off x="6096000" y="2333625"/>
            <a:ext cx="2381250" cy="1619250"/>
          </a:xfrm>
          <a:prstGeom xmlns:a="http://schemas.openxmlformats.org/drawingml/2006/main" prst="roundRect">
            <a:avLst>
              <a:gd name="adj" fmla="val 7059"/>
            </a:avLst>
          </a:prstGeom>
          <a:solidFill xmlns:a="http://schemas.openxmlformats.org/drawingml/2006/main">
            <a:srgbClr val="F3F5F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6E79559-5B24-49FF-82A0-1AADF0CB8B65}"/>
              </a:ext>
            </a:extLst>
          </p:cNvPr>
          <p:cNvSpPr>
            <a:spLocks xmlns:a="http://schemas.openxmlformats.org/drawingml/2006/main" noGrp="1"/>
          </p:cNvSpPr>
          <p:nvPr/>
        </p:nvSpPr>
        <p:spPr>
          <a:xfrm xmlns:a="http://schemas.openxmlformats.org/drawingml/2006/main">
            <a:off x="6096000" y="2333625"/>
            <a:ext cx="238125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44A5032-A25D-4111-BABF-F64FA7946A46}"/>
              </a:ext>
            </a:extLst>
          </p:cNvPr>
          <p:cNvSpPr>
            <a:spLocks xmlns:a="http://schemas.openxmlformats.org/drawingml/2006/main" noGrp="1"/>
          </p:cNvSpPr>
          <p:nvPr/>
        </p:nvSpPr>
        <p:spPr>
          <a:xfrm xmlns:a="http://schemas.openxmlformats.org/drawingml/2006/main">
            <a:off x="6286500" y="2628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3D8DFF"/>
                </a:solidFill>
              </a:defRPr>
            </a:pPr>
            <a:r>
              <a:rPr sz="900" b="1">
                <a:solidFill>
                  <a:srgbClr val="3D8DFF"/>
                </a:solidFill>
              </a:rPr>
              <a:t>WORKING THEORY</a:t>
            </a:r>
          </a:p>
        </p:txBody>
      </p:sp>
      <p:sp>
        <p:nvSpPr>
          <p:cNvPr id="18" name="">
            <a:extLst xmlns:a="http://schemas.openxmlformats.org/drawingml/2006/main">
              <a:ext uri="{FF2B5EF4-FFF2-40B4-BE49-F238E27FC236}">
                <a16:creationId xmlns:a16="http://schemas.microsoft.com/office/drawing/2014/main" id="{4D66C3B7-BF5A-4371-9F05-766D95AC12CA}"/>
              </a:ext>
            </a:extLst>
          </p:cNvPr>
          <p:cNvSpPr>
            <a:spLocks xmlns:a="http://schemas.openxmlformats.org/drawingml/2006/main" noGrp="1"/>
          </p:cNvSpPr>
          <p:nvPr/>
        </p:nvSpPr>
        <p:spPr>
          <a:xfrm xmlns:a="http://schemas.openxmlformats.org/drawingml/2006/main">
            <a:off x="6324600" y="3048000"/>
            <a:ext cx="1924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01216"/>
                </a:solidFill>
              </a:defRPr>
            </a:pPr>
            <a:r>
              <a:rPr sz="1275" b="1">
                <a:solidFill>
                  <a:srgbClr val="101216"/>
                </a:solidFill>
              </a:rPr>
              <a:t>Predicts behavior across episodes</a:t>
            </a:r>
          </a:p>
        </p:txBody>
      </p:sp>
      <p:sp>
        <p:nvSpPr>
          <p:cNvPr id="19" name="">
            <a:extLst xmlns:a="http://schemas.openxmlformats.org/drawingml/2006/main">
              <a:ext uri="{FF2B5EF4-FFF2-40B4-BE49-F238E27FC236}">
                <a16:creationId xmlns:a16="http://schemas.microsoft.com/office/drawing/2014/main" id="{C484BA02-3FEC-4314-A67F-80975ABE6F56}"/>
              </a:ext>
            </a:extLst>
          </p:cNvPr>
          <p:cNvSpPr>
            <a:spLocks xmlns:a="http://schemas.openxmlformats.org/drawingml/2006/main" noGrp="1"/>
          </p:cNvSpPr>
          <p:nvPr/>
        </p:nvSpPr>
        <p:spPr>
          <a:xfrm xmlns:a="http://schemas.openxmlformats.org/drawingml/2006/main">
            <a:off x="8505825" y="3028950"/>
            <a:ext cx="28575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92EF3A9-58C1-49B9-A902-20F2D4DAAA7B}"/>
              </a:ext>
            </a:extLst>
          </p:cNvPr>
          <p:cNvSpPr>
            <a:spLocks xmlns:a="http://schemas.openxmlformats.org/drawingml/2006/main" noGrp="1"/>
          </p:cNvSpPr>
          <p:nvPr/>
        </p:nvSpPr>
        <p:spPr>
          <a:xfrm xmlns:a="http://schemas.openxmlformats.org/drawingml/2006/main">
            <a:off x="8839200" y="2333625"/>
            <a:ext cx="2381250" cy="1619250"/>
          </a:xfrm>
          <a:prstGeom xmlns:a="http://schemas.openxmlformats.org/drawingml/2006/main" prst="roundRect">
            <a:avLst>
              <a:gd name="adj" fmla="val 7059"/>
            </a:avLst>
          </a:prstGeom>
          <a:solidFill xmlns:a="http://schemas.openxmlformats.org/drawingml/2006/main">
            <a:srgbClr val="F3F5F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D44CED0-36D6-4FBF-8459-2C89D84FC843}"/>
              </a:ext>
            </a:extLst>
          </p:cNvPr>
          <p:cNvSpPr>
            <a:spLocks xmlns:a="http://schemas.openxmlformats.org/drawingml/2006/main" noGrp="1"/>
          </p:cNvSpPr>
          <p:nvPr/>
        </p:nvSpPr>
        <p:spPr>
          <a:xfrm xmlns:a="http://schemas.openxmlformats.org/drawingml/2006/main">
            <a:off x="8839200" y="2333625"/>
            <a:ext cx="2381250" cy="76200"/>
          </a:xfrm>
          <a:prstGeom xmlns:a="http://schemas.openxmlformats.org/drawingml/2006/main" prst="rect">
            <a:avLst/>
          </a:prstGeom>
          <a:solidFill xmlns:a="http://schemas.openxmlformats.org/drawingml/2006/main">
            <a:srgbClr val="38A16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BA3972D-E751-4033-867C-A46927DF0A7B}"/>
              </a:ext>
            </a:extLst>
          </p:cNvPr>
          <p:cNvSpPr>
            <a:spLocks xmlns:a="http://schemas.openxmlformats.org/drawingml/2006/main" noGrp="1"/>
          </p:cNvSpPr>
          <p:nvPr/>
        </p:nvSpPr>
        <p:spPr>
          <a:xfrm xmlns:a="http://schemas.openxmlformats.org/drawingml/2006/main">
            <a:off x="9029700" y="2628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38A169"/>
                </a:solidFill>
              </a:defRPr>
            </a:pPr>
            <a:r>
              <a:rPr sz="900" b="1">
                <a:solidFill>
                  <a:srgbClr val="38A169"/>
                </a:solidFill>
              </a:rPr>
              <a:t>SETTLED</a:t>
            </a:r>
          </a:p>
        </p:txBody>
      </p:sp>
      <p:sp>
        <p:nvSpPr>
          <p:cNvPr id="23" name="">
            <a:extLst xmlns:a="http://schemas.openxmlformats.org/drawingml/2006/main">
              <a:ext uri="{FF2B5EF4-FFF2-40B4-BE49-F238E27FC236}">
                <a16:creationId xmlns:a16="http://schemas.microsoft.com/office/drawing/2014/main" id="{BBA9871A-D26C-4744-8BC1-4A477BE810D4}"/>
              </a:ext>
            </a:extLst>
          </p:cNvPr>
          <p:cNvSpPr>
            <a:spLocks xmlns:a="http://schemas.openxmlformats.org/drawingml/2006/main" noGrp="1"/>
          </p:cNvSpPr>
          <p:nvPr/>
        </p:nvSpPr>
        <p:spPr>
          <a:xfrm xmlns:a="http://schemas.openxmlformats.org/drawingml/2006/main">
            <a:off x="9067800" y="3048000"/>
            <a:ext cx="1924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01216"/>
                </a:solidFill>
              </a:defRPr>
            </a:pPr>
            <a:r>
              <a:rPr sz="1275" b="1">
                <a:solidFill>
                  <a:srgbClr val="101216"/>
                </a:solidFill>
              </a:rPr>
              <a:t>Strong and stable evidence</a:t>
            </a:r>
          </a:p>
        </p:txBody>
      </p:sp>
      <p:sp>
        <p:nvSpPr>
          <p:cNvPr id="24" name="">
            <a:extLst xmlns:a="http://schemas.openxmlformats.org/drawingml/2006/main">
              <a:ext uri="{FF2B5EF4-FFF2-40B4-BE49-F238E27FC236}">
                <a16:creationId xmlns:a16="http://schemas.microsoft.com/office/drawing/2014/main" id="{6F489E43-6FFF-4AAA-AB1C-95E982ACDECC}"/>
              </a:ext>
            </a:extLst>
          </p:cNvPr>
          <p:cNvSpPr>
            <a:spLocks xmlns:a="http://schemas.openxmlformats.org/drawingml/2006/main" noGrp="1"/>
          </p:cNvSpPr>
          <p:nvPr/>
        </p:nvSpPr>
        <p:spPr>
          <a:xfrm xmlns:a="http://schemas.openxmlformats.org/drawingml/2006/main">
            <a:off x="2057400" y="4429125"/>
            <a:ext cx="8077200" cy="895350"/>
          </a:xfrm>
          <a:prstGeom xmlns:a="http://schemas.openxmlformats.org/drawingml/2006/main" prst="roundRect">
            <a:avLst>
              <a:gd name="adj" fmla="val 12766"/>
            </a:avLst>
          </a:prstGeom>
          <a:solidFill xmlns:a="http://schemas.openxmlformats.org/drawingml/2006/main">
            <a:srgbClr val="FFF4E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37BBBAC-CAE8-4E7B-975E-3A78FE7C0875}"/>
              </a:ext>
            </a:extLst>
          </p:cNvPr>
          <p:cNvSpPr>
            <a:spLocks xmlns:a="http://schemas.openxmlformats.org/drawingml/2006/main" noGrp="1"/>
          </p:cNvSpPr>
          <p:nvPr/>
        </p:nvSpPr>
        <p:spPr>
          <a:xfrm xmlns:a="http://schemas.openxmlformats.org/drawingml/2006/main">
            <a:off x="2343150" y="4562475"/>
            <a:ext cx="7505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9A23"/>
                </a:solidFill>
              </a:defRPr>
            </a:pPr>
            <a:r>
              <a:rPr sz="900" b="1">
                <a:solidFill>
                  <a:srgbClr val="E59A23"/>
                </a:solidFill>
              </a:rPr>
              <a:t>CONTRADICTORY EVIDENCE</a:t>
            </a:r>
          </a:p>
        </p:txBody>
      </p:sp>
      <p:sp>
        <p:nvSpPr>
          <p:cNvPr id="26" name="">
            <a:extLst xmlns:a="http://schemas.openxmlformats.org/drawingml/2006/main">
              <a:ext uri="{FF2B5EF4-FFF2-40B4-BE49-F238E27FC236}">
                <a16:creationId xmlns:a16="http://schemas.microsoft.com/office/drawing/2014/main" id="{2193A4AF-E0CD-4E84-B0FA-E3F3A7B9E331}"/>
              </a:ext>
            </a:extLst>
          </p:cNvPr>
          <p:cNvSpPr>
            <a:spLocks xmlns:a="http://schemas.openxmlformats.org/drawingml/2006/main" noGrp="1"/>
          </p:cNvSpPr>
          <p:nvPr/>
        </p:nvSpPr>
        <p:spPr>
          <a:xfrm xmlns:a="http://schemas.openxmlformats.org/drawingml/2006/main">
            <a:off x="2343150" y="4848225"/>
            <a:ext cx="7505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01216"/>
                </a:solidFill>
              </a:defRPr>
            </a:pPr>
            <a:r>
              <a:rPr sz="1425" b="1">
                <a:solidFill>
                  <a:srgbClr val="101216"/>
                </a:solidFill>
              </a:rPr>
              <a:t>can weaken, revise, split, or retire a belief at any stage</a:t>
            </a:r>
          </a:p>
        </p:txBody>
      </p:sp>
      <p:sp>
        <p:nvSpPr>
          <p:cNvPr id="27" name="">
            <a:extLst xmlns:a="http://schemas.openxmlformats.org/drawingml/2006/main">
              <a:ext uri="{FF2B5EF4-FFF2-40B4-BE49-F238E27FC236}">
                <a16:creationId xmlns:a16="http://schemas.microsoft.com/office/drawing/2014/main" id="{61BF247B-8DE1-4647-BF64-82EE905FD643}"/>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28" name="">
            <a:extLst xmlns:a="http://schemas.openxmlformats.org/drawingml/2006/main">
              <a:ext uri="{FF2B5EF4-FFF2-40B4-BE49-F238E27FC236}">
                <a16:creationId xmlns:a16="http://schemas.microsoft.com/office/drawing/2014/main" id="{74CD0175-BBA3-4541-8399-59776F8B39C6}"/>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8</a:t>
            </a:r>
          </a:p>
        </p:txBody>
      </p:sp>
    </p:spTree>
    <p:extLst>
      <p:ext uri="{BB962C8B-B14F-4D97-AF65-F5344CB8AC3E}">
        <p14:creationId xmlns:p14="http://schemas.microsoft.com/office/powerpoint/2010/main" val="11215824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3BDE91E-CC0D-4F51-9869-10C0FC4AE148}"/>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09</a:t>
            </a:r>
          </a:p>
        </p:txBody>
      </p:sp>
      <p:sp>
        <p:nvSpPr>
          <p:cNvPr id="2" name="">
            <a:extLst xmlns:a="http://schemas.openxmlformats.org/drawingml/2006/main">
              <a:ext uri="{FF2B5EF4-FFF2-40B4-BE49-F238E27FC236}">
                <a16:creationId xmlns:a16="http://schemas.microsoft.com/office/drawing/2014/main" id="{11402984-0818-4BAA-B1E5-5A173E7B5E0E}"/>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MEMORY</a:t>
            </a:r>
          </a:p>
        </p:txBody>
      </p:sp>
      <p:sp>
        <p:nvSpPr>
          <p:cNvPr id="3" name="">
            <a:extLst xmlns:a="http://schemas.openxmlformats.org/drawingml/2006/main">
              <a:ext uri="{FF2B5EF4-FFF2-40B4-BE49-F238E27FC236}">
                <a16:creationId xmlns:a16="http://schemas.microsoft.com/office/drawing/2014/main" id="{0FB9B0D9-D6D7-4595-97E5-E1FBD04C1C28}"/>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Short-term memory detects patterns; the profile preserves conclusions</a:t>
            </a:r>
          </a:p>
        </p:txBody>
      </p:sp>
      <p:sp>
        <p:nvSpPr>
          <p:cNvPr id="4" name="">
            <a:extLst xmlns:a="http://schemas.openxmlformats.org/drawingml/2006/main">
              <a:ext uri="{FF2B5EF4-FFF2-40B4-BE49-F238E27FC236}">
                <a16:creationId xmlns:a16="http://schemas.microsoft.com/office/drawing/2014/main" id="{3D56A806-02B6-41A5-9D37-6C33FFF8E81A}"/>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D327D074-FAA1-4DC4-B466-8E05C31BBC6F}"/>
              </a:ext>
            </a:extLst>
          </p:cNvPr>
          <p:cNvSpPr>
            <a:spLocks xmlns:a="http://schemas.openxmlformats.org/drawingml/2006/main" noGrp="1"/>
          </p:cNvSpPr>
          <p:nvPr/>
        </p:nvSpPr>
        <p:spPr>
          <a:xfrm xmlns:a="http://schemas.openxmlformats.org/drawingml/2006/main">
            <a:off x="609600" y="2095500"/>
            <a:ext cx="4953000" cy="3219450"/>
          </a:xfrm>
          <a:prstGeom xmlns:a="http://schemas.openxmlformats.org/drawingml/2006/main" prst="roundRect">
            <a:avLst>
              <a:gd name="adj" fmla="val 3550"/>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91E403E-E747-4003-9B4D-CDE35EF1A0FA}"/>
              </a:ext>
            </a:extLst>
          </p:cNvPr>
          <p:cNvSpPr>
            <a:spLocks xmlns:a="http://schemas.openxmlformats.org/drawingml/2006/main" noGrp="1"/>
          </p:cNvSpPr>
          <p:nvPr/>
        </p:nvSpPr>
        <p:spPr>
          <a:xfrm xmlns:a="http://schemas.openxmlformats.org/drawingml/2006/main">
            <a:off x="895350" y="23241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8D96A3"/>
                </a:solidFill>
              </a:defRPr>
            </a:pPr>
            <a:r>
              <a:rPr sz="975" b="1">
                <a:solidFill>
                  <a:srgbClr val="8D96A3"/>
                </a:solidFill>
              </a:rPr>
              <a:t>RECENT DECISION DIGESTS</a:t>
            </a:r>
          </a:p>
        </p:txBody>
      </p:sp>
      <p:sp>
        <p:nvSpPr>
          <p:cNvPr id="7" name="">
            <a:extLst xmlns:a="http://schemas.openxmlformats.org/drawingml/2006/main">
              <a:ext uri="{FF2B5EF4-FFF2-40B4-BE49-F238E27FC236}">
                <a16:creationId xmlns:a16="http://schemas.microsoft.com/office/drawing/2014/main" id="{367DCACA-7C4A-4BC5-B3BA-61FC3CEE64E9}"/>
              </a:ext>
            </a:extLst>
          </p:cNvPr>
          <p:cNvSpPr>
            <a:spLocks xmlns:a="http://schemas.openxmlformats.org/drawingml/2006/main" noGrp="1"/>
          </p:cNvSpPr>
          <p:nvPr/>
        </p:nvSpPr>
        <p:spPr>
          <a:xfrm xmlns:a="http://schemas.openxmlformats.org/drawingml/2006/main">
            <a:off x="895350" y="27432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01216"/>
                </a:solidFill>
              </a:defRPr>
            </a:pPr>
            <a:r>
              <a:rPr sz="1650" b="1">
                <a:solidFill>
                  <a:srgbClr val="101216"/>
                </a:solidFill>
              </a:rPr>
              <a:t>A compact sequence of recent episodes</a:t>
            </a:r>
          </a:p>
        </p:txBody>
      </p:sp>
      <p:sp>
        <p:nvSpPr>
          <p:cNvPr id="8" name="">
            <a:extLst xmlns:a="http://schemas.openxmlformats.org/drawingml/2006/main">
              <a:ext uri="{FF2B5EF4-FFF2-40B4-BE49-F238E27FC236}">
                <a16:creationId xmlns:a16="http://schemas.microsoft.com/office/drawing/2014/main" id="{34992F72-0A66-4DA6-B696-CD3A7612F131}"/>
              </a:ext>
            </a:extLst>
          </p:cNvPr>
          <p:cNvSpPr>
            <a:spLocks xmlns:a="http://schemas.openxmlformats.org/drawingml/2006/main" noGrp="1"/>
          </p:cNvSpPr>
          <p:nvPr/>
        </p:nvSpPr>
        <p:spPr>
          <a:xfrm xmlns:a="http://schemas.openxmlformats.org/drawingml/2006/main">
            <a:off x="914400" y="3352800"/>
            <a:ext cx="171450" cy="171450"/>
          </a:xfrm>
          <a:prstGeom xmlns:a="http://schemas.openxmlformats.org/drawingml/2006/main" prst="ellipse">
            <a:avLst/>
          </a:prstGeom>
          <a:solidFill xmlns:a="http://schemas.openxmlformats.org/drawingml/2006/main">
            <a:srgbClr val="6DCB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C1C996F-A297-4CC2-8292-0A151EE4DF5E}"/>
              </a:ext>
            </a:extLst>
          </p:cNvPr>
          <p:cNvSpPr>
            <a:spLocks xmlns:a="http://schemas.openxmlformats.org/drawingml/2006/main" noGrp="1"/>
          </p:cNvSpPr>
          <p:nvPr/>
        </p:nvSpPr>
        <p:spPr>
          <a:xfrm xmlns:a="http://schemas.openxmlformats.org/drawingml/2006/main">
            <a:off x="1219200" y="323850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F6875"/>
                </a:solidFill>
              </a:defRPr>
            </a:pPr>
            <a:r>
              <a:rPr sz="1200" b="0">
                <a:solidFill>
                  <a:srgbClr val="5F6875"/>
                </a:solidFill>
              </a:rPr>
              <a:t>What happened</a:t>
            </a:r>
          </a:p>
        </p:txBody>
      </p:sp>
      <p:sp>
        <p:nvSpPr>
          <p:cNvPr id="10" name="">
            <a:extLst xmlns:a="http://schemas.openxmlformats.org/drawingml/2006/main">
              <a:ext uri="{FF2B5EF4-FFF2-40B4-BE49-F238E27FC236}">
                <a16:creationId xmlns:a16="http://schemas.microsoft.com/office/drawing/2014/main" id="{7C8A839E-F4EC-411E-83E7-0697356CB788}"/>
              </a:ext>
            </a:extLst>
          </p:cNvPr>
          <p:cNvSpPr>
            <a:spLocks xmlns:a="http://schemas.openxmlformats.org/drawingml/2006/main" noGrp="1"/>
          </p:cNvSpPr>
          <p:nvPr/>
        </p:nvSpPr>
        <p:spPr>
          <a:xfrm xmlns:a="http://schemas.openxmlformats.org/drawingml/2006/main">
            <a:off x="914400" y="3752850"/>
            <a:ext cx="171450" cy="171450"/>
          </a:xfrm>
          <a:prstGeom xmlns:a="http://schemas.openxmlformats.org/drawingml/2006/main" prst="ellipse">
            <a:avLst/>
          </a:prstGeom>
          <a:solidFill xmlns:a="http://schemas.openxmlformats.org/drawingml/2006/main">
            <a:srgbClr val="6DCBF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D996B19-65C5-466C-BCF6-81ACBF89B54C}"/>
              </a:ext>
            </a:extLst>
          </p:cNvPr>
          <p:cNvSpPr>
            <a:spLocks xmlns:a="http://schemas.openxmlformats.org/drawingml/2006/main" noGrp="1"/>
          </p:cNvSpPr>
          <p:nvPr/>
        </p:nvSpPr>
        <p:spPr>
          <a:xfrm xmlns:a="http://schemas.openxmlformats.org/drawingml/2006/main">
            <a:off x="1219200" y="363855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F6875"/>
                </a:solidFill>
              </a:defRPr>
            </a:pPr>
            <a:r>
              <a:rPr sz="1200" b="0">
                <a:solidFill>
                  <a:srgbClr val="5F6875"/>
                </a:solidFill>
              </a:rPr>
              <a:t>What data was visible</a:t>
            </a:r>
          </a:p>
        </p:txBody>
      </p:sp>
      <p:sp>
        <p:nvSpPr>
          <p:cNvPr id="12" name="">
            <a:extLst xmlns:a="http://schemas.openxmlformats.org/drawingml/2006/main">
              <a:ext uri="{FF2B5EF4-FFF2-40B4-BE49-F238E27FC236}">
                <a16:creationId xmlns:a16="http://schemas.microsoft.com/office/drawing/2014/main" id="{E11B406B-67D1-427C-BA3B-F4C7ACD1F3EF}"/>
              </a:ext>
            </a:extLst>
          </p:cNvPr>
          <p:cNvSpPr>
            <a:spLocks xmlns:a="http://schemas.openxmlformats.org/drawingml/2006/main" noGrp="1"/>
          </p:cNvSpPr>
          <p:nvPr/>
        </p:nvSpPr>
        <p:spPr>
          <a:xfrm xmlns:a="http://schemas.openxmlformats.org/drawingml/2006/main">
            <a:off x="914400" y="4152900"/>
            <a:ext cx="171450" cy="171450"/>
          </a:xfrm>
          <a:prstGeom xmlns:a="http://schemas.openxmlformats.org/drawingml/2006/main" prst="ellipse">
            <a:avLst/>
          </a:prstGeom>
          <a:solidFill xmlns:a="http://schemas.openxmlformats.org/drawingml/2006/main">
            <a:srgbClr val="6DCB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C1FA782-2CC5-4E45-B7FF-875071123922}"/>
              </a:ext>
            </a:extLst>
          </p:cNvPr>
          <p:cNvSpPr>
            <a:spLocks xmlns:a="http://schemas.openxmlformats.org/drawingml/2006/main" noGrp="1"/>
          </p:cNvSpPr>
          <p:nvPr/>
        </p:nvSpPr>
        <p:spPr>
          <a:xfrm xmlns:a="http://schemas.openxmlformats.org/drawingml/2006/main">
            <a:off x="1219200" y="403860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F6875"/>
                </a:solidFill>
              </a:defRPr>
            </a:pPr>
            <a:r>
              <a:rPr sz="1200" b="0">
                <a:solidFill>
                  <a:srgbClr val="5F6875"/>
                </a:solidFill>
              </a:rPr>
              <a:t>What evidence was derived</a:t>
            </a:r>
          </a:p>
        </p:txBody>
      </p:sp>
      <p:sp>
        <p:nvSpPr>
          <p:cNvPr id="14" name="">
            <a:extLst xmlns:a="http://schemas.openxmlformats.org/drawingml/2006/main">
              <a:ext uri="{FF2B5EF4-FFF2-40B4-BE49-F238E27FC236}">
                <a16:creationId xmlns:a16="http://schemas.microsoft.com/office/drawing/2014/main" id="{D2277633-04C4-4E6A-BFE3-EA6F2FFEA1C5}"/>
              </a:ext>
            </a:extLst>
          </p:cNvPr>
          <p:cNvSpPr>
            <a:spLocks xmlns:a="http://schemas.openxmlformats.org/drawingml/2006/main" noGrp="1"/>
          </p:cNvSpPr>
          <p:nvPr/>
        </p:nvSpPr>
        <p:spPr>
          <a:xfrm xmlns:a="http://schemas.openxmlformats.org/drawingml/2006/main">
            <a:off x="914400" y="4552950"/>
            <a:ext cx="171450" cy="171450"/>
          </a:xfrm>
          <a:prstGeom xmlns:a="http://schemas.openxmlformats.org/drawingml/2006/main" prst="ellipse">
            <a:avLst/>
          </a:prstGeom>
          <a:solidFill xmlns:a="http://schemas.openxmlformats.org/drawingml/2006/main">
            <a:srgbClr val="6DCB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2695208-F1EF-45D0-9800-D1138A41FF43}"/>
              </a:ext>
            </a:extLst>
          </p:cNvPr>
          <p:cNvSpPr>
            <a:spLocks xmlns:a="http://schemas.openxmlformats.org/drawingml/2006/main" noGrp="1"/>
          </p:cNvSpPr>
          <p:nvPr/>
        </p:nvSpPr>
        <p:spPr>
          <a:xfrm xmlns:a="http://schemas.openxmlformats.org/drawingml/2006/main">
            <a:off x="1219200" y="443865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F6875"/>
                </a:solidFill>
              </a:defRPr>
            </a:pPr>
            <a:r>
              <a:rPr sz="1200" b="0">
                <a:solidFill>
                  <a:srgbClr val="5F6875"/>
                </a:solidFill>
              </a:rPr>
              <a:t>What the advisor returned</a:t>
            </a:r>
          </a:p>
        </p:txBody>
      </p:sp>
      <p:sp>
        <p:nvSpPr>
          <p:cNvPr id="16" name="">
            <a:extLst xmlns:a="http://schemas.openxmlformats.org/drawingml/2006/main">
              <a:ext uri="{FF2B5EF4-FFF2-40B4-BE49-F238E27FC236}">
                <a16:creationId xmlns:a16="http://schemas.microsoft.com/office/drawing/2014/main" id="{C6C97CCD-CAAB-4343-AE97-5BBFD96032D6}"/>
              </a:ext>
            </a:extLst>
          </p:cNvPr>
          <p:cNvSpPr>
            <a:spLocks xmlns:a="http://schemas.openxmlformats.org/drawingml/2006/main" noGrp="1"/>
          </p:cNvSpPr>
          <p:nvPr/>
        </p:nvSpPr>
        <p:spPr>
          <a:xfrm xmlns:a="http://schemas.openxmlformats.org/drawingml/2006/main">
            <a:off x="5743575" y="3562350"/>
            <a:ext cx="666750" cy="228600"/>
          </a:xfrm>
          <a:prstGeom xmlns:a="http://schemas.openxmlformats.org/drawingml/2006/main" prst="rightArrow">
            <a:avLst/>
          </a:prstGeom>
          <a:solidFill xmlns:a="http://schemas.openxmlformats.org/drawingml/2006/main">
            <a:srgbClr val="3D8D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79D6055-8C9A-4439-A835-0C10AAC7577C}"/>
              </a:ext>
            </a:extLst>
          </p:cNvPr>
          <p:cNvSpPr>
            <a:spLocks xmlns:a="http://schemas.openxmlformats.org/drawingml/2006/main" noGrp="1"/>
          </p:cNvSpPr>
          <p:nvPr/>
        </p:nvSpPr>
        <p:spPr>
          <a:xfrm xmlns:a="http://schemas.openxmlformats.org/drawingml/2006/main">
            <a:off x="6629400" y="2095500"/>
            <a:ext cx="4953000" cy="3219450"/>
          </a:xfrm>
          <a:prstGeom xmlns:a="http://schemas.openxmlformats.org/drawingml/2006/main" prst="roundRect">
            <a:avLst>
              <a:gd name="adj" fmla="val 3550"/>
            </a:avLst>
          </a:prstGeom>
          <a:solidFill xmlns:a="http://schemas.openxmlformats.org/drawingml/2006/main">
            <a:srgbClr val="EAF6F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0CD0862-938C-4047-812B-F650611C3C12}"/>
              </a:ext>
            </a:extLst>
          </p:cNvPr>
          <p:cNvSpPr>
            <a:spLocks xmlns:a="http://schemas.openxmlformats.org/drawingml/2006/main" noGrp="1"/>
          </p:cNvSpPr>
          <p:nvPr/>
        </p:nvSpPr>
        <p:spPr>
          <a:xfrm xmlns:a="http://schemas.openxmlformats.org/drawingml/2006/main">
            <a:off x="6915150" y="23241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DURABLE BELIEF PROFILE</a:t>
            </a:r>
          </a:p>
        </p:txBody>
      </p:sp>
      <p:sp>
        <p:nvSpPr>
          <p:cNvPr id="19" name="">
            <a:extLst xmlns:a="http://schemas.openxmlformats.org/drawingml/2006/main">
              <a:ext uri="{FF2B5EF4-FFF2-40B4-BE49-F238E27FC236}">
                <a16:creationId xmlns:a16="http://schemas.microsoft.com/office/drawing/2014/main" id="{29488AC4-6CC6-43A7-9625-48952358D1A4}"/>
              </a:ext>
            </a:extLst>
          </p:cNvPr>
          <p:cNvSpPr>
            <a:spLocks xmlns:a="http://schemas.openxmlformats.org/drawingml/2006/main" noGrp="1"/>
          </p:cNvSpPr>
          <p:nvPr/>
        </p:nvSpPr>
        <p:spPr>
          <a:xfrm xmlns:a="http://schemas.openxmlformats.org/drawingml/2006/main">
            <a:off x="6915150" y="27432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01216"/>
                </a:solidFill>
              </a:defRPr>
            </a:pPr>
            <a:r>
              <a:rPr sz="1650" b="1">
                <a:solidFill>
                  <a:srgbClr val="101216"/>
                </a:solidFill>
              </a:rPr>
              <a:t>A structured, revisable user model</a:t>
            </a:r>
          </a:p>
        </p:txBody>
      </p:sp>
      <p:sp>
        <p:nvSpPr>
          <p:cNvPr id="20" name="">
            <a:extLst xmlns:a="http://schemas.openxmlformats.org/drawingml/2006/main">
              <a:ext uri="{FF2B5EF4-FFF2-40B4-BE49-F238E27FC236}">
                <a16:creationId xmlns:a16="http://schemas.microsoft.com/office/drawing/2014/main" id="{773A1A9A-64CF-471A-9CB1-17BF8B8151E6}"/>
              </a:ext>
            </a:extLst>
          </p:cNvPr>
          <p:cNvSpPr>
            <a:spLocks xmlns:a="http://schemas.openxmlformats.org/drawingml/2006/main" noGrp="1"/>
          </p:cNvSpPr>
          <p:nvPr/>
        </p:nvSpPr>
        <p:spPr>
          <a:xfrm xmlns:a="http://schemas.openxmlformats.org/drawingml/2006/main">
            <a:off x="6934200" y="3352800"/>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B6920AE-2220-41C0-BE21-DF9A394F2A0B}"/>
              </a:ext>
            </a:extLst>
          </p:cNvPr>
          <p:cNvSpPr>
            <a:spLocks xmlns:a="http://schemas.openxmlformats.org/drawingml/2006/main" noGrp="1"/>
          </p:cNvSpPr>
          <p:nvPr/>
        </p:nvSpPr>
        <p:spPr>
          <a:xfrm xmlns:a="http://schemas.openxmlformats.org/drawingml/2006/main">
            <a:off x="7239000" y="323850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F6875"/>
                </a:solidFill>
              </a:defRPr>
            </a:pPr>
            <a:r>
              <a:rPr sz="1200" b="0">
                <a:solidFill>
                  <a:srgbClr val="5F6875"/>
                </a:solidFill>
              </a:rPr>
              <a:t>Belief statement</a:t>
            </a:r>
          </a:p>
        </p:txBody>
      </p:sp>
      <p:sp>
        <p:nvSpPr>
          <p:cNvPr id="22" name="">
            <a:extLst xmlns:a="http://schemas.openxmlformats.org/drawingml/2006/main">
              <a:ext uri="{FF2B5EF4-FFF2-40B4-BE49-F238E27FC236}">
                <a16:creationId xmlns:a16="http://schemas.microsoft.com/office/drawing/2014/main" id="{F90D7F40-67A4-4F65-B6CE-2778D60C86D2}"/>
              </a:ext>
            </a:extLst>
          </p:cNvPr>
          <p:cNvSpPr>
            <a:spLocks xmlns:a="http://schemas.openxmlformats.org/drawingml/2006/main" noGrp="1"/>
          </p:cNvSpPr>
          <p:nvPr/>
        </p:nvSpPr>
        <p:spPr>
          <a:xfrm xmlns:a="http://schemas.openxmlformats.org/drawingml/2006/main">
            <a:off x="6934200" y="3752850"/>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677354E-EA73-469D-8DB4-616BE583F26F}"/>
              </a:ext>
            </a:extLst>
          </p:cNvPr>
          <p:cNvSpPr>
            <a:spLocks xmlns:a="http://schemas.openxmlformats.org/drawingml/2006/main" noGrp="1"/>
          </p:cNvSpPr>
          <p:nvPr/>
        </p:nvSpPr>
        <p:spPr>
          <a:xfrm xmlns:a="http://schemas.openxmlformats.org/drawingml/2006/main">
            <a:off x="7239000" y="363855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F6875"/>
                </a:solidFill>
              </a:defRPr>
            </a:pPr>
            <a:r>
              <a:rPr sz="1200" b="0">
                <a:solidFill>
                  <a:srgbClr val="5F6875"/>
                </a:solidFill>
              </a:rPr>
              <a:t>Conviction and tenure</a:t>
            </a:r>
          </a:p>
        </p:txBody>
      </p:sp>
      <p:sp>
        <p:nvSpPr>
          <p:cNvPr id="24" name="">
            <a:extLst xmlns:a="http://schemas.openxmlformats.org/drawingml/2006/main">
              <a:ext uri="{FF2B5EF4-FFF2-40B4-BE49-F238E27FC236}">
                <a16:creationId xmlns:a16="http://schemas.microsoft.com/office/drawing/2014/main" id="{03140134-7FF9-4DD3-8639-8A871A93A373}"/>
              </a:ext>
            </a:extLst>
          </p:cNvPr>
          <p:cNvSpPr>
            <a:spLocks xmlns:a="http://schemas.openxmlformats.org/drawingml/2006/main" noGrp="1"/>
          </p:cNvSpPr>
          <p:nvPr/>
        </p:nvSpPr>
        <p:spPr>
          <a:xfrm xmlns:a="http://schemas.openxmlformats.org/drawingml/2006/main">
            <a:off x="6934200" y="4152900"/>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8D6D9A6-F0FD-4C00-884B-A3645B64FF9C}"/>
              </a:ext>
            </a:extLst>
          </p:cNvPr>
          <p:cNvSpPr>
            <a:spLocks xmlns:a="http://schemas.openxmlformats.org/drawingml/2006/main" noGrp="1"/>
          </p:cNvSpPr>
          <p:nvPr/>
        </p:nvSpPr>
        <p:spPr>
          <a:xfrm xmlns:a="http://schemas.openxmlformats.org/drawingml/2006/main">
            <a:off x="7239000" y="403860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F6875"/>
                </a:solidFill>
              </a:defRPr>
            </a:pPr>
            <a:r>
              <a:rPr sz="1200" b="0">
                <a:solidFill>
                  <a:srgbClr val="5F6875"/>
                </a:solidFill>
              </a:rPr>
              <a:t>Supporting evidence</a:t>
            </a:r>
          </a:p>
        </p:txBody>
      </p:sp>
      <p:sp>
        <p:nvSpPr>
          <p:cNvPr id="26" name="">
            <a:extLst xmlns:a="http://schemas.openxmlformats.org/drawingml/2006/main">
              <a:ext uri="{FF2B5EF4-FFF2-40B4-BE49-F238E27FC236}">
                <a16:creationId xmlns:a16="http://schemas.microsoft.com/office/drawing/2014/main" id="{40D8D3D6-FCF9-4731-8D70-187CDEA43378}"/>
              </a:ext>
            </a:extLst>
          </p:cNvPr>
          <p:cNvSpPr>
            <a:spLocks xmlns:a="http://schemas.openxmlformats.org/drawingml/2006/main" noGrp="1"/>
          </p:cNvSpPr>
          <p:nvPr/>
        </p:nvSpPr>
        <p:spPr>
          <a:xfrm xmlns:a="http://schemas.openxmlformats.org/drawingml/2006/main">
            <a:off x="6934200" y="4552950"/>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8EF9F12-6C4B-4C12-9A22-A1C379AF9C7F}"/>
              </a:ext>
            </a:extLst>
          </p:cNvPr>
          <p:cNvSpPr>
            <a:spLocks xmlns:a="http://schemas.openxmlformats.org/drawingml/2006/main" noGrp="1"/>
          </p:cNvSpPr>
          <p:nvPr/>
        </p:nvSpPr>
        <p:spPr>
          <a:xfrm xmlns:a="http://schemas.openxmlformats.org/drawingml/2006/main">
            <a:off x="7239000" y="443865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F6875"/>
                </a:solidFill>
              </a:defRPr>
            </a:pPr>
            <a:r>
              <a:rPr sz="1200" b="0">
                <a:solidFill>
                  <a:srgbClr val="5F6875"/>
                </a:solidFill>
              </a:rPr>
              <a:t>What would change the belief</a:t>
            </a:r>
          </a:p>
        </p:txBody>
      </p:sp>
      <p:sp>
        <p:nvSpPr>
          <p:cNvPr id="28" name="">
            <a:extLst xmlns:a="http://schemas.openxmlformats.org/drawingml/2006/main">
              <a:ext uri="{FF2B5EF4-FFF2-40B4-BE49-F238E27FC236}">
                <a16:creationId xmlns:a16="http://schemas.microsoft.com/office/drawing/2014/main" id="{0C99788C-6218-4E00-BE42-62E5340F2A03}"/>
              </a:ext>
            </a:extLst>
          </p:cNvPr>
          <p:cNvSpPr>
            <a:spLocks xmlns:a="http://schemas.openxmlformats.org/drawingml/2006/main" noGrp="1"/>
          </p:cNvSpPr>
          <p:nvPr/>
        </p:nvSpPr>
        <p:spPr>
          <a:xfrm xmlns:a="http://schemas.openxmlformats.org/drawingml/2006/main">
            <a:off x="1657350" y="5619750"/>
            <a:ext cx="8877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01216"/>
                </a:solidFill>
              </a:defRPr>
            </a:pPr>
            <a:r>
              <a:rPr sz="1575" b="1">
                <a:solidFill>
                  <a:srgbClr val="101216"/>
                </a:solidFill>
              </a:rPr>
              <a:t>Recent detail supports learning; durable memory avoids replaying an unlimited history.</a:t>
            </a:r>
          </a:p>
        </p:txBody>
      </p:sp>
      <p:sp>
        <p:nvSpPr>
          <p:cNvPr id="29" name="">
            <a:extLst xmlns:a="http://schemas.openxmlformats.org/drawingml/2006/main">
              <a:ext uri="{FF2B5EF4-FFF2-40B4-BE49-F238E27FC236}">
                <a16:creationId xmlns:a16="http://schemas.microsoft.com/office/drawing/2014/main" id="{FA982C5F-5D81-47AD-A4D2-2D911E511A82}"/>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30" name="">
            <a:extLst xmlns:a="http://schemas.openxmlformats.org/drawingml/2006/main">
              <a:ext uri="{FF2B5EF4-FFF2-40B4-BE49-F238E27FC236}">
                <a16:creationId xmlns:a16="http://schemas.microsoft.com/office/drawing/2014/main" id="{7A400BEC-C099-4FDF-823A-6F3DCFD3BC09}"/>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9</a:t>
            </a:r>
          </a:p>
        </p:txBody>
      </p:sp>
    </p:spTree>
    <p:extLst>
      <p:ext uri="{BB962C8B-B14F-4D97-AF65-F5344CB8AC3E}">
        <p14:creationId xmlns:p14="http://schemas.microsoft.com/office/powerpoint/2010/main" val="6471179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B87BDBB-0612-4A4F-92D5-09C1DAE9712F}"/>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10</a:t>
            </a:r>
          </a:p>
        </p:txBody>
      </p:sp>
      <p:sp>
        <p:nvSpPr>
          <p:cNvPr id="2" name="">
            <a:extLst xmlns:a="http://schemas.openxmlformats.org/drawingml/2006/main">
              <a:ext uri="{FF2B5EF4-FFF2-40B4-BE49-F238E27FC236}">
                <a16:creationId xmlns:a16="http://schemas.microsoft.com/office/drawing/2014/main" id="{340982A4-64A4-4150-92AE-3D3A943BEB61}"/>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TWO-LOOP ARCHITECTURE</a:t>
            </a:r>
          </a:p>
        </p:txBody>
      </p:sp>
      <p:sp>
        <p:nvSpPr>
          <p:cNvPr id="3" name="">
            <a:extLst xmlns:a="http://schemas.openxmlformats.org/drawingml/2006/main">
              <a:ext uri="{FF2B5EF4-FFF2-40B4-BE49-F238E27FC236}">
                <a16:creationId xmlns:a16="http://schemas.microsoft.com/office/drawing/2014/main" id="{414483A9-93AD-4468-BB08-B88A91FB6431}"/>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Learning and adaptation are separate responsibilities</a:t>
            </a:r>
          </a:p>
        </p:txBody>
      </p:sp>
      <p:sp>
        <p:nvSpPr>
          <p:cNvPr id="4" name="">
            <a:extLst xmlns:a="http://schemas.openxmlformats.org/drawingml/2006/main">
              <a:ext uri="{FF2B5EF4-FFF2-40B4-BE49-F238E27FC236}">
                <a16:creationId xmlns:a16="http://schemas.microsoft.com/office/drawing/2014/main" id="{AB7AC81A-E334-4CEE-A914-563E848F318E}"/>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3261C11B-D0F9-4D2D-A526-8F49AF31A34B}"/>
              </a:ext>
            </a:extLst>
          </p:cNvPr>
          <p:cNvSpPr>
            <a:spLocks xmlns:a="http://schemas.openxmlformats.org/drawingml/2006/main" noGrp="1"/>
          </p:cNvSpPr>
          <p:nvPr/>
        </p:nvSpPr>
        <p:spPr>
          <a:xfrm xmlns:a="http://schemas.openxmlformats.org/drawingml/2006/main">
            <a:off x="609600" y="2095500"/>
            <a:ext cx="5048250" cy="3048000"/>
          </a:xfrm>
          <a:prstGeom xmlns:a="http://schemas.openxmlformats.org/drawingml/2006/main" prst="roundRect">
            <a:avLst>
              <a:gd name="adj" fmla="val 3750"/>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61C7E4B-E91F-4A80-82FA-4CE483AAD5E9}"/>
              </a:ext>
            </a:extLst>
          </p:cNvPr>
          <p:cNvSpPr>
            <a:spLocks xmlns:a="http://schemas.openxmlformats.org/drawingml/2006/main" noGrp="1"/>
          </p:cNvSpPr>
          <p:nvPr/>
        </p:nvSpPr>
        <p:spPr>
          <a:xfrm xmlns:a="http://schemas.openxmlformats.org/drawingml/2006/main">
            <a:off x="876300" y="2343150"/>
            <a:ext cx="1314450" cy="28575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B4B442-9BB6-477D-A062-E83009A8F735}"/>
              </a:ext>
            </a:extLst>
          </p:cNvPr>
          <p:cNvSpPr>
            <a:spLocks xmlns:a="http://schemas.openxmlformats.org/drawingml/2006/main" noGrp="1"/>
          </p:cNvSpPr>
          <p:nvPr/>
        </p:nvSpPr>
        <p:spPr>
          <a:xfrm xmlns:a="http://schemas.openxmlformats.org/drawingml/2006/main">
            <a:off x="971550" y="23431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3D8DFF"/>
                </a:solidFill>
              </a:defRPr>
            </a:pPr>
            <a:r>
              <a:rPr sz="900" b="1">
                <a:solidFill>
                  <a:srgbClr val="3D8DFF"/>
                </a:solidFill>
              </a:rPr>
              <a:t>LEARNING LOOP</a:t>
            </a:r>
          </a:p>
        </p:txBody>
      </p:sp>
      <p:sp>
        <p:nvSpPr>
          <p:cNvPr id="8" name="">
            <a:extLst xmlns:a="http://schemas.openxmlformats.org/drawingml/2006/main">
              <a:ext uri="{FF2B5EF4-FFF2-40B4-BE49-F238E27FC236}">
                <a16:creationId xmlns:a16="http://schemas.microsoft.com/office/drawing/2014/main" id="{20BDC670-2024-424F-85D4-2EF90593A3E6}"/>
              </a:ext>
            </a:extLst>
          </p:cNvPr>
          <p:cNvSpPr>
            <a:spLocks xmlns:a="http://schemas.openxmlformats.org/drawingml/2006/main" noGrp="1"/>
          </p:cNvSpPr>
          <p:nvPr/>
        </p:nvSpPr>
        <p:spPr>
          <a:xfrm xmlns:a="http://schemas.openxmlformats.org/drawingml/2006/main">
            <a:off x="876300" y="28194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01216"/>
                </a:solidFill>
              </a:defRPr>
            </a:pPr>
            <a:r>
              <a:rPr sz="1800" b="1">
                <a:solidFill>
                  <a:srgbClr val="101216"/>
                </a:solidFill>
              </a:rPr>
              <a:t>What is becoming true about this user?</a:t>
            </a:r>
          </a:p>
        </p:txBody>
      </p:sp>
      <p:sp>
        <p:nvSpPr>
          <p:cNvPr id="9" name="">
            <a:extLst xmlns:a="http://schemas.openxmlformats.org/drawingml/2006/main">
              <a:ext uri="{FF2B5EF4-FFF2-40B4-BE49-F238E27FC236}">
                <a16:creationId xmlns:a16="http://schemas.microsoft.com/office/drawing/2014/main" id="{23F32AC4-D1F9-4E3D-938E-26C06F4DEFA4}"/>
              </a:ext>
            </a:extLst>
          </p:cNvPr>
          <p:cNvSpPr>
            <a:spLocks xmlns:a="http://schemas.openxmlformats.org/drawingml/2006/main" noGrp="1"/>
          </p:cNvSpPr>
          <p:nvPr/>
        </p:nvSpPr>
        <p:spPr>
          <a:xfrm xmlns:a="http://schemas.openxmlformats.org/drawingml/2006/main">
            <a:off x="876300" y="3600450"/>
            <a:ext cx="4286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875"/>
                </a:solidFill>
              </a:defRPr>
            </a:pPr>
            <a:r>
              <a:rPr sz="1350" b="0">
                <a:solidFill>
                  <a:srgbClr val="5F6875"/>
                </a:solidFill>
              </a:rPr>
              <a:t>Episode + prior beliefs</a:t>
            </a:r>
          </a:p>
          <a:p xmlns:a="http://schemas.openxmlformats.org/drawingml/2006/main">
            <a:pPr algn="l">
              <a:defRPr sz="1350" b="0">
                <a:solidFill>
                  <a:srgbClr val="5F6875"/>
                </a:solidFill>
              </a:defRPr>
            </a:pPr>
            <a:r>
              <a:rPr sz="1350" b="0">
                <a:solidFill>
                  <a:srgbClr val="5F6875"/>
                </a:solidFill>
              </a:rPr>
              <a:t>→ revise the durable profile</a:t>
            </a:r>
          </a:p>
          <a:p xmlns:a="http://schemas.openxmlformats.org/drawingml/2006/main">
            <a:pPr algn="l">
              <a:defRPr sz="1350" b="0">
                <a:solidFill>
                  <a:srgbClr val="5F6875"/>
                </a:solidFill>
              </a:defRPr>
            </a:pPr>
            <a:r>
              <a:rPr sz="1350" b="0">
                <a:solidFill>
                  <a:srgbClr val="5F6875"/>
                </a:solidFill>
              </a:rPr>
              <a:t>→ preserve uncertainty and evidence</a:t>
            </a:r>
          </a:p>
        </p:txBody>
      </p:sp>
      <p:sp>
        <p:nvSpPr>
          <p:cNvPr id="10" name="">
            <a:extLst xmlns:a="http://schemas.openxmlformats.org/drawingml/2006/main">
              <a:ext uri="{FF2B5EF4-FFF2-40B4-BE49-F238E27FC236}">
                <a16:creationId xmlns:a16="http://schemas.microsoft.com/office/drawing/2014/main" id="{B78C8A3C-846D-4A34-BE67-7E085ED18A96}"/>
              </a:ext>
            </a:extLst>
          </p:cNvPr>
          <p:cNvSpPr>
            <a:spLocks xmlns:a="http://schemas.openxmlformats.org/drawingml/2006/main" noGrp="1"/>
          </p:cNvSpPr>
          <p:nvPr/>
        </p:nvSpPr>
        <p:spPr>
          <a:xfrm xmlns:a="http://schemas.openxmlformats.org/drawingml/2006/main">
            <a:off x="6534150" y="2095500"/>
            <a:ext cx="5048250" cy="3048000"/>
          </a:xfrm>
          <a:prstGeom xmlns:a="http://schemas.openxmlformats.org/drawingml/2006/main" prst="roundRect">
            <a:avLst>
              <a:gd name="adj" fmla="val 3750"/>
            </a:avLst>
          </a:prstGeom>
          <a:solidFill xmlns:a="http://schemas.openxmlformats.org/drawingml/2006/main">
            <a:srgbClr val="EAF6F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FD93687-072F-4B8C-A672-49344EB9A31E}"/>
              </a:ext>
            </a:extLst>
          </p:cNvPr>
          <p:cNvSpPr>
            <a:spLocks xmlns:a="http://schemas.openxmlformats.org/drawingml/2006/main" noGrp="1"/>
          </p:cNvSpPr>
          <p:nvPr/>
        </p:nvSpPr>
        <p:spPr>
          <a:xfrm xmlns:a="http://schemas.openxmlformats.org/drawingml/2006/main">
            <a:off x="6800850" y="2343150"/>
            <a:ext cx="1333500" cy="28575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B9ADEB4-CB52-43F0-AC31-4A517F7DE014}"/>
              </a:ext>
            </a:extLst>
          </p:cNvPr>
          <p:cNvSpPr>
            <a:spLocks xmlns:a="http://schemas.openxmlformats.org/drawingml/2006/main" noGrp="1"/>
          </p:cNvSpPr>
          <p:nvPr/>
        </p:nvSpPr>
        <p:spPr>
          <a:xfrm xmlns:a="http://schemas.openxmlformats.org/drawingml/2006/main">
            <a:off x="6896100" y="23431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ADVISORY LOOP</a:t>
            </a:r>
          </a:p>
        </p:txBody>
      </p:sp>
      <p:sp>
        <p:nvSpPr>
          <p:cNvPr id="13" name="">
            <a:extLst xmlns:a="http://schemas.openxmlformats.org/drawingml/2006/main">
              <a:ext uri="{FF2B5EF4-FFF2-40B4-BE49-F238E27FC236}">
                <a16:creationId xmlns:a16="http://schemas.microsoft.com/office/drawing/2014/main" id="{5DBA7691-7358-46FA-B993-3AFA98EADA30}"/>
              </a:ext>
            </a:extLst>
          </p:cNvPr>
          <p:cNvSpPr>
            <a:spLocks xmlns:a="http://schemas.openxmlformats.org/drawingml/2006/main" noGrp="1"/>
          </p:cNvSpPr>
          <p:nvPr/>
        </p:nvSpPr>
        <p:spPr>
          <a:xfrm xmlns:a="http://schemas.openxmlformats.org/drawingml/2006/main">
            <a:off x="6800850" y="28194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01216"/>
                </a:solidFill>
              </a:defRPr>
            </a:pPr>
            <a:r>
              <a:rPr sz="1800" b="1">
                <a:solidFill>
                  <a:srgbClr val="101216"/>
                </a:solidFill>
              </a:rPr>
              <a:t>What should this application do now?</a:t>
            </a:r>
          </a:p>
        </p:txBody>
      </p:sp>
      <p:sp>
        <p:nvSpPr>
          <p:cNvPr id="14" name="">
            <a:extLst xmlns:a="http://schemas.openxmlformats.org/drawingml/2006/main">
              <a:ext uri="{FF2B5EF4-FFF2-40B4-BE49-F238E27FC236}">
                <a16:creationId xmlns:a16="http://schemas.microsoft.com/office/drawing/2014/main" id="{EF074A2D-CBC8-4ECE-A6D6-296627563076}"/>
              </a:ext>
            </a:extLst>
          </p:cNvPr>
          <p:cNvSpPr>
            <a:spLocks xmlns:a="http://schemas.openxmlformats.org/drawingml/2006/main" noGrp="1"/>
          </p:cNvSpPr>
          <p:nvPr/>
        </p:nvSpPr>
        <p:spPr>
          <a:xfrm xmlns:a="http://schemas.openxmlformats.org/drawingml/2006/main">
            <a:off x="6800850" y="3600450"/>
            <a:ext cx="4286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875"/>
                </a:solidFill>
              </a:defRPr>
            </a:pPr>
            <a:r>
              <a:rPr sz="1350" b="0">
                <a:solidFill>
                  <a:srgbClr val="5F6875"/>
                </a:solidFill>
              </a:rPr>
              <a:t>Current context + current beliefs</a:t>
            </a:r>
          </a:p>
          <a:p xmlns:a="http://schemas.openxmlformats.org/drawingml/2006/main">
            <a:pPr algn="l">
              <a:defRPr sz="1350" b="0">
                <a:solidFill>
                  <a:srgbClr val="5F6875"/>
                </a:solidFill>
              </a:defRPr>
            </a:pPr>
            <a:r>
              <a:rPr sz="1350" b="0">
                <a:solidFill>
                  <a:srgbClr val="5F6875"/>
                </a:solidFill>
              </a:rPr>
              <a:t>→ produce bounded recommendations</a:t>
            </a:r>
          </a:p>
          <a:p xmlns:a="http://schemas.openxmlformats.org/drawingml/2006/main">
            <a:pPr algn="l">
              <a:defRPr sz="1350" b="0">
                <a:solidFill>
                  <a:srgbClr val="5F6875"/>
                </a:solidFill>
              </a:defRPr>
            </a:pPr>
            <a:r>
              <a:rPr sz="1350" b="0">
                <a:solidFill>
                  <a:srgbClr val="5F6875"/>
                </a:solidFill>
              </a:rPr>
              <a:t>→ pass through application policy</a:t>
            </a:r>
          </a:p>
        </p:txBody>
      </p:sp>
      <p:sp>
        <p:nvSpPr>
          <p:cNvPr id="15" name="">
            <a:extLst xmlns:a="http://schemas.openxmlformats.org/drawingml/2006/main">
              <a:ext uri="{FF2B5EF4-FFF2-40B4-BE49-F238E27FC236}">
                <a16:creationId xmlns:a16="http://schemas.microsoft.com/office/drawing/2014/main" id="{79476DB0-A6CF-4662-A5A1-A5E4F4A90AF8}"/>
              </a:ext>
            </a:extLst>
          </p:cNvPr>
          <p:cNvSpPr>
            <a:spLocks xmlns:a="http://schemas.openxmlformats.org/drawingml/2006/main" noGrp="1"/>
          </p:cNvSpPr>
          <p:nvPr/>
        </p:nvSpPr>
        <p:spPr>
          <a:xfrm xmlns:a="http://schemas.openxmlformats.org/drawingml/2006/main">
            <a:off x="5762625" y="3467100"/>
            <a:ext cx="666750" cy="228600"/>
          </a:xfrm>
          <a:prstGeom xmlns:a="http://schemas.openxmlformats.org/drawingml/2006/main" prst="rightArrow">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5BC555E-4B1E-4B34-AB64-54AC5A4605E4}"/>
              </a:ext>
            </a:extLst>
          </p:cNvPr>
          <p:cNvSpPr>
            <a:spLocks xmlns:a="http://schemas.openxmlformats.org/drawingml/2006/main" noGrp="1"/>
          </p:cNvSpPr>
          <p:nvPr/>
        </p:nvSpPr>
        <p:spPr>
          <a:xfrm xmlns:a="http://schemas.openxmlformats.org/drawingml/2006/main">
            <a:off x="1200150" y="5524500"/>
            <a:ext cx="979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01216"/>
                </a:solidFill>
              </a:defRPr>
            </a:pPr>
            <a:r>
              <a:rPr sz="1575" b="1">
                <a:solidFill>
                  <a:srgbClr val="101216"/>
                </a:solidFill>
              </a:rPr>
              <a:t>The advisor can act on today’s profile while learning continues asynchronously for tomorrow’s decision.</a:t>
            </a:r>
          </a:p>
        </p:txBody>
      </p:sp>
      <p:sp>
        <p:nvSpPr>
          <p:cNvPr id="17" name="">
            <a:extLst xmlns:a="http://schemas.openxmlformats.org/drawingml/2006/main">
              <a:ext uri="{FF2B5EF4-FFF2-40B4-BE49-F238E27FC236}">
                <a16:creationId xmlns:a16="http://schemas.microsoft.com/office/drawing/2014/main" id="{BD6F1B00-CA90-44C5-911F-1D9C93FD61A3}"/>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18" name="">
            <a:extLst xmlns:a="http://schemas.openxmlformats.org/drawingml/2006/main">
              <a:ext uri="{FF2B5EF4-FFF2-40B4-BE49-F238E27FC236}">
                <a16:creationId xmlns:a16="http://schemas.microsoft.com/office/drawing/2014/main" id="{22C2F00C-5BE6-4360-BB89-F22BB600433A}"/>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10</a:t>
            </a:r>
          </a:p>
        </p:txBody>
      </p:sp>
    </p:spTree>
    <p:extLst>
      <p:ext uri="{BB962C8B-B14F-4D97-AF65-F5344CB8AC3E}">
        <p14:creationId xmlns:p14="http://schemas.microsoft.com/office/powerpoint/2010/main" val="17491079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15BF2AA-EADA-4802-804B-2C673BBEA296}"/>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11</a:t>
            </a:r>
          </a:p>
        </p:txBody>
      </p:sp>
      <p:sp>
        <p:nvSpPr>
          <p:cNvPr id="2" name="">
            <a:extLst xmlns:a="http://schemas.openxmlformats.org/drawingml/2006/main">
              <a:ext uri="{FF2B5EF4-FFF2-40B4-BE49-F238E27FC236}">
                <a16:creationId xmlns:a16="http://schemas.microsoft.com/office/drawing/2014/main" id="{B6EC0CD9-4811-4CFE-A44A-7F05EF4CBB27}"/>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CONTROLLED ADAPTATION</a:t>
            </a:r>
          </a:p>
        </p:txBody>
      </p:sp>
      <p:sp>
        <p:nvSpPr>
          <p:cNvPr id="3" name="">
            <a:extLst xmlns:a="http://schemas.openxmlformats.org/drawingml/2006/main">
              <a:ext uri="{FF2B5EF4-FFF2-40B4-BE49-F238E27FC236}">
                <a16:creationId xmlns:a16="http://schemas.microsoft.com/office/drawing/2014/main" id="{E23EC24E-907E-44A0-9021-6C906C7DCAAF}"/>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Beliefs are translated into an application-owned contract</a:t>
            </a:r>
          </a:p>
        </p:txBody>
      </p:sp>
      <p:sp>
        <p:nvSpPr>
          <p:cNvPr id="4" name="">
            <a:extLst xmlns:a="http://schemas.openxmlformats.org/drawingml/2006/main">
              <a:ext uri="{FF2B5EF4-FFF2-40B4-BE49-F238E27FC236}">
                <a16:creationId xmlns:a16="http://schemas.microsoft.com/office/drawing/2014/main" id="{615D317B-A6DF-4179-9707-CBE6BD8D9611}"/>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82E6ABA9-9A82-4C98-B0E1-FA7819112E2E}"/>
              </a:ext>
            </a:extLst>
          </p:cNvPr>
          <p:cNvSpPr>
            <a:spLocks xmlns:a="http://schemas.openxmlformats.org/drawingml/2006/main" noGrp="1"/>
          </p:cNvSpPr>
          <p:nvPr/>
        </p:nvSpPr>
        <p:spPr>
          <a:xfrm xmlns:a="http://schemas.openxmlformats.org/drawingml/2006/main">
            <a:off x="609600" y="2286000"/>
            <a:ext cx="23812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CE1E7"/>
            </a:solidFill>
            <a:prstDash val="solid"/>
          </a:ln>
        </p:spPr>
      </p:sp>
      <p:sp>
        <p:nvSpPr>
          <p:cNvPr id="6" name="">
            <a:extLst xmlns:a="http://schemas.openxmlformats.org/drawingml/2006/main">
              <a:ext uri="{FF2B5EF4-FFF2-40B4-BE49-F238E27FC236}">
                <a16:creationId xmlns:a16="http://schemas.microsoft.com/office/drawing/2014/main" id="{632AEF2D-ED68-48E6-8081-7F3199C8F1D7}"/>
              </a:ext>
            </a:extLst>
          </p:cNvPr>
          <p:cNvSpPr>
            <a:spLocks xmlns:a="http://schemas.openxmlformats.org/drawingml/2006/main" noGrp="1"/>
          </p:cNvSpPr>
          <p:nvPr/>
        </p:nvSpPr>
        <p:spPr>
          <a:xfrm xmlns:a="http://schemas.openxmlformats.org/drawingml/2006/main">
            <a:off x="781050" y="2457450"/>
            <a:ext cx="323850" cy="323850"/>
          </a:xfrm>
          <a:prstGeom xmlns:a="http://schemas.openxmlformats.org/drawingml/2006/main" prst="ellipse">
            <a:avLst/>
          </a:prstGeom>
          <a:solidFill xmlns:a="http://schemas.openxmlformats.org/drawingml/2006/main">
            <a:srgbClr val="6DCBF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FFC0B38-0D12-48C2-BCE6-8D2A6EF824CA}"/>
              </a:ext>
            </a:extLst>
          </p:cNvPr>
          <p:cNvSpPr>
            <a:spLocks xmlns:a="http://schemas.openxmlformats.org/drawingml/2006/main" noGrp="1"/>
          </p:cNvSpPr>
          <p:nvPr/>
        </p:nvSpPr>
        <p:spPr>
          <a:xfrm xmlns:a="http://schemas.openxmlformats.org/drawingml/2006/main">
            <a:off x="781050" y="24574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A7984126-795B-4DA9-A7A7-EB0C47C6C662}"/>
              </a:ext>
            </a:extLst>
          </p:cNvPr>
          <p:cNvSpPr>
            <a:spLocks xmlns:a="http://schemas.openxmlformats.org/drawingml/2006/main" noGrp="1"/>
          </p:cNvSpPr>
          <p:nvPr/>
        </p:nvSpPr>
        <p:spPr>
          <a:xfrm xmlns:a="http://schemas.openxmlformats.org/drawingml/2006/main">
            <a:off x="1228725" y="2438400"/>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01216"/>
                </a:solidFill>
              </a:defRPr>
            </a:pPr>
            <a:r>
              <a:rPr sz="1275" b="1">
                <a:solidFill>
                  <a:srgbClr val="101216"/>
                </a:solidFill>
              </a:rPr>
              <a:t>Belief</a:t>
            </a:r>
          </a:p>
        </p:txBody>
      </p:sp>
      <p:sp>
        <p:nvSpPr>
          <p:cNvPr id="9" name="">
            <a:extLst xmlns:a="http://schemas.openxmlformats.org/drawingml/2006/main">
              <a:ext uri="{FF2B5EF4-FFF2-40B4-BE49-F238E27FC236}">
                <a16:creationId xmlns:a16="http://schemas.microsoft.com/office/drawing/2014/main" id="{625D2204-3FC3-4A6E-AE33-FBDE38F328E3}"/>
              </a:ext>
            </a:extLst>
          </p:cNvPr>
          <p:cNvSpPr>
            <a:spLocks xmlns:a="http://schemas.openxmlformats.org/drawingml/2006/main" noGrp="1"/>
          </p:cNvSpPr>
          <p:nvPr/>
        </p:nvSpPr>
        <p:spPr>
          <a:xfrm xmlns:a="http://schemas.openxmlformats.org/drawingml/2006/main">
            <a:off x="781050" y="287655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875"/>
                </a:solidFill>
              </a:defRPr>
            </a:pPr>
            <a:r>
              <a:rPr sz="1050" b="0">
                <a:solidFill>
                  <a:srgbClr val="5F6875"/>
                </a:solidFill>
              </a:rPr>
              <a:t>“Graph view is preferred for comparing contracts.”</a:t>
            </a:r>
          </a:p>
        </p:txBody>
      </p:sp>
      <p:sp>
        <p:nvSpPr>
          <p:cNvPr id="10" name="">
            <a:extLst xmlns:a="http://schemas.openxmlformats.org/drawingml/2006/main">
              <a:ext uri="{FF2B5EF4-FFF2-40B4-BE49-F238E27FC236}">
                <a16:creationId xmlns:a16="http://schemas.microsoft.com/office/drawing/2014/main" id="{8A1CA47D-B3AF-40BC-9635-6881A1E6BD35}"/>
              </a:ext>
            </a:extLst>
          </p:cNvPr>
          <p:cNvSpPr>
            <a:spLocks xmlns:a="http://schemas.openxmlformats.org/drawingml/2006/main" noGrp="1"/>
          </p:cNvSpPr>
          <p:nvPr/>
        </p:nvSpPr>
        <p:spPr>
          <a:xfrm xmlns:a="http://schemas.openxmlformats.org/drawingml/2006/main">
            <a:off x="3048000" y="2876550"/>
            <a:ext cx="40005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9AA6456-4460-4402-8E26-3654BD56C86E}"/>
              </a:ext>
            </a:extLst>
          </p:cNvPr>
          <p:cNvSpPr>
            <a:spLocks xmlns:a="http://schemas.openxmlformats.org/drawingml/2006/main" noGrp="1"/>
          </p:cNvSpPr>
          <p:nvPr/>
        </p:nvSpPr>
        <p:spPr>
          <a:xfrm xmlns:a="http://schemas.openxmlformats.org/drawingml/2006/main">
            <a:off x="3505200" y="2286000"/>
            <a:ext cx="23812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CE1E7"/>
            </a:solidFill>
            <a:prstDash val="solid"/>
          </a:ln>
        </p:spPr>
      </p:sp>
      <p:sp>
        <p:nvSpPr>
          <p:cNvPr id="12" name="">
            <a:extLst xmlns:a="http://schemas.openxmlformats.org/drawingml/2006/main">
              <a:ext uri="{FF2B5EF4-FFF2-40B4-BE49-F238E27FC236}">
                <a16:creationId xmlns:a16="http://schemas.microsoft.com/office/drawing/2014/main" id="{4D87A489-8AA6-4A47-8331-FB7B3715A3CB}"/>
              </a:ext>
            </a:extLst>
          </p:cNvPr>
          <p:cNvSpPr>
            <a:spLocks xmlns:a="http://schemas.openxmlformats.org/drawingml/2006/main" noGrp="1"/>
          </p:cNvSpPr>
          <p:nvPr/>
        </p:nvSpPr>
        <p:spPr>
          <a:xfrm xmlns:a="http://schemas.openxmlformats.org/drawingml/2006/main">
            <a:off x="3676650" y="2457450"/>
            <a:ext cx="323850" cy="3238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CF88534-1DE3-4B05-BAEC-30172E64F53A}"/>
              </a:ext>
            </a:extLst>
          </p:cNvPr>
          <p:cNvSpPr>
            <a:spLocks xmlns:a="http://schemas.openxmlformats.org/drawingml/2006/main" noGrp="1"/>
          </p:cNvSpPr>
          <p:nvPr/>
        </p:nvSpPr>
        <p:spPr>
          <a:xfrm xmlns:a="http://schemas.openxmlformats.org/drawingml/2006/main">
            <a:off x="3676650" y="24574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2</a:t>
            </a:r>
          </a:p>
        </p:txBody>
      </p:sp>
      <p:sp>
        <p:nvSpPr>
          <p:cNvPr id="14" name="">
            <a:extLst xmlns:a="http://schemas.openxmlformats.org/drawingml/2006/main">
              <a:ext uri="{FF2B5EF4-FFF2-40B4-BE49-F238E27FC236}">
                <a16:creationId xmlns:a16="http://schemas.microsoft.com/office/drawing/2014/main" id="{22789EB7-38D2-4C8C-920D-A3104FFCCBC6}"/>
              </a:ext>
            </a:extLst>
          </p:cNvPr>
          <p:cNvSpPr>
            <a:spLocks xmlns:a="http://schemas.openxmlformats.org/drawingml/2006/main" noGrp="1"/>
          </p:cNvSpPr>
          <p:nvPr/>
        </p:nvSpPr>
        <p:spPr>
          <a:xfrm xmlns:a="http://schemas.openxmlformats.org/drawingml/2006/main">
            <a:off x="4124325" y="2438400"/>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01216"/>
                </a:solidFill>
              </a:defRPr>
            </a:pPr>
            <a:r>
              <a:rPr sz="1275" b="1">
                <a:solidFill>
                  <a:srgbClr val="101216"/>
                </a:solidFill>
              </a:rPr>
              <a:t>Recommendation</a:t>
            </a:r>
          </a:p>
        </p:txBody>
      </p:sp>
      <p:sp>
        <p:nvSpPr>
          <p:cNvPr id="15" name="">
            <a:extLst xmlns:a="http://schemas.openxmlformats.org/drawingml/2006/main">
              <a:ext uri="{FF2B5EF4-FFF2-40B4-BE49-F238E27FC236}">
                <a16:creationId xmlns:a16="http://schemas.microsoft.com/office/drawing/2014/main" id="{06A0AC69-6192-48BC-9173-2F821C27203B}"/>
              </a:ext>
            </a:extLst>
          </p:cNvPr>
          <p:cNvSpPr>
            <a:spLocks xmlns:a="http://schemas.openxmlformats.org/drawingml/2006/main" noGrp="1"/>
          </p:cNvSpPr>
          <p:nvPr/>
        </p:nvSpPr>
        <p:spPr>
          <a:xfrm xmlns:a="http://schemas.openxmlformats.org/drawingml/2006/main">
            <a:off x="3676650" y="287655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875"/>
                </a:solidFill>
              </a:defRPr>
            </a:pPr>
            <a:r>
              <a:rPr sz="1050" b="0">
                <a:solidFill>
                  <a:srgbClr val="5F6875"/>
                </a:solidFill>
              </a:rPr>
              <a:t>Preferred layout: graph. Expand highest-value item.</a:t>
            </a:r>
          </a:p>
        </p:txBody>
      </p:sp>
      <p:sp>
        <p:nvSpPr>
          <p:cNvPr id="16" name="">
            <a:extLst xmlns:a="http://schemas.openxmlformats.org/drawingml/2006/main">
              <a:ext uri="{FF2B5EF4-FFF2-40B4-BE49-F238E27FC236}">
                <a16:creationId xmlns:a16="http://schemas.microsoft.com/office/drawing/2014/main" id="{ABF20B7C-58BC-448A-B9B9-4DCFD24FB8E2}"/>
              </a:ext>
            </a:extLst>
          </p:cNvPr>
          <p:cNvSpPr>
            <a:spLocks xmlns:a="http://schemas.openxmlformats.org/drawingml/2006/main" noGrp="1"/>
          </p:cNvSpPr>
          <p:nvPr/>
        </p:nvSpPr>
        <p:spPr>
          <a:xfrm xmlns:a="http://schemas.openxmlformats.org/drawingml/2006/main">
            <a:off x="5943600" y="2876550"/>
            <a:ext cx="40005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E186DB8-A812-4599-ABFF-4EAA758EA00A}"/>
              </a:ext>
            </a:extLst>
          </p:cNvPr>
          <p:cNvSpPr>
            <a:spLocks xmlns:a="http://schemas.openxmlformats.org/drawingml/2006/main" noGrp="1"/>
          </p:cNvSpPr>
          <p:nvPr/>
        </p:nvSpPr>
        <p:spPr>
          <a:xfrm xmlns:a="http://schemas.openxmlformats.org/drawingml/2006/main">
            <a:off x="6400800" y="2286000"/>
            <a:ext cx="23812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CE1E7"/>
            </a:solidFill>
            <a:prstDash val="solid"/>
          </a:ln>
        </p:spPr>
      </p:sp>
      <p:sp>
        <p:nvSpPr>
          <p:cNvPr id="18" name="">
            <a:extLst xmlns:a="http://schemas.openxmlformats.org/drawingml/2006/main">
              <a:ext uri="{FF2B5EF4-FFF2-40B4-BE49-F238E27FC236}">
                <a16:creationId xmlns:a16="http://schemas.microsoft.com/office/drawing/2014/main" id="{E7106DCA-C397-4555-9084-CAA13D1275C2}"/>
              </a:ext>
            </a:extLst>
          </p:cNvPr>
          <p:cNvSpPr>
            <a:spLocks xmlns:a="http://schemas.openxmlformats.org/drawingml/2006/main" noGrp="1"/>
          </p:cNvSpPr>
          <p:nvPr/>
        </p:nvSpPr>
        <p:spPr>
          <a:xfrm xmlns:a="http://schemas.openxmlformats.org/drawingml/2006/main">
            <a:off x="6572250" y="2457450"/>
            <a:ext cx="323850" cy="323850"/>
          </a:xfrm>
          <a:prstGeom xmlns:a="http://schemas.openxmlformats.org/drawingml/2006/main" prst="ellipse">
            <a:avLst/>
          </a:prstGeom>
          <a:solidFill xmlns:a="http://schemas.openxmlformats.org/drawingml/2006/main">
            <a:srgbClr val="E59A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91572AC-78ED-4CDA-891F-239BDEF5DA74}"/>
              </a:ext>
            </a:extLst>
          </p:cNvPr>
          <p:cNvSpPr>
            <a:spLocks xmlns:a="http://schemas.openxmlformats.org/drawingml/2006/main" noGrp="1"/>
          </p:cNvSpPr>
          <p:nvPr/>
        </p:nvSpPr>
        <p:spPr>
          <a:xfrm xmlns:a="http://schemas.openxmlformats.org/drawingml/2006/main">
            <a:off x="6572250" y="24574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3</a:t>
            </a:r>
          </a:p>
        </p:txBody>
      </p:sp>
      <p:sp>
        <p:nvSpPr>
          <p:cNvPr id="20" name="">
            <a:extLst xmlns:a="http://schemas.openxmlformats.org/drawingml/2006/main">
              <a:ext uri="{FF2B5EF4-FFF2-40B4-BE49-F238E27FC236}">
                <a16:creationId xmlns:a16="http://schemas.microsoft.com/office/drawing/2014/main" id="{31707E56-7511-4388-9D99-744D6D1F28B5}"/>
              </a:ext>
            </a:extLst>
          </p:cNvPr>
          <p:cNvSpPr>
            <a:spLocks xmlns:a="http://schemas.openxmlformats.org/drawingml/2006/main" noGrp="1"/>
          </p:cNvSpPr>
          <p:nvPr/>
        </p:nvSpPr>
        <p:spPr>
          <a:xfrm xmlns:a="http://schemas.openxmlformats.org/drawingml/2006/main">
            <a:off x="7019925" y="2438400"/>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01216"/>
                </a:solidFill>
              </a:defRPr>
            </a:pPr>
            <a:r>
              <a:rPr sz="1275" b="1">
                <a:solidFill>
                  <a:srgbClr val="101216"/>
                </a:solidFill>
              </a:rPr>
              <a:t>Policy</a:t>
            </a:r>
          </a:p>
        </p:txBody>
      </p:sp>
      <p:sp>
        <p:nvSpPr>
          <p:cNvPr id="21" name="">
            <a:extLst xmlns:a="http://schemas.openxmlformats.org/drawingml/2006/main">
              <a:ext uri="{FF2B5EF4-FFF2-40B4-BE49-F238E27FC236}">
                <a16:creationId xmlns:a16="http://schemas.microsoft.com/office/drawing/2014/main" id="{9E640171-B602-4C38-A426-CE6B37CE8706}"/>
              </a:ext>
            </a:extLst>
          </p:cNvPr>
          <p:cNvSpPr>
            <a:spLocks xmlns:a="http://schemas.openxmlformats.org/drawingml/2006/main" noGrp="1"/>
          </p:cNvSpPr>
          <p:nvPr/>
        </p:nvSpPr>
        <p:spPr>
          <a:xfrm xmlns:a="http://schemas.openxmlformats.org/drawingml/2006/main">
            <a:off x="6572250" y="287655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875"/>
                </a:solidFill>
              </a:defRPr>
            </a:pPr>
            <a:r>
              <a:rPr sz="1050" b="0">
                <a:solidFill>
                  <a:srgbClr val="5F6875"/>
                </a:solidFill>
              </a:rPr>
              <a:t>Check confidence, allowed actions, conflicts, and user control.</a:t>
            </a:r>
          </a:p>
        </p:txBody>
      </p:sp>
      <p:sp>
        <p:nvSpPr>
          <p:cNvPr id="22" name="">
            <a:extLst xmlns:a="http://schemas.openxmlformats.org/drawingml/2006/main">
              <a:ext uri="{FF2B5EF4-FFF2-40B4-BE49-F238E27FC236}">
                <a16:creationId xmlns:a16="http://schemas.microsoft.com/office/drawing/2014/main" id="{A0AC727B-5194-40D0-B36F-E7D8BE14AD50}"/>
              </a:ext>
            </a:extLst>
          </p:cNvPr>
          <p:cNvSpPr>
            <a:spLocks xmlns:a="http://schemas.openxmlformats.org/drawingml/2006/main" noGrp="1"/>
          </p:cNvSpPr>
          <p:nvPr/>
        </p:nvSpPr>
        <p:spPr>
          <a:xfrm xmlns:a="http://schemas.openxmlformats.org/drawingml/2006/main">
            <a:off x="8839200" y="2876550"/>
            <a:ext cx="400050" cy="228600"/>
          </a:xfrm>
          <a:prstGeom xmlns:a="http://schemas.openxmlformats.org/drawingml/2006/main" prst="rightArrow">
            <a:avLst/>
          </a:prstGeom>
          <a:solidFill xmlns:a="http://schemas.openxmlformats.org/drawingml/2006/main">
            <a:srgbClr val="DCE1E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DBF2122-4854-4369-911C-8976E1C798BF}"/>
              </a:ext>
            </a:extLst>
          </p:cNvPr>
          <p:cNvSpPr>
            <a:spLocks xmlns:a="http://schemas.openxmlformats.org/drawingml/2006/main" noGrp="1"/>
          </p:cNvSpPr>
          <p:nvPr/>
        </p:nvSpPr>
        <p:spPr>
          <a:xfrm xmlns:a="http://schemas.openxmlformats.org/drawingml/2006/main">
            <a:off x="9296400" y="2286000"/>
            <a:ext cx="228600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CE1E7"/>
            </a:solidFill>
            <a:prstDash val="solid"/>
          </a:ln>
        </p:spPr>
      </p:sp>
      <p:sp>
        <p:nvSpPr>
          <p:cNvPr id="24" name="">
            <a:extLst xmlns:a="http://schemas.openxmlformats.org/drawingml/2006/main">
              <a:ext uri="{FF2B5EF4-FFF2-40B4-BE49-F238E27FC236}">
                <a16:creationId xmlns:a16="http://schemas.microsoft.com/office/drawing/2014/main" id="{BAB58CF9-74BC-4B90-B5EB-015AA2130714}"/>
              </a:ext>
            </a:extLst>
          </p:cNvPr>
          <p:cNvSpPr>
            <a:spLocks xmlns:a="http://schemas.openxmlformats.org/drawingml/2006/main" noGrp="1"/>
          </p:cNvSpPr>
          <p:nvPr/>
        </p:nvSpPr>
        <p:spPr>
          <a:xfrm xmlns:a="http://schemas.openxmlformats.org/drawingml/2006/main">
            <a:off x="9467850" y="2457450"/>
            <a:ext cx="323850" cy="323850"/>
          </a:xfrm>
          <a:prstGeom xmlns:a="http://schemas.openxmlformats.org/drawingml/2006/main" prst="ellipse">
            <a:avLst/>
          </a:prstGeom>
          <a:solidFill xmlns:a="http://schemas.openxmlformats.org/drawingml/2006/main">
            <a:srgbClr val="38A16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93262E6-96C2-4B3A-B36E-642D8CD60BCF}"/>
              </a:ext>
            </a:extLst>
          </p:cNvPr>
          <p:cNvSpPr>
            <a:spLocks xmlns:a="http://schemas.openxmlformats.org/drawingml/2006/main" noGrp="1"/>
          </p:cNvSpPr>
          <p:nvPr/>
        </p:nvSpPr>
        <p:spPr>
          <a:xfrm xmlns:a="http://schemas.openxmlformats.org/drawingml/2006/main">
            <a:off x="9467850" y="24574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4</a:t>
            </a:r>
          </a:p>
        </p:txBody>
      </p:sp>
      <p:sp>
        <p:nvSpPr>
          <p:cNvPr id="26" name="">
            <a:extLst xmlns:a="http://schemas.openxmlformats.org/drawingml/2006/main">
              <a:ext uri="{FF2B5EF4-FFF2-40B4-BE49-F238E27FC236}">
                <a16:creationId xmlns:a16="http://schemas.microsoft.com/office/drawing/2014/main" id="{7320EA70-CC35-4E9F-BD36-D55643583EBA}"/>
              </a:ext>
            </a:extLst>
          </p:cNvPr>
          <p:cNvSpPr>
            <a:spLocks xmlns:a="http://schemas.openxmlformats.org/drawingml/2006/main" noGrp="1"/>
          </p:cNvSpPr>
          <p:nvPr/>
        </p:nvSpPr>
        <p:spPr>
          <a:xfrm xmlns:a="http://schemas.openxmlformats.org/drawingml/2006/main">
            <a:off x="9915525" y="2438400"/>
            <a:ext cx="150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01216"/>
                </a:solidFill>
              </a:defRPr>
            </a:pPr>
            <a:r>
              <a:rPr sz="1275" b="1">
                <a:solidFill>
                  <a:srgbClr val="101216"/>
                </a:solidFill>
              </a:rPr>
              <a:t>View state</a:t>
            </a:r>
          </a:p>
        </p:txBody>
      </p:sp>
      <p:sp>
        <p:nvSpPr>
          <p:cNvPr id="27" name="">
            <a:extLst xmlns:a="http://schemas.openxmlformats.org/drawingml/2006/main">
              <a:ext uri="{FF2B5EF4-FFF2-40B4-BE49-F238E27FC236}">
                <a16:creationId xmlns:a16="http://schemas.microsoft.com/office/drawing/2014/main" id="{D511ACBD-BA6B-45FB-8664-15991FC8FCA6}"/>
              </a:ext>
            </a:extLst>
          </p:cNvPr>
          <p:cNvSpPr>
            <a:spLocks xmlns:a="http://schemas.openxmlformats.org/drawingml/2006/main" noGrp="1"/>
          </p:cNvSpPr>
          <p:nvPr/>
        </p:nvSpPr>
        <p:spPr>
          <a:xfrm xmlns:a="http://schemas.openxmlformats.org/drawingml/2006/main">
            <a:off x="9467850" y="2876550"/>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875"/>
                </a:solidFill>
              </a:defRPr>
            </a:pPr>
            <a:r>
              <a:rPr sz="1050" b="0">
                <a:solidFill>
                  <a:srgbClr val="5F6875"/>
                </a:solidFill>
              </a:rPr>
              <a:t>Apply a known, reversible application setting.</a:t>
            </a:r>
          </a:p>
        </p:txBody>
      </p:sp>
      <p:sp>
        <p:nvSpPr>
          <p:cNvPr id="28" name="">
            <a:extLst xmlns:a="http://schemas.openxmlformats.org/drawingml/2006/main">
              <a:ext uri="{FF2B5EF4-FFF2-40B4-BE49-F238E27FC236}">
                <a16:creationId xmlns:a16="http://schemas.microsoft.com/office/drawing/2014/main" id="{5DD21198-AC0E-42D0-A364-8C0A28133264}"/>
              </a:ext>
            </a:extLst>
          </p:cNvPr>
          <p:cNvSpPr>
            <a:spLocks xmlns:a="http://schemas.openxmlformats.org/drawingml/2006/main" noGrp="1"/>
          </p:cNvSpPr>
          <p:nvPr/>
        </p:nvSpPr>
        <p:spPr>
          <a:xfrm xmlns:a="http://schemas.openxmlformats.org/drawingml/2006/main">
            <a:off x="1790700" y="4495800"/>
            <a:ext cx="8610600" cy="838200"/>
          </a:xfrm>
          <a:prstGeom xmlns:a="http://schemas.openxmlformats.org/drawingml/2006/main" prst="roundRect">
            <a:avLst>
              <a:gd name="adj" fmla="val 13636"/>
            </a:avLst>
          </a:prstGeom>
          <a:solidFill xmlns:a="http://schemas.openxmlformats.org/drawingml/2006/main">
            <a:srgbClr val="F3F5F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FD4C818-DCC1-472D-B3A3-5FA6439316C9}"/>
              </a:ext>
            </a:extLst>
          </p:cNvPr>
          <p:cNvSpPr>
            <a:spLocks xmlns:a="http://schemas.openxmlformats.org/drawingml/2006/main" noGrp="1"/>
          </p:cNvSpPr>
          <p:nvPr/>
        </p:nvSpPr>
        <p:spPr>
          <a:xfrm xmlns:a="http://schemas.openxmlformats.org/drawingml/2006/main">
            <a:off x="2152650" y="4667250"/>
            <a:ext cx="7886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1216"/>
                </a:solidFill>
              </a:defRPr>
            </a:pPr>
            <a:r>
              <a:rPr sz="1650" b="1">
                <a:solidFill>
                  <a:srgbClr val="101216"/>
                </a:solidFill>
              </a:rPr>
              <a:t>The AI proposes intent through a bounded schema. The application remains responsible for execution.</a:t>
            </a:r>
          </a:p>
        </p:txBody>
      </p:sp>
      <p:sp>
        <p:nvSpPr>
          <p:cNvPr id="30" name="">
            <a:extLst xmlns:a="http://schemas.openxmlformats.org/drawingml/2006/main">
              <a:ext uri="{FF2B5EF4-FFF2-40B4-BE49-F238E27FC236}">
                <a16:creationId xmlns:a16="http://schemas.microsoft.com/office/drawing/2014/main" id="{41CB7256-9028-49ED-91E1-ED9CD905E7A4}"/>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31" name="">
            <a:extLst xmlns:a="http://schemas.openxmlformats.org/drawingml/2006/main">
              <a:ext uri="{FF2B5EF4-FFF2-40B4-BE49-F238E27FC236}">
                <a16:creationId xmlns:a16="http://schemas.microsoft.com/office/drawing/2014/main" id="{DE8802DE-7BD7-4A0F-9BF0-E9BBC17F2F45}"/>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11</a:t>
            </a:r>
          </a:p>
        </p:txBody>
      </p:sp>
    </p:spTree>
    <p:extLst>
      <p:ext uri="{BB962C8B-B14F-4D97-AF65-F5344CB8AC3E}">
        <p14:creationId xmlns:p14="http://schemas.microsoft.com/office/powerpoint/2010/main" val="15689559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D630AFB-6A91-4B1D-8C32-C7F04AF4F03A}"/>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12</a:t>
            </a:r>
          </a:p>
        </p:txBody>
      </p:sp>
      <p:sp>
        <p:nvSpPr>
          <p:cNvPr id="2" name="">
            <a:extLst xmlns:a="http://schemas.openxmlformats.org/drawingml/2006/main">
              <a:ext uri="{FF2B5EF4-FFF2-40B4-BE49-F238E27FC236}">
                <a16:creationId xmlns:a16="http://schemas.microsoft.com/office/drawing/2014/main" id="{C8A82E73-CE49-4F0C-B464-F54C436A9D80}"/>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TRUST MODEL</a:t>
            </a:r>
          </a:p>
        </p:txBody>
      </p:sp>
      <p:sp>
        <p:nvSpPr>
          <p:cNvPr id="3" name="">
            <a:extLst xmlns:a="http://schemas.openxmlformats.org/drawingml/2006/main">
              <a:ext uri="{FF2B5EF4-FFF2-40B4-BE49-F238E27FC236}">
                <a16:creationId xmlns:a16="http://schemas.microsoft.com/office/drawing/2014/main" id="{496B68DF-C35F-4882-B0EC-E8BC811BCDA2}"/>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Uncertainty, user control, and failure are explicit states</a:t>
            </a:r>
          </a:p>
        </p:txBody>
      </p:sp>
      <p:sp>
        <p:nvSpPr>
          <p:cNvPr id="4" name="">
            <a:extLst xmlns:a="http://schemas.openxmlformats.org/drawingml/2006/main">
              <a:ext uri="{FF2B5EF4-FFF2-40B4-BE49-F238E27FC236}">
                <a16:creationId xmlns:a16="http://schemas.microsoft.com/office/drawing/2014/main" id="{8AC6BFE8-7899-4939-B086-76E844B6F55F}"/>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8B24ABBE-9E6E-4FF6-89C1-AFF1E3E33914}"/>
              </a:ext>
            </a:extLst>
          </p:cNvPr>
          <p:cNvSpPr>
            <a:spLocks xmlns:a="http://schemas.openxmlformats.org/drawingml/2006/main" noGrp="1"/>
          </p:cNvSpPr>
          <p:nvPr/>
        </p:nvSpPr>
        <p:spPr>
          <a:xfrm xmlns:a="http://schemas.openxmlformats.org/drawingml/2006/main">
            <a:off x="609600" y="2095500"/>
            <a:ext cx="5181600" cy="1352550"/>
          </a:xfrm>
          <a:prstGeom xmlns:a="http://schemas.openxmlformats.org/drawingml/2006/main" prst="roundRect">
            <a:avLst>
              <a:gd name="adj" fmla="val 8451"/>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57D7773-4478-415F-A444-3B9E178E59D8}"/>
              </a:ext>
            </a:extLst>
          </p:cNvPr>
          <p:cNvSpPr>
            <a:spLocks xmlns:a="http://schemas.openxmlformats.org/drawingml/2006/main" noGrp="1"/>
          </p:cNvSpPr>
          <p:nvPr/>
        </p:nvSpPr>
        <p:spPr>
          <a:xfrm xmlns:a="http://schemas.openxmlformats.org/drawingml/2006/main">
            <a:off x="609600" y="2095500"/>
            <a:ext cx="57150" cy="1352550"/>
          </a:xfrm>
          <a:prstGeom xmlns:a="http://schemas.openxmlformats.org/drawingml/2006/main" prst="rect">
            <a:avLst/>
          </a:prstGeom>
          <a:solidFill xmlns:a="http://schemas.openxmlformats.org/drawingml/2006/main">
            <a:srgbClr val="8D96A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751C5C1-6FA5-4EB4-9FFA-F0578562E8EF}"/>
              </a:ext>
            </a:extLst>
          </p:cNvPr>
          <p:cNvSpPr>
            <a:spLocks xmlns:a="http://schemas.openxmlformats.org/drawingml/2006/main" noGrp="1"/>
          </p:cNvSpPr>
          <p:nvPr/>
        </p:nvSpPr>
        <p:spPr>
          <a:xfrm xmlns:a="http://schemas.openxmlformats.org/drawingml/2006/main">
            <a:off x="838200" y="2266950"/>
            <a:ext cx="4781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NO SUGGESTION</a:t>
            </a:r>
          </a:p>
        </p:txBody>
      </p:sp>
      <p:sp>
        <p:nvSpPr>
          <p:cNvPr id="8" name="">
            <a:extLst xmlns:a="http://schemas.openxmlformats.org/drawingml/2006/main">
              <a:ext uri="{FF2B5EF4-FFF2-40B4-BE49-F238E27FC236}">
                <a16:creationId xmlns:a16="http://schemas.microsoft.com/office/drawing/2014/main" id="{6A51C754-CD9D-44D0-8B3A-B6DCFA0C2EAD}"/>
              </a:ext>
            </a:extLst>
          </p:cNvPr>
          <p:cNvSpPr>
            <a:spLocks xmlns:a="http://schemas.openxmlformats.org/drawingml/2006/main" noGrp="1"/>
          </p:cNvSpPr>
          <p:nvPr/>
        </p:nvSpPr>
        <p:spPr>
          <a:xfrm xmlns:a="http://schemas.openxmlformats.org/drawingml/2006/main">
            <a:off x="838200" y="2647950"/>
            <a:ext cx="4781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F6875"/>
                </a:solidFill>
              </a:defRPr>
            </a:pPr>
            <a:r>
              <a:rPr sz="1125" b="0">
                <a:solidFill>
                  <a:srgbClr val="5F6875"/>
                </a:solidFill>
              </a:rPr>
              <a:t>Use the normal application default. Do not simulate an AI answer.</a:t>
            </a:r>
          </a:p>
        </p:txBody>
      </p:sp>
      <p:sp>
        <p:nvSpPr>
          <p:cNvPr id="9" name="">
            <a:extLst xmlns:a="http://schemas.openxmlformats.org/drawingml/2006/main">
              <a:ext uri="{FF2B5EF4-FFF2-40B4-BE49-F238E27FC236}">
                <a16:creationId xmlns:a16="http://schemas.microsoft.com/office/drawing/2014/main" id="{E80DDF25-E762-4722-824E-E2D96D12380D}"/>
              </a:ext>
            </a:extLst>
          </p:cNvPr>
          <p:cNvSpPr>
            <a:spLocks xmlns:a="http://schemas.openxmlformats.org/drawingml/2006/main" noGrp="1"/>
          </p:cNvSpPr>
          <p:nvPr/>
        </p:nvSpPr>
        <p:spPr>
          <a:xfrm xmlns:a="http://schemas.openxmlformats.org/drawingml/2006/main">
            <a:off x="6096000" y="2095500"/>
            <a:ext cx="5181600" cy="1352550"/>
          </a:xfrm>
          <a:prstGeom xmlns:a="http://schemas.openxmlformats.org/drawingml/2006/main" prst="roundRect">
            <a:avLst>
              <a:gd name="adj" fmla="val 8451"/>
            </a:avLst>
          </a:prstGeom>
          <a:solidFill xmlns:a="http://schemas.openxmlformats.org/drawingml/2006/main">
            <a:srgbClr val="F3F5F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7BDD2B-6D65-4C70-AB55-9CF8CB4F1542}"/>
              </a:ext>
            </a:extLst>
          </p:cNvPr>
          <p:cNvSpPr>
            <a:spLocks xmlns:a="http://schemas.openxmlformats.org/drawingml/2006/main" noGrp="1"/>
          </p:cNvSpPr>
          <p:nvPr/>
        </p:nvSpPr>
        <p:spPr>
          <a:xfrm xmlns:a="http://schemas.openxmlformats.org/drawingml/2006/main">
            <a:off x="6096000" y="2095500"/>
            <a:ext cx="57150" cy="1352550"/>
          </a:xfrm>
          <a:prstGeom xmlns:a="http://schemas.openxmlformats.org/drawingml/2006/main" prst="rect">
            <a:avLst/>
          </a:prstGeom>
          <a:solidFill xmlns:a="http://schemas.openxmlformats.org/drawingml/2006/main">
            <a:srgbClr val="E59A2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B176A37-6545-4942-B8CC-4B538480508F}"/>
              </a:ext>
            </a:extLst>
          </p:cNvPr>
          <p:cNvSpPr>
            <a:spLocks xmlns:a="http://schemas.openxmlformats.org/drawingml/2006/main" noGrp="1"/>
          </p:cNvSpPr>
          <p:nvPr/>
        </p:nvSpPr>
        <p:spPr>
          <a:xfrm xmlns:a="http://schemas.openxmlformats.org/drawingml/2006/main">
            <a:off x="6324600" y="2266950"/>
            <a:ext cx="4781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LOW CONFIDENCE</a:t>
            </a:r>
          </a:p>
        </p:txBody>
      </p:sp>
      <p:sp>
        <p:nvSpPr>
          <p:cNvPr id="12" name="">
            <a:extLst xmlns:a="http://schemas.openxmlformats.org/drawingml/2006/main">
              <a:ext uri="{FF2B5EF4-FFF2-40B4-BE49-F238E27FC236}">
                <a16:creationId xmlns:a16="http://schemas.microsoft.com/office/drawing/2014/main" id="{E035BA4B-6405-47D8-99F8-2CF6F6CD6FD6}"/>
              </a:ext>
            </a:extLst>
          </p:cNvPr>
          <p:cNvSpPr>
            <a:spLocks xmlns:a="http://schemas.openxmlformats.org/drawingml/2006/main" noGrp="1"/>
          </p:cNvSpPr>
          <p:nvPr/>
        </p:nvSpPr>
        <p:spPr>
          <a:xfrm xmlns:a="http://schemas.openxmlformats.org/drawingml/2006/main">
            <a:off x="6324600" y="2647950"/>
            <a:ext cx="4781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F6875"/>
                </a:solidFill>
              </a:defRPr>
            </a:pPr>
            <a:r>
              <a:rPr sz="1125" b="0">
                <a:solidFill>
                  <a:srgbClr val="5F6875"/>
                </a:solidFill>
              </a:rPr>
              <a:t>Observe more evidence or make only a subtle, reversible recommendation.</a:t>
            </a:r>
          </a:p>
        </p:txBody>
      </p:sp>
      <p:sp>
        <p:nvSpPr>
          <p:cNvPr id="13" name="">
            <a:extLst xmlns:a="http://schemas.openxmlformats.org/drawingml/2006/main">
              <a:ext uri="{FF2B5EF4-FFF2-40B4-BE49-F238E27FC236}">
                <a16:creationId xmlns:a16="http://schemas.microsoft.com/office/drawing/2014/main" id="{531DB25D-0EF1-4FA7-B75C-F99C4B8EDB3D}"/>
              </a:ext>
            </a:extLst>
          </p:cNvPr>
          <p:cNvSpPr>
            <a:spLocks xmlns:a="http://schemas.openxmlformats.org/drawingml/2006/main" noGrp="1"/>
          </p:cNvSpPr>
          <p:nvPr/>
        </p:nvSpPr>
        <p:spPr>
          <a:xfrm xmlns:a="http://schemas.openxmlformats.org/drawingml/2006/main">
            <a:off x="609600" y="3762375"/>
            <a:ext cx="5181600" cy="1352550"/>
          </a:xfrm>
          <a:prstGeom xmlns:a="http://schemas.openxmlformats.org/drawingml/2006/main" prst="roundRect">
            <a:avLst>
              <a:gd name="adj" fmla="val 8451"/>
            </a:avLst>
          </a:prstGeom>
          <a:solidFill xmlns:a="http://schemas.openxmlformats.org/drawingml/2006/main">
            <a:srgbClr val="F3F5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B5A1CF2-1ECB-46DB-90AA-A2C96F4E2731}"/>
              </a:ext>
            </a:extLst>
          </p:cNvPr>
          <p:cNvSpPr>
            <a:spLocks xmlns:a="http://schemas.openxmlformats.org/drawingml/2006/main" noGrp="1"/>
          </p:cNvSpPr>
          <p:nvPr/>
        </p:nvSpPr>
        <p:spPr>
          <a:xfrm xmlns:a="http://schemas.openxmlformats.org/drawingml/2006/main">
            <a:off x="609600" y="3762375"/>
            <a:ext cx="57150" cy="1352550"/>
          </a:xfrm>
          <a:prstGeom xmlns:a="http://schemas.openxmlformats.org/drawingml/2006/main" prst="rect">
            <a:avLst/>
          </a:prstGeom>
          <a:solidFill xmlns:a="http://schemas.openxmlformats.org/drawingml/2006/main">
            <a:srgbClr val="D85B5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EA4EFDA-BC97-4EC9-9744-0737849495C9}"/>
              </a:ext>
            </a:extLst>
          </p:cNvPr>
          <p:cNvSpPr>
            <a:spLocks xmlns:a="http://schemas.openxmlformats.org/drawingml/2006/main" noGrp="1"/>
          </p:cNvSpPr>
          <p:nvPr/>
        </p:nvSpPr>
        <p:spPr>
          <a:xfrm xmlns:a="http://schemas.openxmlformats.org/drawingml/2006/main">
            <a:off x="838200" y="3933825"/>
            <a:ext cx="4781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CONTRADICTION</a:t>
            </a:r>
          </a:p>
        </p:txBody>
      </p:sp>
      <p:sp>
        <p:nvSpPr>
          <p:cNvPr id="16" name="">
            <a:extLst xmlns:a="http://schemas.openxmlformats.org/drawingml/2006/main">
              <a:ext uri="{FF2B5EF4-FFF2-40B4-BE49-F238E27FC236}">
                <a16:creationId xmlns:a16="http://schemas.microsoft.com/office/drawing/2014/main" id="{634258F3-0C67-476C-B2D9-D8BB7990D24D}"/>
              </a:ext>
            </a:extLst>
          </p:cNvPr>
          <p:cNvSpPr>
            <a:spLocks xmlns:a="http://schemas.openxmlformats.org/drawingml/2006/main" noGrp="1"/>
          </p:cNvSpPr>
          <p:nvPr/>
        </p:nvSpPr>
        <p:spPr>
          <a:xfrm xmlns:a="http://schemas.openxmlformats.org/drawingml/2006/main">
            <a:off x="838200" y="4314825"/>
            <a:ext cx="4781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F6875"/>
                </a:solidFill>
              </a:defRPr>
            </a:pPr>
            <a:r>
              <a:rPr sz="1125" b="0">
                <a:solidFill>
                  <a:srgbClr val="5F6875"/>
                </a:solidFill>
              </a:rPr>
              <a:t>Reassess the belief instead of forcing consistency.</a:t>
            </a:r>
          </a:p>
        </p:txBody>
      </p:sp>
      <p:sp>
        <p:nvSpPr>
          <p:cNvPr id="17" name="">
            <a:extLst xmlns:a="http://schemas.openxmlformats.org/drawingml/2006/main">
              <a:ext uri="{FF2B5EF4-FFF2-40B4-BE49-F238E27FC236}">
                <a16:creationId xmlns:a16="http://schemas.microsoft.com/office/drawing/2014/main" id="{BCE416DB-5AB8-4B08-A8D6-651E846F0421}"/>
              </a:ext>
            </a:extLst>
          </p:cNvPr>
          <p:cNvSpPr>
            <a:spLocks xmlns:a="http://schemas.openxmlformats.org/drawingml/2006/main" noGrp="1"/>
          </p:cNvSpPr>
          <p:nvPr/>
        </p:nvSpPr>
        <p:spPr>
          <a:xfrm xmlns:a="http://schemas.openxmlformats.org/drawingml/2006/main">
            <a:off x="6096000" y="3762375"/>
            <a:ext cx="5181600" cy="1352550"/>
          </a:xfrm>
          <a:prstGeom xmlns:a="http://schemas.openxmlformats.org/drawingml/2006/main" prst="roundRect">
            <a:avLst>
              <a:gd name="adj" fmla="val 8451"/>
            </a:avLst>
          </a:prstGeom>
          <a:solidFill xmlns:a="http://schemas.openxmlformats.org/drawingml/2006/main">
            <a:srgbClr val="F3F5F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FDD5469-E889-4FAA-B67B-785710AEE5DA}"/>
              </a:ext>
            </a:extLst>
          </p:cNvPr>
          <p:cNvSpPr>
            <a:spLocks xmlns:a="http://schemas.openxmlformats.org/drawingml/2006/main" noGrp="1"/>
          </p:cNvSpPr>
          <p:nvPr/>
        </p:nvSpPr>
        <p:spPr>
          <a:xfrm xmlns:a="http://schemas.openxmlformats.org/drawingml/2006/main">
            <a:off x="6096000" y="3762375"/>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62F1A23-7853-4220-A00C-00B279B0C15D}"/>
              </a:ext>
            </a:extLst>
          </p:cNvPr>
          <p:cNvSpPr>
            <a:spLocks xmlns:a="http://schemas.openxmlformats.org/drawingml/2006/main" noGrp="1"/>
          </p:cNvSpPr>
          <p:nvPr/>
        </p:nvSpPr>
        <p:spPr>
          <a:xfrm xmlns:a="http://schemas.openxmlformats.org/drawingml/2006/main">
            <a:off x="6324600" y="3933825"/>
            <a:ext cx="4781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MODEL FAILURE</a:t>
            </a:r>
          </a:p>
        </p:txBody>
      </p:sp>
      <p:sp>
        <p:nvSpPr>
          <p:cNvPr id="20" name="">
            <a:extLst xmlns:a="http://schemas.openxmlformats.org/drawingml/2006/main">
              <a:ext uri="{FF2B5EF4-FFF2-40B4-BE49-F238E27FC236}">
                <a16:creationId xmlns:a16="http://schemas.microsoft.com/office/drawing/2014/main" id="{909F7D75-76C4-45D0-8D11-52D9AF4A8D7A}"/>
              </a:ext>
            </a:extLst>
          </p:cNvPr>
          <p:cNvSpPr>
            <a:spLocks xmlns:a="http://schemas.openxmlformats.org/drawingml/2006/main" noGrp="1"/>
          </p:cNvSpPr>
          <p:nvPr/>
        </p:nvSpPr>
        <p:spPr>
          <a:xfrm xmlns:a="http://schemas.openxmlformats.org/drawingml/2006/main">
            <a:off x="6324600" y="4314825"/>
            <a:ext cx="4781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F6875"/>
                </a:solidFill>
              </a:defRPr>
            </a:pPr>
            <a:r>
              <a:rPr sz="1125" b="0">
                <a:solidFill>
                  <a:srgbClr val="5F6875"/>
                </a:solidFill>
              </a:rPr>
              <a:t>Preserve the existing profile and record diagnostics for investigation.</a:t>
            </a:r>
          </a:p>
        </p:txBody>
      </p:sp>
      <p:sp>
        <p:nvSpPr>
          <p:cNvPr id="21" name="">
            <a:extLst xmlns:a="http://schemas.openxmlformats.org/drawingml/2006/main">
              <a:ext uri="{FF2B5EF4-FFF2-40B4-BE49-F238E27FC236}">
                <a16:creationId xmlns:a16="http://schemas.microsoft.com/office/drawing/2014/main" id="{EE136694-1B1A-4773-869F-23C3ADDD56C5}"/>
              </a:ext>
            </a:extLst>
          </p:cNvPr>
          <p:cNvSpPr>
            <a:spLocks xmlns:a="http://schemas.openxmlformats.org/drawingml/2006/main" noGrp="1"/>
          </p:cNvSpPr>
          <p:nvPr/>
        </p:nvSpPr>
        <p:spPr>
          <a:xfrm xmlns:a="http://schemas.openxmlformats.org/drawingml/2006/main">
            <a:off x="1885950" y="5619750"/>
            <a:ext cx="842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01216"/>
                </a:solidFill>
              </a:defRPr>
            </a:pPr>
            <a:r>
              <a:rPr sz="1725" b="1">
                <a:solidFill>
                  <a:srgbClr val="101216"/>
                </a:solidFill>
              </a:rPr>
              <a:t>Default behavior is a valid outcome. Fabricated intelligence is not.</a:t>
            </a:r>
          </a:p>
        </p:txBody>
      </p:sp>
      <p:sp>
        <p:nvSpPr>
          <p:cNvPr id="22" name="">
            <a:extLst xmlns:a="http://schemas.openxmlformats.org/drawingml/2006/main">
              <a:ext uri="{FF2B5EF4-FFF2-40B4-BE49-F238E27FC236}">
                <a16:creationId xmlns:a16="http://schemas.microsoft.com/office/drawing/2014/main" id="{17FFF2CB-98E0-469C-9700-342C57AA02CA}"/>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23" name="">
            <a:extLst xmlns:a="http://schemas.openxmlformats.org/drawingml/2006/main">
              <a:ext uri="{FF2B5EF4-FFF2-40B4-BE49-F238E27FC236}">
                <a16:creationId xmlns:a16="http://schemas.microsoft.com/office/drawing/2014/main" id="{1CD75CC2-A306-419A-A00C-984FD50704C1}"/>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12</a:t>
            </a:r>
          </a:p>
        </p:txBody>
      </p:sp>
    </p:spTree>
    <p:extLst>
      <p:ext uri="{BB962C8B-B14F-4D97-AF65-F5344CB8AC3E}">
        <p14:creationId xmlns:p14="http://schemas.microsoft.com/office/powerpoint/2010/main" val="13364303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E106A5E-0763-4E43-B4E8-A07C7C924596}"/>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13</a:t>
            </a:r>
          </a:p>
        </p:txBody>
      </p:sp>
      <p:sp>
        <p:nvSpPr>
          <p:cNvPr id="2" name="">
            <a:extLst xmlns:a="http://schemas.openxmlformats.org/drawingml/2006/main">
              <a:ext uri="{FF2B5EF4-FFF2-40B4-BE49-F238E27FC236}">
                <a16:creationId xmlns:a16="http://schemas.microsoft.com/office/drawing/2014/main" id="{9FCFC61B-B658-4C58-AE1E-A50AC1000ADC}"/>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TRACEABILITY</a:t>
            </a:r>
          </a:p>
        </p:txBody>
      </p:sp>
      <p:sp>
        <p:nvSpPr>
          <p:cNvPr id="3" name="">
            <a:extLst xmlns:a="http://schemas.openxmlformats.org/drawingml/2006/main">
              <a:ext uri="{FF2B5EF4-FFF2-40B4-BE49-F238E27FC236}">
                <a16:creationId xmlns:a16="http://schemas.microsoft.com/office/drawing/2014/main" id="{561BF063-62EF-4066-BB80-CE87BEA28869}"/>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Every belief change and recommendation is reconstructable</a:t>
            </a:r>
          </a:p>
        </p:txBody>
      </p:sp>
      <p:sp>
        <p:nvSpPr>
          <p:cNvPr id="4" name="">
            <a:extLst xmlns:a="http://schemas.openxmlformats.org/drawingml/2006/main">
              <a:ext uri="{FF2B5EF4-FFF2-40B4-BE49-F238E27FC236}">
                <a16:creationId xmlns:a16="http://schemas.microsoft.com/office/drawing/2014/main" id="{B52FE9EA-C7E3-4193-AA62-DF8C6B214865}"/>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B7EECED9-44B2-4092-9BD6-30CFDCB1BB9C}"/>
              </a:ext>
            </a:extLst>
          </p:cNvPr>
          <p:cNvSpPr>
            <a:spLocks xmlns:a="http://schemas.openxmlformats.org/drawingml/2006/main" noGrp="1"/>
          </p:cNvSpPr>
          <p:nvPr/>
        </p:nvSpPr>
        <p:spPr>
          <a:xfrm xmlns:a="http://schemas.openxmlformats.org/drawingml/2006/main">
            <a:off x="609600" y="2095500"/>
            <a:ext cx="3276600" cy="1200150"/>
          </a:xfrm>
          <a:prstGeom xmlns:a="http://schemas.openxmlformats.org/drawingml/2006/main" prst="roundRect">
            <a:avLst>
              <a:gd name="adj" fmla="val 9524"/>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A492D68-43BD-4FD8-8757-150048F06909}"/>
              </a:ext>
            </a:extLst>
          </p:cNvPr>
          <p:cNvSpPr>
            <a:spLocks xmlns:a="http://schemas.openxmlformats.org/drawingml/2006/main" noGrp="1"/>
          </p:cNvSpPr>
          <p:nvPr/>
        </p:nvSpPr>
        <p:spPr>
          <a:xfrm xmlns:a="http://schemas.openxmlformats.org/drawingml/2006/main">
            <a:off x="781050" y="22479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01</a:t>
            </a:r>
          </a:p>
        </p:txBody>
      </p:sp>
      <p:sp>
        <p:nvSpPr>
          <p:cNvPr id="7" name="">
            <a:extLst xmlns:a="http://schemas.openxmlformats.org/drawingml/2006/main">
              <a:ext uri="{FF2B5EF4-FFF2-40B4-BE49-F238E27FC236}">
                <a16:creationId xmlns:a16="http://schemas.microsoft.com/office/drawing/2014/main" id="{53AD0697-E594-4A78-9B57-FF8ADAF372E5}"/>
              </a:ext>
            </a:extLst>
          </p:cNvPr>
          <p:cNvSpPr>
            <a:spLocks xmlns:a="http://schemas.openxmlformats.org/drawingml/2006/main" noGrp="1"/>
          </p:cNvSpPr>
          <p:nvPr/>
        </p:nvSpPr>
        <p:spPr>
          <a:xfrm xmlns:a="http://schemas.openxmlformats.org/drawingml/2006/main">
            <a:off x="1200150" y="22288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Raw observations</a:t>
            </a:r>
          </a:p>
        </p:txBody>
      </p:sp>
      <p:sp>
        <p:nvSpPr>
          <p:cNvPr id="8" name="">
            <a:extLst xmlns:a="http://schemas.openxmlformats.org/drawingml/2006/main">
              <a:ext uri="{FF2B5EF4-FFF2-40B4-BE49-F238E27FC236}">
                <a16:creationId xmlns:a16="http://schemas.microsoft.com/office/drawing/2014/main" id="{E3A4F1A8-EB6F-441E-871C-C58E07A786ED}"/>
              </a:ext>
            </a:extLst>
          </p:cNvPr>
          <p:cNvSpPr>
            <a:spLocks xmlns:a="http://schemas.openxmlformats.org/drawingml/2006/main" noGrp="1"/>
          </p:cNvSpPr>
          <p:nvPr/>
        </p:nvSpPr>
        <p:spPr>
          <a:xfrm xmlns:a="http://schemas.openxmlformats.org/drawingml/2006/main">
            <a:off x="1200150" y="270510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875"/>
                </a:solidFill>
              </a:defRPr>
            </a:pPr>
            <a:r>
              <a:rPr sz="1050" b="0">
                <a:solidFill>
                  <a:srgbClr val="5F6875"/>
                </a:solidFill>
              </a:rPr>
              <a:t>what the user did</a:t>
            </a:r>
          </a:p>
        </p:txBody>
      </p:sp>
      <p:sp>
        <p:nvSpPr>
          <p:cNvPr id="9" name="">
            <a:extLst xmlns:a="http://schemas.openxmlformats.org/drawingml/2006/main">
              <a:ext uri="{FF2B5EF4-FFF2-40B4-BE49-F238E27FC236}">
                <a16:creationId xmlns:a16="http://schemas.microsoft.com/office/drawing/2014/main" id="{86884AF7-7978-4689-A419-CE7652ED832F}"/>
              </a:ext>
            </a:extLst>
          </p:cNvPr>
          <p:cNvSpPr>
            <a:spLocks xmlns:a="http://schemas.openxmlformats.org/drawingml/2006/main" noGrp="1"/>
          </p:cNvSpPr>
          <p:nvPr/>
        </p:nvSpPr>
        <p:spPr>
          <a:xfrm xmlns:a="http://schemas.openxmlformats.org/drawingml/2006/main">
            <a:off x="4267200" y="2095500"/>
            <a:ext cx="3276600" cy="1200150"/>
          </a:xfrm>
          <a:prstGeom xmlns:a="http://schemas.openxmlformats.org/drawingml/2006/main" prst="roundRect">
            <a:avLst>
              <a:gd name="adj" fmla="val 9524"/>
            </a:avLst>
          </a:prstGeom>
          <a:solidFill xmlns:a="http://schemas.openxmlformats.org/drawingml/2006/main">
            <a:srgbClr val="F3F5F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CC8AADB-DD91-4580-9E96-5827006267DC}"/>
              </a:ext>
            </a:extLst>
          </p:cNvPr>
          <p:cNvSpPr>
            <a:spLocks xmlns:a="http://schemas.openxmlformats.org/drawingml/2006/main" noGrp="1"/>
          </p:cNvSpPr>
          <p:nvPr/>
        </p:nvSpPr>
        <p:spPr>
          <a:xfrm xmlns:a="http://schemas.openxmlformats.org/drawingml/2006/main">
            <a:off x="4438650" y="22479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02</a:t>
            </a:r>
          </a:p>
        </p:txBody>
      </p:sp>
      <p:sp>
        <p:nvSpPr>
          <p:cNvPr id="11" name="">
            <a:extLst xmlns:a="http://schemas.openxmlformats.org/drawingml/2006/main">
              <a:ext uri="{FF2B5EF4-FFF2-40B4-BE49-F238E27FC236}">
                <a16:creationId xmlns:a16="http://schemas.microsoft.com/office/drawing/2014/main" id="{17DE9B01-89C2-4CCD-8774-29B593BEF422}"/>
              </a:ext>
            </a:extLst>
          </p:cNvPr>
          <p:cNvSpPr>
            <a:spLocks xmlns:a="http://schemas.openxmlformats.org/drawingml/2006/main" noGrp="1"/>
          </p:cNvSpPr>
          <p:nvPr/>
        </p:nvSpPr>
        <p:spPr>
          <a:xfrm xmlns:a="http://schemas.openxmlformats.org/drawingml/2006/main">
            <a:off x="4857750" y="22288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Surface context</a:t>
            </a:r>
          </a:p>
        </p:txBody>
      </p:sp>
      <p:sp>
        <p:nvSpPr>
          <p:cNvPr id="12" name="">
            <a:extLst xmlns:a="http://schemas.openxmlformats.org/drawingml/2006/main">
              <a:ext uri="{FF2B5EF4-FFF2-40B4-BE49-F238E27FC236}">
                <a16:creationId xmlns:a16="http://schemas.microsoft.com/office/drawing/2014/main" id="{46D7A5D9-CB4A-484B-A20C-993FA8648750}"/>
              </a:ext>
            </a:extLst>
          </p:cNvPr>
          <p:cNvSpPr>
            <a:spLocks xmlns:a="http://schemas.openxmlformats.org/drawingml/2006/main" noGrp="1"/>
          </p:cNvSpPr>
          <p:nvPr/>
        </p:nvSpPr>
        <p:spPr>
          <a:xfrm xmlns:a="http://schemas.openxmlformats.org/drawingml/2006/main">
            <a:off x="4857750" y="270510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875"/>
                </a:solidFill>
              </a:defRPr>
            </a:pPr>
            <a:r>
              <a:rPr sz="1050" b="0">
                <a:solidFill>
                  <a:srgbClr val="5F6875"/>
                </a:solidFill>
              </a:rPr>
              <a:t>what the app knew</a:t>
            </a:r>
          </a:p>
        </p:txBody>
      </p:sp>
      <p:sp>
        <p:nvSpPr>
          <p:cNvPr id="13" name="">
            <a:extLst xmlns:a="http://schemas.openxmlformats.org/drawingml/2006/main">
              <a:ext uri="{FF2B5EF4-FFF2-40B4-BE49-F238E27FC236}">
                <a16:creationId xmlns:a16="http://schemas.microsoft.com/office/drawing/2014/main" id="{12C316F6-C155-43F8-8B75-69647AB6D5D5}"/>
              </a:ext>
            </a:extLst>
          </p:cNvPr>
          <p:cNvSpPr>
            <a:spLocks xmlns:a="http://schemas.openxmlformats.org/drawingml/2006/main" noGrp="1"/>
          </p:cNvSpPr>
          <p:nvPr/>
        </p:nvSpPr>
        <p:spPr>
          <a:xfrm xmlns:a="http://schemas.openxmlformats.org/drawingml/2006/main">
            <a:off x="7924800" y="2095500"/>
            <a:ext cx="3276600" cy="1200150"/>
          </a:xfrm>
          <a:prstGeom xmlns:a="http://schemas.openxmlformats.org/drawingml/2006/main" prst="roundRect">
            <a:avLst>
              <a:gd name="adj" fmla="val 9524"/>
            </a:avLst>
          </a:prstGeom>
          <a:solidFill xmlns:a="http://schemas.openxmlformats.org/drawingml/2006/main">
            <a:srgbClr val="F3F5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C1493D-1BAC-4EB5-8817-A60C0445BCCF}"/>
              </a:ext>
            </a:extLst>
          </p:cNvPr>
          <p:cNvSpPr>
            <a:spLocks xmlns:a="http://schemas.openxmlformats.org/drawingml/2006/main" noGrp="1"/>
          </p:cNvSpPr>
          <p:nvPr/>
        </p:nvSpPr>
        <p:spPr>
          <a:xfrm xmlns:a="http://schemas.openxmlformats.org/drawingml/2006/main">
            <a:off x="8096250" y="22479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03</a:t>
            </a:r>
          </a:p>
        </p:txBody>
      </p:sp>
      <p:sp>
        <p:nvSpPr>
          <p:cNvPr id="15" name="">
            <a:extLst xmlns:a="http://schemas.openxmlformats.org/drawingml/2006/main">
              <a:ext uri="{FF2B5EF4-FFF2-40B4-BE49-F238E27FC236}">
                <a16:creationId xmlns:a16="http://schemas.microsoft.com/office/drawing/2014/main" id="{66681DC6-B2EE-4E10-9508-D51CD5AE8B6C}"/>
              </a:ext>
            </a:extLst>
          </p:cNvPr>
          <p:cNvSpPr>
            <a:spLocks xmlns:a="http://schemas.openxmlformats.org/drawingml/2006/main" noGrp="1"/>
          </p:cNvSpPr>
          <p:nvPr/>
        </p:nvSpPr>
        <p:spPr>
          <a:xfrm xmlns:a="http://schemas.openxmlformats.org/drawingml/2006/main">
            <a:off x="8515350" y="22288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Derived evidence</a:t>
            </a:r>
          </a:p>
        </p:txBody>
      </p:sp>
      <p:sp>
        <p:nvSpPr>
          <p:cNvPr id="16" name="">
            <a:extLst xmlns:a="http://schemas.openxmlformats.org/drawingml/2006/main">
              <a:ext uri="{FF2B5EF4-FFF2-40B4-BE49-F238E27FC236}">
                <a16:creationId xmlns:a16="http://schemas.microsoft.com/office/drawing/2014/main" id="{A3D9E41F-9A67-4FEC-9997-C56A655EF4C7}"/>
              </a:ext>
            </a:extLst>
          </p:cNvPr>
          <p:cNvSpPr>
            <a:spLocks xmlns:a="http://schemas.openxmlformats.org/drawingml/2006/main" noGrp="1"/>
          </p:cNvSpPr>
          <p:nvPr/>
        </p:nvSpPr>
        <p:spPr>
          <a:xfrm xmlns:a="http://schemas.openxmlformats.org/drawingml/2006/main">
            <a:off x="8515350" y="270510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875"/>
                </a:solidFill>
              </a:defRPr>
            </a:pPr>
            <a:r>
              <a:rPr sz="1050" b="0">
                <a:solidFill>
                  <a:srgbClr val="5F6875"/>
                </a:solidFill>
              </a:rPr>
              <a:t>what was computed</a:t>
            </a:r>
          </a:p>
        </p:txBody>
      </p:sp>
      <p:sp>
        <p:nvSpPr>
          <p:cNvPr id="17" name="">
            <a:extLst xmlns:a="http://schemas.openxmlformats.org/drawingml/2006/main">
              <a:ext uri="{FF2B5EF4-FFF2-40B4-BE49-F238E27FC236}">
                <a16:creationId xmlns:a16="http://schemas.microsoft.com/office/drawing/2014/main" id="{A7E38355-7E3A-4BAB-A3D1-E0A216143A52}"/>
              </a:ext>
            </a:extLst>
          </p:cNvPr>
          <p:cNvSpPr>
            <a:spLocks xmlns:a="http://schemas.openxmlformats.org/drawingml/2006/main" noGrp="1"/>
          </p:cNvSpPr>
          <p:nvPr/>
        </p:nvSpPr>
        <p:spPr>
          <a:xfrm xmlns:a="http://schemas.openxmlformats.org/drawingml/2006/main">
            <a:off x="609600" y="3714750"/>
            <a:ext cx="3276600" cy="1200150"/>
          </a:xfrm>
          <a:prstGeom xmlns:a="http://schemas.openxmlformats.org/drawingml/2006/main" prst="roundRect">
            <a:avLst>
              <a:gd name="adj" fmla="val 9524"/>
            </a:avLst>
          </a:prstGeom>
          <a:solidFill xmlns:a="http://schemas.openxmlformats.org/drawingml/2006/main">
            <a:srgbClr val="F3F5F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29E258C-3E52-4B27-8A23-EC6517C1BE30}"/>
              </a:ext>
            </a:extLst>
          </p:cNvPr>
          <p:cNvSpPr>
            <a:spLocks xmlns:a="http://schemas.openxmlformats.org/drawingml/2006/main" noGrp="1"/>
          </p:cNvSpPr>
          <p:nvPr/>
        </p:nvSpPr>
        <p:spPr>
          <a:xfrm xmlns:a="http://schemas.openxmlformats.org/drawingml/2006/main">
            <a:off x="781050" y="38671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04</a:t>
            </a:r>
          </a:p>
        </p:txBody>
      </p:sp>
      <p:sp>
        <p:nvSpPr>
          <p:cNvPr id="19" name="">
            <a:extLst xmlns:a="http://schemas.openxmlformats.org/drawingml/2006/main">
              <a:ext uri="{FF2B5EF4-FFF2-40B4-BE49-F238E27FC236}">
                <a16:creationId xmlns:a16="http://schemas.microsoft.com/office/drawing/2014/main" id="{15B07E9D-BAA3-4928-ADFD-C285CA3DA16A}"/>
              </a:ext>
            </a:extLst>
          </p:cNvPr>
          <p:cNvSpPr>
            <a:spLocks xmlns:a="http://schemas.openxmlformats.org/drawingml/2006/main" noGrp="1"/>
          </p:cNvSpPr>
          <p:nvPr/>
        </p:nvSpPr>
        <p:spPr>
          <a:xfrm xmlns:a="http://schemas.openxmlformats.org/drawingml/2006/main">
            <a:off x="1200150" y="38481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Model request / response</a:t>
            </a:r>
          </a:p>
        </p:txBody>
      </p:sp>
      <p:sp>
        <p:nvSpPr>
          <p:cNvPr id="20" name="">
            <a:extLst xmlns:a="http://schemas.openxmlformats.org/drawingml/2006/main">
              <a:ext uri="{FF2B5EF4-FFF2-40B4-BE49-F238E27FC236}">
                <a16:creationId xmlns:a16="http://schemas.microsoft.com/office/drawing/2014/main" id="{2EF413E8-0C13-45BD-9CA9-F8B268D16B01}"/>
              </a:ext>
            </a:extLst>
          </p:cNvPr>
          <p:cNvSpPr>
            <a:spLocks xmlns:a="http://schemas.openxmlformats.org/drawingml/2006/main" noGrp="1"/>
          </p:cNvSpPr>
          <p:nvPr/>
        </p:nvSpPr>
        <p:spPr>
          <a:xfrm xmlns:a="http://schemas.openxmlformats.org/drawingml/2006/main">
            <a:off x="1200150" y="432435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875"/>
                </a:solidFill>
              </a:defRPr>
            </a:pPr>
            <a:r>
              <a:rPr sz="1050" b="0">
                <a:solidFill>
                  <a:srgbClr val="5F6875"/>
                </a:solidFill>
              </a:rPr>
              <a:t>what the agent considered</a:t>
            </a:r>
          </a:p>
        </p:txBody>
      </p:sp>
      <p:sp>
        <p:nvSpPr>
          <p:cNvPr id="21" name="">
            <a:extLst xmlns:a="http://schemas.openxmlformats.org/drawingml/2006/main">
              <a:ext uri="{FF2B5EF4-FFF2-40B4-BE49-F238E27FC236}">
                <a16:creationId xmlns:a16="http://schemas.microsoft.com/office/drawing/2014/main" id="{31469099-86D6-4F41-8AD2-7C1BA56BF034}"/>
              </a:ext>
            </a:extLst>
          </p:cNvPr>
          <p:cNvSpPr>
            <a:spLocks xmlns:a="http://schemas.openxmlformats.org/drawingml/2006/main" noGrp="1"/>
          </p:cNvSpPr>
          <p:nvPr/>
        </p:nvSpPr>
        <p:spPr>
          <a:xfrm xmlns:a="http://schemas.openxmlformats.org/drawingml/2006/main">
            <a:off x="4267200" y="3714750"/>
            <a:ext cx="3276600" cy="1200150"/>
          </a:xfrm>
          <a:prstGeom xmlns:a="http://schemas.openxmlformats.org/drawingml/2006/main" prst="roundRect">
            <a:avLst>
              <a:gd name="adj" fmla="val 9524"/>
            </a:avLst>
          </a:prstGeom>
          <a:solidFill xmlns:a="http://schemas.openxmlformats.org/drawingml/2006/main">
            <a:srgbClr val="EAF6F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8A49F0B-72BB-451B-8422-9610DA0B44DB}"/>
              </a:ext>
            </a:extLst>
          </p:cNvPr>
          <p:cNvSpPr>
            <a:spLocks xmlns:a="http://schemas.openxmlformats.org/drawingml/2006/main" noGrp="1"/>
          </p:cNvSpPr>
          <p:nvPr/>
        </p:nvSpPr>
        <p:spPr>
          <a:xfrm xmlns:a="http://schemas.openxmlformats.org/drawingml/2006/main">
            <a:off x="4438650" y="38671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D8DFF"/>
                </a:solidFill>
              </a:defRPr>
            </a:pPr>
            <a:r>
              <a:rPr sz="900" b="1">
                <a:solidFill>
                  <a:srgbClr val="3D8DFF"/>
                </a:solidFill>
              </a:rPr>
              <a:t>05</a:t>
            </a:r>
          </a:p>
        </p:txBody>
      </p:sp>
      <p:sp>
        <p:nvSpPr>
          <p:cNvPr id="23" name="">
            <a:extLst xmlns:a="http://schemas.openxmlformats.org/drawingml/2006/main">
              <a:ext uri="{FF2B5EF4-FFF2-40B4-BE49-F238E27FC236}">
                <a16:creationId xmlns:a16="http://schemas.microsoft.com/office/drawing/2014/main" id="{3458C725-4CA4-423B-B5E1-D66D2E01FB5D}"/>
              </a:ext>
            </a:extLst>
          </p:cNvPr>
          <p:cNvSpPr>
            <a:spLocks xmlns:a="http://schemas.openxmlformats.org/drawingml/2006/main" noGrp="1"/>
          </p:cNvSpPr>
          <p:nvPr/>
        </p:nvSpPr>
        <p:spPr>
          <a:xfrm xmlns:a="http://schemas.openxmlformats.org/drawingml/2006/main">
            <a:off x="4857750" y="38481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Belief revision</a:t>
            </a:r>
          </a:p>
        </p:txBody>
      </p:sp>
      <p:sp>
        <p:nvSpPr>
          <p:cNvPr id="24" name="">
            <a:extLst xmlns:a="http://schemas.openxmlformats.org/drawingml/2006/main">
              <a:ext uri="{FF2B5EF4-FFF2-40B4-BE49-F238E27FC236}">
                <a16:creationId xmlns:a16="http://schemas.microsoft.com/office/drawing/2014/main" id="{755F500B-D956-4876-9B73-F32AC73DD50C}"/>
              </a:ext>
            </a:extLst>
          </p:cNvPr>
          <p:cNvSpPr>
            <a:spLocks xmlns:a="http://schemas.openxmlformats.org/drawingml/2006/main" noGrp="1"/>
          </p:cNvSpPr>
          <p:nvPr/>
        </p:nvSpPr>
        <p:spPr>
          <a:xfrm xmlns:a="http://schemas.openxmlformats.org/drawingml/2006/main">
            <a:off x="4857750" y="432435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875"/>
                </a:solidFill>
              </a:defRPr>
            </a:pPr>
            <a:r>
              <a:rPr sz="1050" b="0">
                <a:solidFill>
                  <a:srgbClr val="5F6875"/>
                </a:solidFill>
              </a:rPr>
              <a:t>what changed and why</a:t>
            </a:r>
          </a:p>
        </p:txBody>
      </p:sp>
      <p:sp>
        <p:nvSpPr>
          <p:cNvPr id="25" name="">
            <a:extLst xmlns:a="http://schemas.openxmlformats.org/drawingml/2006/main">
              <a:ext uri="{FF2B5EF4-FFF2-40B4-BE49-F238E27FC236}">
                <a16:creationId xmlns:a16="http://schemas.microsoft.com/office/drawing/2014/main" id="{1D03C016-8ED3-477C-9EC1-B0A24F533256}"/>
              </a:ext>
            </a:extLst>
          </p:cNvPr>
          <p:cNvSpPr>
            <a:spLocks xmlns:a="http://schemas.openxmlformats.org/drawingml/2006/main" noGrp="1"/>
          </p:cNvSpPr>
          <p:nvPr/>
        </p:nvSpPr>
        <p:spPr>
          <a:xfrm xmlns:a="http://schemas.openxmlformats.org/drawingml/2006/main">
            <a:off x="7924800" y="3714750"/>
            <a:ext cx="3276600" cy="1200150"/>
          </a:xfrm>
          <a:prstGeom xmlns:a="http://schemas.openxmlformats.org/drawingml/2006/main" prst="roundRect">
            <a:avLst>
              <a:gd name="adj" fmla="val 9524"/>
            </a:avLst>
          </a:prstGeom>
          <a:solidFill xmlns:a="http://schemas.openxmlformats.org/drawingml/2006/main">
            <a:srgbClr val="F3F5F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015C247-2F0F-443B-88E8-5A582A00A226}"/>
              </a:ext>
            </a:extLst>
          </p:cNvPr>
          <p:cNvSpPr>
            <a:spLocks xmlns:a="http://schemas.openxmlformats.org/drawingml/2006/main" noGrp="1"/>
          </p:cNvSpPr>
          <p:nvPr/>
        </p:nvSpPr>
        <p:spPr>
          <a:xfrm xmlns:a="http://schemas.openxmlformats.org/drawingml/2006/main">
            <a:off x="8096250" y="38671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06</a:t>
            </a:r>
          </a:p>
        </p:txBody>
      </p:sp>
      <p:sp>
        <p:nvSpPr>
          <p:cNvPr id="27" name="">
            <a:extLst xmlns:a="http://schemas.openxmlformats.org/drawingml/2006/main">
              <a:ext uri="{FF2B5EF4-FFF2-40B4-BE49-F238E27FC236}">
                <a16:creationId xmlns:a16="http://schemas.microsoft.com/office/drawing/2014/main" id="{633C49F0-3E8F-42E5-9A0D-74928FD83F69}"/>
              </a:ext>
            </a:extLst>
          </p:cNvPr>
          <p:cNvSpPr>
            <a:spLocks xmlns:a="http://schemas.openxmlformats.org/drawingml/2006/main" noGrp="1"/>
          </p:cNvSpPr>
          <p:nvPr/>
        </p:nvSpPr>
        <p:spPr>
          <a:xfrm xmlns:a="http://schemas.openxmlformats.org/drawingml/2006/main">
            <a:off x="8515350" y="38481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1216"/>
                </a:solidFill>
              </a:defRPr>
            </a:pPr>
            <a:r>
              <a:rPr sz="1350" b="1">
                <a:solidFill>
                  <a:srgbClr val="101216"/>
                </a:solidFill>
              </a:rPr>
              <a:t>Approved adaptation</a:t>
            </a:r>
          </a:p>
        </p:txBody>
      </p:sp>
      <p:sp>
        <p:nvSpPr>
          <p:cNvPr id="28" name="">
            <a:extLst xmlns:a="http://schemas.openxmlformats.org/drawingml/2006/main">
              <a:ext uri="{FF2B5EF4-FFF2-40B4-BE49-F238E27FC236}">
                <a16:creationId xmlns:a16="http://schemas.microsoft.com/office/drawing/2014/main" id="{D942060B-756B-4256-9A93-11A4942ADD3C}"/>
              </a:ext>
            </a:extLst>
          </p:cNvPr>
          <p:cNvSpPr>
            <a:spLocks xmlns:a="http://schemas.openxmlformats.org/drawingml/2006/main" noGrp="1"/>
          </p:cNvSpPr>
          <p:nvPr/>
        </p:nvSpPr>
        <p:spPr>
          <a:xfrm xmlns:a="http://schemas.openxmlformats.org/drawingml/2006/main">
            <a:off x="8515350" y="432435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875"/>
                </a:solidFill>
              </a:defRPr>
            </a:pPr>
            <a:r>
              <a:rPr sz="1050" b="0">
                <a:solidFill>
                  <a:srgbClr val="5F6875"/>
                </a:solidFill>
              </a:rPr>
              <a:t>what the UI applied</a:t>
            </a:r>
          </a:p>
        </p:txBody>
      </p:sp>
      <p:sp>
        <p:nvSpPr>
          <p:cNvPr id="29" name="">
            <a:extLst xmlns:a="http://schemas.openxmlformats.org/drawingml/2006/main">
              <a:ext uri="{FF2B5EF4-FFF2-40B4-BE49-F238E27FC236}">
                <a16:creationId xmlns:a16="http://schemas.microsoft.com/office/drawing/2014/main" id="{BE2B33E1-30E5-499E-A2C0-82E3DB1408CC}"/>
              </a:ext>
            </a:extLst>
          </p:cNvPr>
          <p:cNvSpPr>
            <a:spLocks xmlns:a="http://schemas.openxmlformats.org/drawingml/2006/main" noGrp="1"/>
          </p:cNvSpPr>
          <p:nvPr/>
        </p:nvSpPr>
        <p:spPr>
          <a:xfrm xmlns:a="http://schemas.openxmlformats.org/drawingml/2006/main">
            <a:off x="1295400" y="5495925"/>
            <a:ext cx="9601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01216"/>
                </a:solidFill>
              </a:defRPr>
            </a:pPr>
            <a:r>
              <a:rPr sz="1575" b="1">
                <a:solidFill>
                  <a:srgbClr val="101216"/>
                </a:solidFill>
              </a:rPr>
              <a:t>A correlated run record supports debugging, evaluation, and governance without guessing what happened.</a:t>
            </a:r>
          </a:p>
        </p:txBody>
      </p:sp>
      <p:sp>
        <p:nvSpPr>
          <p:cNvPr id="30" name="">
            <a:extLst xmlns:a="http://schemas.openxmlformats.org/drawingml/2006/main">
              <a:ext uri="{FF2B5EF4-FFF2-40B4-BE49-F238E27FC236}">
                <a16:creationId xmlns:a16="http://schemas.microsoft.com/office/drawing/2014/main" id="{6436C448-9ED5-4997-BDD0-0A10F932D22D}"/>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31" name="">
            <a:extLst xmlns:a="http://schemas.openxmlformats.org/drawingml/2006/main">
              <a:ext uri="{FF2B5EF4-FFF2-40B4-BE49-F238E27FC236}">
                <a16:creationId xmlns:a16="http://schemas.microsoft.com/office/drawing/2014/main" id="{73F55BB9-99A7-4448-A6BB-904D26E2F678}"/>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13</a:t>
            </a:r>
          </a:p>
        </p:txBody>
      </p:sp>
    </p:spTree>
    <p:extLst>
      <p:ext uri="{BB962C8B-B14F-4D97-AF65-F5344CB8AC3E}">
        <p14:creationId xmlns:p14="http://schemas.microsoft.com/office/powerpoint/2010/main" val="4570260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6ACCDA6-A47C-4A8C-A3ED-1C2AA42DB0C1}"/>
              </a:ext>
            </a:extLst>
          </p:cNvPr>
          <p:cNvSpPr>
            <a:spLocks xmlns:a="http://schemas.openxmlformats.org/drawingml/2006/main" noGrp="1"/>
          </p:cNvSpPr>
          <p:nvPr/>
        </p:nvSpPr>
        <p:spPr>
          <a:xfrm xmlns:a="http://schemas.openxmlformats.org/drawingml/2006/main">
            <a:off x="609600" y="3333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14</a:t>
            </a:r>
          </a:p>
        </p:txBody>
      </p:sp>
      <p:sp>
        <p:nvSpPr>
          <p:cNvPr id="2" name="">
            <a:extLst xmlns:a="http://schemas.openxmlformats.org/drawingml/2006/main">
              <a:ext uri="{FF2B5EF4-FFF2-40B4-BE49-F238E27FC236}">
                <a16:creationId xmlns:a16="http://schemas.microsoft.com/office/drawing/2014/main" id="{36FA4D48-4663-453C-9EFB-F7F79E189233}"/>
              </a:ext>
            </a:extLst>
          </p:cNvPr>
          <p:cNvSpPr>
            <a:spLocks xmlns:a="http://schemas.openxmlformats.org/drawingml/2006/main" noGrp="1"/>
          </p:cNvSpPr>
          <p:nvPr/>
        </p:nvSpPr>
        <p:spPr>
          <a:xfrm xmlns:a="http://schemas.openxmlformats.org/drawingml/2006/main">
            <a:off x="1104900" y="33337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8D96A3"/>
                </a:solidFill>
              </a:defRPr>
            </a:pPr>
            <a:r>
              <a:rPr sz="900" b="1">
                <a:solidFill>
                  <a:srgbClr val="8D96A3"/>
                </a:solidFill>
              </a:rPr>
              <a:t>WHAT COMES NEXT</a:t>
            </a:r>
          </a:p>
        </p:txBody>
      </p:sp>
      <p:sp>
        <p:nvSpPr>
          <p:cNvPr id="3" name="">
            <a:extLst xmlns:a="http://schemas.openxmlformats.org/drawingml/2006/main">
              <a:ext uri="{FF2B5EF4-FFF2-40B4-BE49-F238E27FC236}">
                <a16:creationId xmlns:a16="http://schemas.microsoft.com/office/drawing/2014/main" id="{4F1AA41E-466D-43D2-9780-3A314146554E}"/>
              </a:ext>
            </a:extLst>
          </p:cNvPr>
          <p:cNvSpPr>
            <a:spLocks xmlns:a="http://schemas.openxmlformats.org/drawingml/2006/main" noGrp="1"/>
          </p:cNvSpPr>
          <p:nvPr/>
        </p:nvSpPr>
        <p:spPr>
          <a:xfrm xmlns:a="http://schemas.openxmlformats.org/drawingml/2006/main">
            <a:off x="609600" y="6953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216"/>
                </a:solidFill>
              </a:defRPr>
            </a:pPr>
            <a:r>
              <a:rPr sz="2550" b="1">
                <a:solidFill>
                  <a:srgbClr val="101216"/>
                </a:solidFill>
              </a:rPr>
              <a:t>The POC establishes the architecture—and exposes the next evaluation questions</a:t>
            </a:r>
          </a:p>
        </p:txBody>
      </p:sp>
      <p:sp>
        <p:nvSpPr>
          <p:cNvPr id="4" name="">
            <a:extLst xmlns:a="http://schemas.openxmlformats.org/drawingml/2006/main">
              <a:ext uri="{FF2B5EF4-FFF2-40B4-BE49-F238E27FC236}">
                <a16:creationId xmlns:a16="http://schemas.microsoft.com/office/drawing/2014/main" id="{E205941D-68DE-4574-BA6A-3CF593156C91}"/>
              </a:ext>
            </a:extLst>
          </p:cNvPr>
          <p:cNvSpPr>
            <a:spLocks xmlns:a="http://schemas.openxmlformats.org/drawingml/2006/main" noGrp="1"/>
          </p:cNvSpPr>
          <p:nvPr/>
        </p:nvSpPr>
        <p:spPr>
          <a:xfrm xmlns:a="http://schemas.openxmlformats.org/drawingml/2006/main">
            <a:off x="609600" y="1628775"/>
            <a:ext cx="10972800" cy="0"/>
          </a:xfrm>
          <a:prstGeom xmlns:a="http://schemas.openxmlformats.org/drawingml/2006/main" prst="line">
            <a:avLst/>
          </a:prstGeom>
          <a:noFill xmlns:a="http://schemas.openxmlformats.org/drawingml/2006/main"/>
          <a:ln xmlns:a="http://schemas.openxmlformats.org/drawingml/2006/main" w="9525">
            <a:solidFill>
              <a:srgbClr val="DCE1E7"/>
            </a:solidFill>
            <a:prstDash val="solid"/>
          </a:ln>
        </p:spPr>
      </p:sp>
      <p:sp>
        <p:nvSpPr>
          <p:cNvPr id="5" name="">
            <a:extLst xmlns:a="http://schemas.openxmlformats.org/drawingml/2006/main">
              <a:ext uri="{FF2B5EF4-FFF2-40B4-BE49-F238E27FC236}">
                <a16:creationId xmlns:a16="http://schemas.microsoft.com/office/drawing/2014/main" id="{D4B95EE4-34E7-4B98-8989-B487F214E037}"/>
              </a:ext>
            </a:extLst>
          </p:cNvPr>
          <p:cNvSpPr>
            <a:spLocks xmlns:a="http://schemas.openxmlformats.org/drawingml/2006/main" noGrp="1"/>
          </p:cNvSpPr>
          <p:nvPr/>
        </p:nvSpPr>
        <p:spPr>
          <a:xfrm xmlns:a="http://schemas.openxmlformats.org/drawingml/2006/main">
            <a:off x="609600" y="2000250"/>
            <a:ext cx="5181600" cy="876300"/>
          </a:xfrm>
          <a:prstGeom xmlns:a="http://schemas.openxmlformats.org/drawingml/2006/main" prst="roundRect">
            <a:avLst>
              <a:gd name="adj" fmla="val 13043"/>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02E2D27-74EB-46BD-B125-5C98E0F40854}"/>
              </a:ext>
            </a:extLst>
          </p:cNvPr>
          <p:cNvSpPr>
            <a:spLocks xmlns:a="http://schemas.openxmlformats.org/drawingml/2006/main" noGrp="1"/>
          </p:cNvSpPr>
          <p:nvPr/>
        </p:nvSpPr>
        <p:spPr>
          <a:xfrm xmlns:a="http://schemas.openxmlformats.org/drawingml/2006/main">
            <a:off x="781050" y="2238375"/>
            <a:ext cx="400050" cy="400050"/>
          </a:xfrm>
          <a:prstGeom xmlns:a="http://schemas.openxmlformats.org/drawingml/2006/main" prst="ellipse">
            <a:avLst/>
          </a:prstGeom>
          <a:solidFill xmlns:a="http://schemas.openxmlformats.org/drawingml/2006/main">
            <a:srgbClr val="FFFFFF"/>
          </a:solidFill>
          <a:ln xmlns:a="http://schemas.openxmlformats.org/drawingml/2006/main" w="9525">
            <a:solidFill>
              <a:srgbClr val="DCE1E7"/>
            </a:solidFill>
            <a:prstDash val="solid"/>
          </a:ln>
        </p:spPr>
      </p:sp>
      <p:sp>
        <p:nvSpPr>
          <p:cNvPr id="7" name="">
            <a:extLst xmlns:a="http://schemas.openxmlformats.org/drawingml/2006/main">
              <a:ext uri="{FF2B5EF4-FFF2-40B4-BE49-F238E27FC236}">
                <a16:creationId xmlns:a16="http://schemas.microsoft.com/office/drawing/2014/main" id="{193C45A0-C015-4E5A-A5B1-437955219C28}"/>
              </a:ext>
            </a:extLst>
          </p:cNvPr>
          <p:cNvSpPr>
            <a:spLocks xmlns:a="http://schemas.openxmlformats.org/drawingml/2006/main" noGrp="1"/>
          </p:cNvSpPr>
          <p:nvPr/>
        </p:nvSpPr>
        <p:spPr>
          <a:xfrm xmlns:a="http://schemas.openxmlformats.org/drawingml/2006/main">
            <a:off x="781050" y="22383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D8DFF"/>
                </a:solidFill>
              </a:defRPr>
            </a:pPr>
            <a:r>
              <a:rPr sz="1050" b="1">
                <a:solidFill>
                  <a:srgbClr val="3D8DFF"/>
                </a:solidFill>
              </a:rPr>
              <a:t>1</a:t>
            </a:r>
          </a:p>
        </p:txBody>
      </p:sp>
      <p:sp>
        <p:nvSpPr>
          <p:cNvPr id="8" name="">
            <a:extLst xmlns:a="http://schemas.openxmlformats.org/drawingml/2006/main">
              <a:ext uri="{FF2B5EF4-FFF2-40B4-BE49-F238E27FC236}">
                <a16:creationId xmlns:a16="http://schemas.microsoft.com/office/drawing/2014/main" id="{1A0222D8-7087-40FC-B13E-66B14FC30F8F}"/>
              </a:ext>
            </a:extLst>
          </p:cNvPr>
          <p:cNvSpPr>
            <a:spLocks xmlns:a="http://schemas.openxmlformats.org/drawingml/2006/main" noGrp="1"/>
          </p:cNvSpPr>
          <p:nvPr/>
        </p:nvSpPr>
        <p:spPr>
          <a:xfrm xmlns:a="http://schemas.openxmlformats.org/drawingml/2006/main">
            <a:off x="1352550" y="2114550"/>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01216"/>
                </a:solidFill>
              </a:defRPr>
            </a:pPr>
            <a:r>
              <a:rPr sz="1275" b="1">
                <a:solidFill>
                  <a:srgbClr val="101216"/>
                </a:solidFill>
              </a:rPr>
              <a:t>How quickly should a preference become actionable?</a:t>
            </a:r>
          </a:p>
        </p:txBody>
      </p:sp>
      <p:sp>
        <p:nvSpPr>
          <p:cNvPr id="9" name="">
            <a:extLst xmlns:a="http://schemas.openxmlformats.org/drawingml/2006/main">
              <a:ext uri="{FF2B5EF4-FFF2-40B4-BE49-F238E27FC236}">
                <a16:creationId xmlns:a16="http://schemas.microsoft.com/office/drawing/2014/main" id="{DBC60965-ACB7-4632-A81B-17993E344D31}"/>
              </a:ext>
            </a:extLst>
          </p:cNvPr>
          <p:cNvSpPr>
            <a:spLocks xmlns:a="http://schemas.openxmlformats.org/drawingml/2006/main" noGrp="1"/>
          </p:cNvSpPr>
          <p:nvPr/>
        </p:nvSpPr>
        <p:spPr>
          <a:xfrm xmlns:a="http://schemas.openxmlformats.org/drawingml/2006/main">
            <a:off x="6096000" y="2000250"/>
            <a:ext cx="5181600" cy="876300"/>
          </a:xfrm>
          <a:prstGeom xmlns:a="http://schemas.openxmlformats.org/drawingml/2006/main" prst="roundRect">
            <a:avLst>
              <a:gd name="adj" fmla="val 13043"/>
            </a:avLst>
          </a:prstGeom>
          <a:solidFill xmlns:a="http://schemas.openxmlformats.org/drawingml/2006/main">
            <a:srgbClr val="F3F5F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B9B994A-76B5-41AD-9119-7B7BC6DC3701}"/>
              </a:ext>
            </a:extLst>
          </p:cNvPr>
          <p:cNvSpPr>
            <a:spLocks xmlns:a="http://schemas.openxmlformats.org/drawingml/2006/main" noGrp="1"/>
          </p:cNvSpPr>
          <p:nvPr/>
        </p:nvSpPr>
        <p:spPr>
          <a:xfrm xmlns:a="http://schemas.openxmlformats.org/drawingml/2006/main">
            <a:off x="6267450" y="2238375"/>
            <a:ext cx="400050" cy="400050"/>
          </a:xfrm>
          <a:prstGeom xmlns:a="http://schemas.openxmlformats.org/drawingml/2006/main" prst="ellipse">
            <a:avLst/>
          </a:prstGeom>
          <a:solidFill xmlns:a="http://schemas.openxmlformats.org/drawingml/2006/main">
            <a:srgbClr val="FFFFFF"/>
          </a:solidFill>
          <a:ln xmlns:a="http://schemas.openxmlformats.org/drawingml/2006/main" w="9525">
            <a:solidFill>
              <a:srgbClr val="DCE1E7"/>
            </a:solidFill>
            <a:prstDash val="solid"/>
          </a:ln>
        </p:spPr>
      </p:sp>
      <p:sp>
        <p:nvSpPr>
          <p:cNvPr id="11" name="">
            <a:extLst xmlns:a="http://schemas.openxmlformats.org/drawingml/2006/main">
              <a:ext uri="{FF2B5EF4-FFF2-40B4-BE49-F238E27FC236}">
                <a16:creationId xmlns:a16="http://schemas.microsoft.com/office/drawing/2014/main" id="{7444E232-D914-4FC8-BE63-64574484C802}"/>
              </a:ext>
            </a:extLst>
          </p:cNvPr>
          <p:cNvSpPr>
            <a:spLocks xmlns:a="http://schemas.openxmlformats.org/drawingml/2006/main" noGrp="1"/>
          </p:cNvSpPr>
          <p:nvPr/>
        </p:nvSpPr>
        <p:spPr>
          <a:xfrm xmlns:a="http://schemas.openxmlformats.org/drawingml/2006/main">
            <a:off x="6267450" y="22383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D8DFF"/>
                </a:solidFill>
              </a:defRPr>
            </a:pPr>
            <a:r>
              <a:rPr sz="1050" b="1">
                <a:solidFill>
                  <a:srgbClr val="3D8DFF"/>
                </a:solidFill>
              </a:rPr>
              <a:t>2</a:t>
            </a:r>
          </a:p>
        </p:txBody>
      </p:sp>
      <p:sp>
        <p:nvSpPr>
          <p:cNvPr id="12" name="">
            <a:extLst xmlns:a="http://schemas.openxmlformats.org/drawingml/2006/main">
              <a:ext uri="{FF2B5EF4-FFF2-40B4-BE49-F238E27FC236}">
                <a16:creationId xmlns:a16="http://schemas.microsoft.com/office/drawing/2014/main" id="{28842DD3-78CF-472E-9515-4CACB2AA3929}"/>
              </a:ext>
            </a:extLst>
          </p:cNvPr>
          <p:cNvSpPr>
            <a:spLocks xmlns:a="http://schemas.openxmlformats.org/drawingml/2006/main" noGrp="1"/>
          </p:cNvSpPr>
          <p:nvPr/>
        </p:nvSpPr>
        <p:spPr>
          <a:xfrm xmlns:a="http://schemas.openxmlformats.org/drawingml/2006/main">
            <a:off x="6838950" y="2114550"/>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01216"/>
                </a:solidFill>
              </a:defRPr>
            </a:pPr>
            <a:r>
              <a:rPr sz="1275" b="1">
                <a:solidFill>
                  <a:srgbClr val="101216"/>
                </a:solidFill>
              </a:rPr>
              <a:t>Which evidence should outweigh contradiction?</a:t>
            </a:r>
          </a:p>
        </p:txBody>
      </p:sp>
      <p:sp>
        <p:nvSpPr>
          <p:cNvPr id="13" name="">
            <a:extLst xmlns:a="http://schemas.openxmlformats.org/drawingml/2006/main">
              <a:ext uri="{FF2B5EF4-FFF2-40B4-BE49-F238E27FC236}">
                <a16:creationId xmlns:a16="http://schemas.microsoft.com/office/drawing/2014/main" id="{A1B02CBC-B0A7-494A-9D21-6488D398EC0B}"/>
              </a:ext>
            </a:extLst>
          </p:cNvPr>
          <p:cNvSpPr>
            <a:spLocks xmlns:a="http://schemas.openxmlformats.org/drawingml/2006/main" noGrp="1"/>
          </p:cNvSpPr>
          <p:nvPr/>
        </p:nvSpPr>
        <p:spPr>
          <a:xfrm xmlns:a="http://schemas.openxmlformats.org/drawingml/2006/main">
            <a:off x="609600" y="3105150"/>
            <a:ext cx="5181600" cy="876300"/>
          </a:xfrm>
          <a:prstGeom xmlns:a="http://schemas.openxmlformats.org/drawingml/2006/main" prst="roundRect">
            <a:avLst>
              <a:gd name="adj" fmla="val 13043"/>
            </a:avLst>
          </a:prstGeom>
          <a:solidFill xmlns:a="http://schemas.openxmlformats.org/drawingml/2006/main">
            <a:srgbClr val="F3F5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EA08BEE-EAA2-4E8C-A354-9436B512DAB1}"/>
              </a:ext>
            </a:extLst>
          </p:cNvPr>
          <p:cNvSpPr>
            <a:spLocks xmlns:a="http://schemas.openxmlformats.org/drawingml/2006/main" noGrp="1"/>
          </p:cNvSpPr>
          <p:nvPr/>
        </p:nvSpPr>
        <p:spPr>
          <a:xfrm xmlns:a="http://schemas.openxmlformats.org/drawingml/2006/main">
            <a:off x="781050" y="3343275"/>
            <a:ext cx="400050" cy="400050"/>
          </a:xfrm>
          <a:prstGeom xmlns:a="http://schemas.openxmlformats.org/drawingml/2006/main" prst="ellipse">
            <a:avLst/>
          </a:prstGeom>
          <a:solidFill xmlns:a="http://schemas.openxmlformats.org/drawingml/2006/main">
            <a:srgbClr val="FFFFFF"/>
          </a:solidFill>
          <a:ln xmlns:a="http://schemas.openxmlformats.org/drawingml/2006/main" w="9525">
            <a:solidFill>
              <a:srgbClr val="DCE1E7"/>
            </a:solidFill>
            <a:prstDash val="solid"/>
          </a:ln>
        </p:spPr>
      </p:sp>
      <p:sp>
        <p:nvSpPr>
          <p:cNvPr id="15" name="">
            <a:extLst xmlns:a="http://schemas.openxmlformats.org/drawingml/2006/main">
              <a:ext uri="{FF2B5EF4-FFF2-40B4-BE49-F238E27FC236}">
                <a16:creationId xmlns:a16="http://schemas.microsoft.com/office/drawing/2014/main" id="{CF903E2E-D8D8-401E-A455-BEA351464076}"/>
              </a:ext>
            </a:extLst>
          </p:cNvPr>
          <p:cNvSpPr>
            <a:spLocks xmlns:a="http://schemas.openxmlformats.org/drawingml/2006/main" noGrp="1"/>
          </p:cNvSpPr>
          <p:nvPr/>
        </p:nvSpPr>
        <p:spPr>
          <a:xfrm xmlns:a="http://schemas.openxmlformats.org/drawingml/2006/main">
            <a:off x="781050" y="33432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D8DFF"/>
                </a:solidFill>
              </a:defRPr>
            </a:pPr>
            <a:r>
              <a:rPr sz="1050" b="1">
                <a:solidFill>
                  <a:srgbClr val="3D8DFF"/>
                </a:solidFill>
              </a:rPr>
              <a:t>3</a:t>
            </a:r>
          </a:p>
        </p:txBody>
      </p:sp>
      <p:sp>
        <p:nvSpPr>
          <p:cNvPr id="16" name="">
            <a:extLst xmlns:a="http://schemas.openxmlformats.org/drawingml/2006/main">
              <a:ext uri="{FF2B5EF4-FFF2-40B4-BE49-F238E27FC236}">
                <a16:creationId xmlns:a16="http://schemas.microsoft.com/office/drawing/2014/main" id="{9F43D760-DFD1-4CE6-A0D8-953D05E8DEDA}"/>
              </a:ext>
            </a:extLst>
          </p:cNvPr>
          <p:cNvSpPr>
            <a:spLocks xmlns:a="http://schemas.openxmlformats.org/drawingml/2006/main" noGrp="1"/>
          </p:cNvSpPr>
          <p:nvPr/>
        </p:nvSpPr>
        <p:spPr>
          <a:xfrm xmlns:a="http://schemas.openxmlformats.org/drawingml/2006/main">
            <a:off x="1352550" y="3219450"/>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01216"/>
                </a:solidFill>
              </a:defRPr>
            </a:pPr>
            <a:r>
              <a:rPr sz="1275" b="1">
                <a:solidFill>
                  <a:srgbClr val="101216"/>
                </a:solidFill>
              </a:rPr>
              <a:t>When should adaptation be silent, suggested, or automatic?</a:t>
            </a:r>
          </a:p>
        </p:txBody>
      </p:sp>
      <p:sp>
        <p:nvSpPr>
          <p:cNvPr id="17" name="">
            <a:extLst xmlns:a="http://schemas.openxmlformats.org/drawingml/2006/main">
              <a:ext uri="{FF2B5EF4-FFF2-40B4-BE49-F238E27FC236}">
                <a16:creationId xmlns:a16="http://schemas.microsoft.com/office/drawing/2014/main" id="{C025696B-3C23-426B-A06D-3BCC21B32517}"/>
              </a:ext>
            </a:extLst>
          </p:cNvPr>
          <p:cNvSpPr>
            <a:spLocks xmlns:a="http://schemas.openxmlformats.org/drawingml/2006/main" noGrp="1"/>
          </p:cNvSpPr>
          <p:nvPr/>
        </p:nvSpPr>
        <p:spPr>
          <a:xfrm xmlns:a="http://schemas.openxmlformats.org/drawingml/2006/main">
            <a:off x="6096000" y="3105150"/>
            <a:ext cx="5181600" cy="876300"/>
          </a:xfrm>
          <a:prstGeom xmlns:a="http://schemas.openxmlformats.org/drawingml/2006/main" prst="roundRect">
            <a:avLst>
              <a:gd name="adj" fmla="val 13043"/>
            </a:avLst>
          </a:prstGeom>
          <a:solidFill xmlns:a="http://schemas.openxmlformats.org/drawingml/2006/main">
            <a:srgbClr val="F3F5F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B78F0DE-0DF5-4014-A6D1-96FF07348EA0}"/>
              </a:ext>
            </a:extLst>
          </p:cNvPr>
          <p:cNvSpPr>
            <a:spLocks xmlns:a="http://schemas.openxmlformats.org/drawingml/2006/main" noGrp="1"/>
          </p:cNvSpPr>
          <p:nvPr/>
        </p:nvSpPr>
        <p:spPr>
          <a:xfrm xmlns:a="http://schemas.openxmlformats.org/drawingml/2006/main">
            <a:off x="6267450" y="3343275"/>
            <a:ext cx="400050" cy="400050"/>
          </a:xfrm>
          <a:prstGeom xmlns:a="http://schemas.openxmlformats.org/drawingml/2006/main" prst="ellipse">
            <a:avLst/>
          </a:prstGeom>
          <a:solidFill xmlns:a="http://schemas.openxmlformats.org/drawingml/2006/main">
            <a:srgbClr val="FFFFFF"/>
          </a:solidFill>
          <a:ln xmlns:a="http://schemas.openxmlformats.org/drawingml/2006/main" w="9525">
            <a:solidFill>
              <a:srgbClr val="DCE1E7"/>
            </a:solidFill>
            <a:prstDash val="solid"/>
          </a:ln>
        </p:spPr>
      </p:sp>
      <p:sp>
        <p:nvSpPr>
          <p:cNvPr id="19" name="">
            <a:extLst xmlns:a="http://schemas.openxmlformats.org/drawingml/2006/main">
              <a:ext uri="{FF2B5EF4-FFF2-40B4-BE49-F238E27FC236}">
                <a16:creationId xmlns:a16="http://schemas.microsoft.com/office/drawing/2014/main" id="{CA7D478C-2E60-4225-912C-05015729155B}"/>
              </a:ext>
            </a:extLst>
          </p:cNvPr>
          <p:cNvSpPr>
            <a:spLocks xmlns:a="http://schemas.openxmlformats.org/drawingml/2006/main" noGrp="1"/>
          </p:cNvSpPr>
          <p:nvPr/>
        </p:nvSpPr>
        <p:spPr>
          <a:xfrm xmlns:a="http://schemas.openxmlformats.org/drawingml/2006/main">
            <a:off x="6267450" y="33432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D8DFF"/>
                </a:solidFill>
              </a:defRPr>
            </a:pPr>
            <a:r>
              <a:rPr sz="1050" b="1">
                <a:solidFill>
                  <a:srgbClr val="3D8DFF"/>
                </a:solidFill>
              </a:rPr>
              <a:t>4</a:t>
            </a:r>
          </a:p>
        </p:txBody>
      </p:sp>
      <p:sp>
        <p:nvSpPr>
          <p:cNvPr id="20" name="">
            <a:extLst xmlns:a="http://schemas.openxmlformats.org/drawingml/2006/main">
              <a:ext uri="{FF2B5EF4-FFF2-40B4-BE49-F238E27FC236}">
                <a16:creationId xmlns:a16="http://schemas.microsoft.com/office/drawing/2014/main" id="{4A73842D-A999-4217-9DB0-C4E6F81B2C8E}"/>
              </a:ext>
            </a:extLst>
          </p:cNvPr>
          <p:cNvSpPr>
            <a:spLocks xmlns:a="http://schemas.openxmlformats.org/drawingml/2006/main" noGrp="1"/>
          </p:cNvSpPr>
          <p:nvPr/>
        </p:nvSpPr>
        <p:spPr>
          <a:xfrm xmlns:a="http://schemas.openxmlformats.org/drawingml/2006/main">
            <a:off x="6838950" y="3219450"/>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01216"/>
                </a:solidFill>
              </a:defRPr>
            </a:pPr>
            <a:r>
              <a:rPr sz="1275" b="1">
                <a:solidFill>
                  <a:srgbClr val="101216"/>
                </a:solidFill>
              </a:rPr>
              <a:t>How well do beliefs transfer across surfaces and workflows?</a:t>
            </a:r>
          </a:p>
        </p:txBody>
      </p:sp>
      <p:sp>
        <p:nvSpPr>
          <p:cNvPr id="21" name="">
            <a:extLst xmlns:a="http://schemas.openxmlformats.org/drawingml/2006/main">
              <a:ext uri="{FF2B5EF4-FFF2-40B4-BE49-F238E27FC236}">
                <a16:creationId xmlns:a16="http://schemas.microsoft.com/office/drawing/2014/main" id="{B2DA1216-2A32-4B21-90A8-137031B8810A}"/>
              </a:ext>
            </a:extLst>
          </p:cNvPr>
          <p:cNvSpPr>
            <a:spLocks xmlns:a="http://schemas.openxmlformats.org/drawingml/2006/main" noGrp="1"/>
          </p:cNvSpPr>
          <p:nvPr/>
        </p:nvSpPr>
        <p:spPr>
          <a:xfrm xmlns:a="http://schemas.openxmlformats.org/drawingml/2006/main">
            <a:off x="609600" y="4210050"/>
            <a:ext cx="5181600" cy="876300"/>
          </a:xfrm>
          <a:prstGeom xmlns:a="http://schemas.openxmlformats.org/drawingml/2006/main" prst="roundRect">
            <a:avLst>
              <a:gd name="adj" fmla="val 13043"/>
            </a:avLst>
          </a:prstGeom>
          <a:solidFill xmlns:a="http://schemas.openxmlformats.org/drawingml/2006/main">
            <a:srgbClr val="F3F5F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D74DAB2-644F-4093-981B-C6F60EA3916F}"/>
              </a:ext>
            </a:extLst>
          </p:cNvPr>
          <p:cNvSpPr>
            <a:spLocks xmlns:a="http://schemas.openxmlformats.org/drawingml/2006/main" noGrp="1"/>
          </p:cNvSpPr>
          <p:nvPr/>
        </p:nvSpPr>
        <p:spPr>
          <a:xfrm xmlns:a="http://schemas.openxmlformats.org/drawingml/2006/main">
            <a:off x="781050" y="4448175"/>
            <a:ext cx="400050" cy="400050"/>
          </a:xfrm>
          <a:prstGeom xmlns:a="http://schemas.openxmlformats.org/drawingml/2006/main" prst="ellipse">
            <a:avLst/>
          </a:prstGeom>
          <a:solidFill xmlns:a="http://schemas.openxmlformats.org/drawingml/2006/main">
            <a:srgbClr val="FFFFFF"/>
          </a:solidFill>
          <a:ln xmlns:a="http://schemas.openxmlformats.org/drawingml/2006/main" w="9525">
            <a:solidFill>
              <a:srgbClr val="DCE1E7"/>
            </a:solidFill>
            <a:prstDash val="solid"/>
          </a:ln>
        </p:spPr>
      </p:sp>
      <p:sp>
        <p:nvSpPr>
          <p:cNvPr id="23" name="">
            <a:extLst xmlns:a="http://schemas.openxmlformats.org/drawingml/2006/main">
              <a:ext uri="{FF2B5EF4-FFF2-40B4-BE49-F238E27FC236}">
                <a16:creationId xmlns:a16="http://schemas.microsoft.com/office/drawing/2014/main" id="{726C981E-D5F3-4374-9517-4FF4B2ACF2A4}"/>
              </a:ext>
            </a:extLst>
          </p:cNvPr>
          <p:cNvSpPr>
            <a:spLocks xmlns:a="http://schemas.openxmlformats.org/drawingml/2006/main" noGrp="1"/>
          </p:cNvSpPr>
          <p:nvPr/>
        </p:nvSpPr>
        <p:spPr>
          <a:xfrm xmlns:a="http://schemas.openxmlformats.org/drawingml/2006/main">
            <a:off x="781050" y="44481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D8DFF"/>
                </a:solidFill>
              </a:defRPr>
            </a:pPr>
            <a:r>
              <a:rPr sz="1050" b="1">
                <a:solidFill>
                  <a:srgbClr val="3D8DFF"/>
                </a:solidFill>
              </a:rPr>
              <a:t>5</a:t>
            </a:r>
          </a:p>
        </p:txBody>
      </p:sp>
      <p:sp>
        <p:nvSpPr>
          <p:cNvPr id="24" name="">
            <a:extLst xmlns:a="http://schemas.openxmlformats.org/drawingml/2006/main">
              <a:ext uri="{FF2B5EF4-FFF2-40B4-BE49-F238E27FC236}">
                <a16:creationId xmlns:a16="http://schemas.microsoft.com/office/drawing/2014/main" id="{31EB9427-C601-462B-B358-A03F6C5929FE}"/>
              </a:ext>
            </a:extLst>
          </p:cNvPr>
          <p:cNvSpPr>
            <a:spLocks xmlns:a="http://schemas.openxmlformats.org/drawingml/2006/main" noGrp="1"/>
          </p:cNvSpPr>
          <p:nvPr/>
        </p:nvSpPr>
        <p:spPr>
          <a:xfrm xmlns:a="http://schemas.openxmlformats.org/drawingml/2006/main">
            <a:off x="1352550" y="4324350"/>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01216"/>
                </a:solidFill>
              </a:defRPr>
            </a:pPr>
            <a:r>
              <a:rPr sz="1275" b="1">
                <a:solidFill>
                  <a:srgbClr val="101216"/>
                </a:solidFill>
              </a:rPr>
              <a:t>What thresholds create trust for each class of change?</a:t>
            </a:r>
          </a:p>
        </p:txBody>
      </p:sp>
      <p:sp>
        <p:nvSpPr>
          <p:cNvPr id="25" name="">
            <a:extLst xmlns:a="http://schemas.openxmlformats.org/drawingml/2006/main">
              <a:ext uri="{FF2B5EF4-FFF2-40B4-BE49-F238E27FC236}">
                <a16:creationId xmlns:a16="http://schemas.microsoft.com/office/drawing/2014/main" id="{E49F8DE6-5D25-4E6B-87A7-5A653C7D8088}"/>
              </a:ext>
            </a:extLst>
          </p:cNvPr>
          <p:cNvSpPr>
            <a:spLocks xmlns:a="http://schemas.openxmlformats.org/drawingml/2006/main" noGrp="1"/>
          </p:cNvSpPr>
          <p:nvPr/>
        </p:nvSpPr>
        <p:spPr>
          <a:xfrm xmlns:a="http://schemas.openxmlformats.org/drawingml/2006/main">
            <a:off x="6096000" y="4210050"/>
            <a:ext cx="5181600" cy="876300"/>
          </a:xfrm>
          <a:prstGeom xmlns:a="http://schemas.openxmlformats.org/drawingml/2006/main" prst="roundRect">
            <a:avLst>
              <a:gd name="adj" fmla="val 13043"/>
            </a:avLst>
          </a:prstGeom>
          <a:solidFill xmlns:a="http://schemas.openxmlformats.org/drawingml/2006/main">
            <a:srgbClr val="F3F5F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769AAD9-5D81-41E9-A4F8-1B7667F90A8D}"/>
              </a:ext>
            </a:extLst>
          </p:cNvPr>
          <p:cNvSpPr>
            <a:spLocks xmlns:a="http://schemas.openxmlformats.org/drawingml/2006/main" noGrp="1"/>
          </p:cNvSpPr>
          <p:nvPr/>
        </p:nvSpPr>
        <p:spPr>
          <a:xfrm xmlns:a="http://schemas.openxmlformats.org/drawingml/2006/main">
            <a:off x="6267450" y="4448175"/>
            <a:ext cx="400050" cy="4000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80F7ED8-D0C9-4BA7-AA1C-32DFE24AABBB}"/>
              </a:ext>
            </a:extLst>
          </p:cNvPr>
          <p:cNvSpPr>
            <a:spLocks xmlns:a="http://schemas.openxmlformats.org/drawingml/2006/main" noGrp="1"/>
          </p:cNvSpPr>
          <p:nvPr/>
        </p:nvSpPr>
        <p:spPr>
          <a:xfrm xmlns:a="http://schemas.openxmlformats.org/drawingml/2006/main">
            <a:off x="6267450" y="44481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6</a:t>
            </a:r>
          </a:p>
        </p:txBody>
      </p:sp>
      <p:sp>
        <p:nvSpPr>
          <p:cNvPr id="28" name="">
            <a:extLst xmlns:a="http://schemas.openxmlformats.org/drawingml/2006/main">
              <a:ext uri="{FF2B5EF4-FFF2-40B4-BE49-F238E27FC236}">
                <a16:creationId xmlns:a16="http://schemas.microsoft.com/office/drawing/2014/main" id="{29DE33F1-6CA8-43AB-A6D2-27004E4530EC}"/>
              </a:ext>
            </a:extLst>
          </p:cNvPr>
          <p:cNvSpPr>
            <a:spLocks xmlns:a="http://schemas.openxmlformats.org/drawingml/2006/main" noGrp="1"/>
          </p:cNvSpPr>
          <p:nvPr/>
        </p:nvSpPr>
        <p:spPr>
          <a:xfrm xmlns:a="http://schemas.openxmlformats.org/drawingml/2006/main">
            <a:off x="6838950" y="4324350"/>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01216"/>
                </a:solidFill>
              </a:defRPr>
            </a:pPr>
            <a:r>
              <a:rPr sz="1275" b="1">
                <a:solidFill>
                  <a:srgbClr val="101216"/>
                </a:solidFill>
              </a:rPr>
              <a:t>How do we measure usefulness without rewarding mere activity?</a:t>
            </a:r>
          </a:p>
        </p:txBody>
      </p:sp>
      <p:sp>
        <p:nvSpPr>
          <p:cNvPr id="29" name="">
            <a:extLst xmlns:a="http://schemas.openxmlformats.org/drawingml/2006/main">
              <a:ext uri="{FF2B5EF4-FFF2-40B4-BE49-F238E27FC236}">
                <a16:creationId xmlns:a16="http://schemas.microsoft.com/office/drawing/2014/main" id="{66F7426F-83CC-4887-91CA-40D85A78FD82}"/>
              </a:ext>
            </a:extLst>
          </p:cNvPr>
          <p:cNvSpPr>
            <a:spLocks xmlns:a="http://schemas.openxmlformats.org/drawingml/2006/main" noGrp="1"/>
          </p:cNvSpPr>
          <p:nvPr/>
        </p:nvSpPr>
        <p:spPr>
          <a:xfrm xmlns:a="http://schemas.openxmlformats.org/drawingml/2006/main">
            <a:off x="1714500" y="5581650"/>
            <a:ext cx="8763000" cy="495300"/>
          </a:xfrm>
          <a:prstGeom xmlns:a="http://schemas.openxmlformats.org/drawingml/2006/main" prst="roundRect">
            <a:avLst>
              <a:gd name="adj" fmla="val 23077"/>
            </a:avLst>
          </a:prstGeom>
          <a:solidFill xmlns:a="http://schemas.openxmlformats.org/drawingml/2006/main">
            <a:srgbClr val="EAF6F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3AA0AEF-26B3-41DA-892B-1C55FDEF0205}"/>
              </a:ext>
            </a:extLst>
          </p:cNvPr>
          <p:cNvSpPr>
            <a:spLocks xmlns:a="http://schemas.openxmlformats.org/drawingml/2006/main" noGrp="1"/>
          </p:cNvSpPr>
          <p:nvPr/>
        </p:nvSpPr>
        <p:spPr>
          <a:xfrm xmlns:a="http://schemas.openxmlformats.org/drawingml/2006/main">
            <a:off x="1952625" y="5581650"/>
            <a:ext cx="828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01216"/>
                </a:solidFill>
              </a:defRPr>
            </a:pPr>
            <a:r>
              <a:rPr sz="1500" b="1">
                <a:solidFill>
                  <a:srgbClr val="101216"/>
                </a:solidFill>
              </a:rPr>
              <a:t>The next phase is not more framework—it is measured learning quality, trust, and business value.</a:t>
            </a:r>
          </a:p>
        </p:txBody>
      </p:sp>
      <p:sp>
        <p:nvSpPr>
          <p:cNvPr id="31" name="">
            <a:extLst xmlns:a="http://schemas.openxmlformats.org/drawingml/2006/main">
              <a:ext uri="{FF2B5EF4-FFF2-40B4-BE49-F238E27FC236}">
                <a16:creationId xmlns:a16="http://schemas.microsoft.com/office/drawing/2014/main" id="{A10CCBFA-874A-4CE3-B06C-CA3958B29A3B}"/>
              </a:ext>
            </a:extLst>
          </p:cNvPr>
          <p:cNvSpPr>
            <a:spLocks xmlns:a="http://schemas.openxmlformats.org/drawingml/2006/main" noGrp="1"/>
          </p:cNvSpPr>
          <p:nvPr/>
        </p:nvSpPr>
        <p:spPr>
          <a:xfrm xmlns:a="http://schemas.openxmlformats.org/drawingml/2006/main">
            <a:off x="6096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8D96A3"/>
                </a:solidFill>
              </a:defRPr>
            </a:pPr>
            <a:r>
              <a:rPr sz="675" b="1">
                <a:solidFill>
                  <a:srgbClr val="8D96A3"/>
                </a:solidFill>
              </a:rPr>
              <a:t>ADAPTIVE WORKFLOW  /  CONTEXTUAL LEARNING</a:t>
            </a:r>
          </a:p>
        </p:txBody>
      </p:sp>
      <p:sp>
        <p:nvSpPr>
          <p:cNvPr id="32" name="">
            <a:extLst xmlns:a="http://schemas.openxmlformats.org/drawingml/2006/main">
              <a:ext uri="{FF2B5EF4-FFF2-40B4-BE49-F238E27FC236}">
                <a16:creationId xmlns:a16="http://schemas.microsoft.com/office/drawing/2014/main" id="{8683216B-7286-4D40-97A5-8C232028B925}"/>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1">
                <a:solidFill>
                  <a:srgbClr val="8D96A3"/>
                </a:solidFill>
              </a:defRPr>
            </a:pPr>
            <a:r>
              <a:rPr sz="675" b="1">
                <a:solidFill>
                  <a:srgbClr val="8D96A3"/>
                </a:solidFill>
              </a:rPr>
              <a:t>14</a:t>
            </a:r>
          </a:p>
        </p:txBody>
      </p:sp>
    </p:spTree>
    <p:extLst>
      <p:ext uri="{BB962C8B-B14F-4D97-AF65-F5344CB8AC3E}">
        <p14:creationId xmlns:p14="http://schemas.microsoft.com/office/powerpoint/2010/main" val="1341720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2026-08-17T17:04:21.1490000Z</dcterms:created>
  <dcterms:modified xsi:type="dcterms:W3CDTF">2026-08-17T17:04:21.1490000Z</dcterms:modified>
</coreProperties>
</file>